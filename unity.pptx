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70" r:id="rId4"/>
    <p:sldId id="348" r:id="rId5"/>
    <p:sldId id="262" r:id="rId6"/>
    <p:sldId id="349" r:id="rId7"/>
    <p:sldId id="259" r:id="rId8"/>
    <p:sldId id="26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57" r:id="rId17"/>
    <p:sldId id="271" r:id="rId18"/>
    <p:sldId id="273" r:id="rId19"/>
    <p:sldId id="274" r:id="rId20"/>
    <p:sldId id="275" r:id="rId21"/>
    <p:sldId id="276" r:id="rId22"/>
    <p:sldId id="277" r:id="rId23"/>
    <p:sldId id="324" r:id="rId24"/>
    <p:sldId id="301" r:id="rId25"/>
    <p:sldId id="325" r:id="rId26"/>
    <p:sldId id="345" r:id="rId27"/>
    <p:sldId id="346" r:id="rId28"/>
    <p:sldId id="347" r:id="rId29"/>
    <p:sldId id="299" r:id="rId30"/>
    <p:sldId id="327" r:id="rId31"/>
    <p:sldId id="328" r:id="rId32"/>
    <p:sldId id="278" r:id="rId33"/>
    <p:sldId id="283" r:id="rId34"/>
    <p:sldId id="279" r:id="rId35"/>
    <p:sldId id="280" r:id="rId36"/>
    <p:sldId id="281" r:id="rId37"/>
    <p:sldId id="282" r:id="rId38"/>
    <p:sldId id="284" r:id="rId39"/>
    <p:sldId id="302" r:id="rId40"/>
    <p:sldId id="285" r:id="rId41"/>
    <p:sldId id="286" r:id="rId42"/>
    <p:sldId id="287" r:id="rId43"/>
    <p:sldId id="288" r:id="rId44"/>
    <p:sldId id="289" r:id="rId45"/>
    <p:sldId id="292" r:id="rId46"/>
    <p:sldId id="290" r:id="rId47"/>
    <p:sldId id="291" r:id="rId48"/>
    <p:sldId id="293" r:id="rId49"/>
    <p:sldId id="294" r:id="rId50"/>
    <p:sldId id="295" r:id="rId51"/>
    <p:sldId id="296" r:id="rId52"/>
    <p:sldId id="300" r:id="rId53"/>
    <p:sldId id="297" r:id="rId54"/>
    <p:sldId id="298" r:id="rId55"/>
    <p:sldId id="303" r:id="rId56"/>
    <p:sldId id="304" r:id="rId57"/>
    <p:sldId id="305" r:id="rId58"/>
    <p:sldId id="306" r:id="rId59"/>
    <p:sldId id="311" r:id="rId60"/>
    <p:sldId id="312" r:id="rId61"/>
    <p:sldId id="307" r:id="rId62"/>
    <p:sldId id="308" r:id="rId63"/>
    <p:sldId id="309" r:id="rId64"/>
    <p:sldId id="310" r:id="rId65"/>
    <p:sldId id="313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6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43" r:id="rId86"/>
    <p:sldId id="344" r:id="rId87"/>
    <p:sldId id="338" r:id="rId88"/>
    <p:sldId id="339" r:id="rId89"/>
    <p:sldId id="340" r:id="rId90"/>
    <p:sldId id="341" r:id="rId91"/>
    <p:sldId id="342" r:id="rId92"/>
    <p:sldId id="351" r:id="rId93"/>
    <p:sldId id="352" r:id="rId94"/>
    <p:sldId id="350" r:id="rId95"/>
    <p:sldId id="367" r:id="rId96"/>
    <p:sldId id="353" r:id="rId97"/>
    <p:sldId id="365" r:id="rId98"/>
    <p:sldId id="366" r:id="rId99"/>
    <p:sldId id="358" r:id="rId100"/>
    <p:sldId id="361" r:id="rId101"/>
    <p:sldId id="368" r:id="rId102"/>
    <p:sldId id="354" r:id="rId103"/>
    <p:sldId id="370" r:id="rId104"/>
    <p:sldId id="355" r:id="rId105"/>
    <p:sldId id="364" r:id="rId106"/>
    <p:sldId id="357" r:id="rId107"/>
    <p:sldId id="369" r:id="rId108"/>
    <p:sldId id="360" r:id="rId109"/>
    <p:sldId id="356" r:id="rId110"/>
    <p:sldId id="359" r:id="rId111"/>
    <p:sldId id="363" r:id="rId112"/>
    <p:sldId id="362" r:id="rId113"/>
    <p:sldId id="371" r:id="rId1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62B283-0520-79C8-49B7-02B435AF358E}" name="Hossein Abdizadeh" initials="HA" userId="0d2a89a6122ad9b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54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microsoft.com/office/2018/10/relationships/authors" Target="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ssein Abdizadeh" userId="0d2a89a6122ad9b9" providerId="LiveId" clId="{BA19451E-9F09-4B48-8E4D-A0DBE3D1CB0A}"/>
    <pc:docChg chg="modSld sldOrd">
      <pc:chgData name="Hossein Abdizadeh" userId="0d2a89a6122ad9b9" providerId="LiveId" clId="{BA19451E-9F09-4B48-8E4D-A0DBE3D1CB0A}" dt="2025-05-12T13:13:56.876" v="38"/>
      <pc:docMkLst>
        <pc:docMk/>
      </pc:docMkLst>
      <pc:sldChg chg="modSp mod">
        <pc:chgData name="Hossein Abdizadeh" userId="0d2a89a6122ad9b9" providerId="LiveId" clId="{BA19451E-9F09-4B48-8E4D-A0DBE3D1CB0A}" dt="2025-04-08T12:37:09.552" v="26" actId="20577"/>
        <pc:sldMkLst>
          <pc:docMk/>
          <pc:sldMk cId="1493673043" sldId="355"/>
        </pc:sldMkLst>
      </pc:sldChg>
      <pc:sldChg chg="ord">
        <pc:chgData name="Hossein Abdizadeh" userId="0d2a89a6122ad9b9" providerId="LiveId" clId="{BA19451E-9F09-4B48-8E4D-A0DBE3D1CB0A}" dt="2025-05-12T13:13:47.928" v="36"/>
        <pc:sldMkLst>
          <pc:docMk/>
          <pc:sldMk cId="1649936880" sldId="361"/>
        </pc:sldMkLst>
      </pc:sldChg>
      <pc:sldChg chg="ord">
        <pc:chgData name="Hossein Abdizadeh" userId="0d2a89a6122ad9b9" providerId="LiveId" clId="{BA19451E-9F09-4B48-8E4D-A0DBE3D1CB0A}" dt="2025-05-12T13:13:56.876" v="38"/>
        <pc:sldMkLst>
          <pc:docMk/>
          <pc:sldMk cId="2823441861" sldId="368"/>
        </pc:sldMkLst>
      </pc:sldChg>
      <pc:sldChg chg="ord">
        <pc:chgData name="Hossein Abdizadeh" userId="0d2a89a6122ad9b9" providerId="LiveId" clId="{BA19451E-9F09-4B48-8E4D-A0DBE3D1CB0A}" dt="2025-05-12T13:13:24.144" v="32"/>
        <pc:sldMkLst>
          <pc:docMk/>
          <pc:sldMk cId="2369700760" sldId="370"/>
        </pc:sldMkLst>
      </pc:sldChg>
    </pc:docChg>
  </pc:docChgLst>
  <pc:docChgLst>
    <pc:chgData name="Hossein Abdizadeh" userId="0d2a89a6122ad9b9" providerId="LiveId" clId="{0C0E8AAD-131E-4550-A2AD-54A5EEF66D0A}"/>
    <pc:docChg chg="custSel modSld sldOrd">
      <pc:chgData name="Hossein Abdizadeh" userId="0d2a89a6122ad9b9" providerId="LiveId" clId="{0C0E8AAD-131E-4550-A2AD-54A5EEF66D0A}" dt="2025-07-31T14:28:30.517" v="29" actId="27636"/>
      <pc:docMkLst>
        <pc:docMk/>
      </pc:docMkLst>
      <pc:sldChg chg="modSp mod">
        <pc:chgData name="Hossein Abdizadeh" userId="0d2a89a6122ad9b9" providerId="LiveId" clId="{0C0E8AAD-131E-4550-A2AD-54A5EEF66D0A}" dt="2025-07-31T14:27:21.817" v="10" actId="27636"/>
        <pc:sldMkLst>
          <pc:docMk/>
          <pc:sldMk cId="2875198061" sldId="310"/>
        </pc:sldMkLst>
        <pc:spChg chg="mod">
          <ac:chgData name="Hossein Abdizadeh" userId="0d2a89a6122ad9b9" providerId="LiveId" clId="{0C0E8AAD-131E-4550-A2AD-54A5EEF66D0A}" dt="2025-07-31T14:27:21.817" v="10" actId="27636"/>
          <ac:spMkLst>
            <pc:docMk/>
            <pc:sldMk cId="2875198061" sldId="310"/>
            <ac:spMk id="5" creationId="{00000000-0000-0000-0000-000000000000}"/>
          </ac:spMkLst>
        </pc:spChg>
      </pc:sldChg>
      <pc:sldChg chg="modSp mod">
        <pc:chgData name="Hossein Abdizadeh" userId="0d2a89a6122ad9b9" providerId="LiveId" clId="{0C0E8AAD-131E-4550-A2AD-54A5EEF66D0A}" dt="2025-07-31T14:28:30.517" v="29" actId="27636"/>
        <pc:sldMkLst>
          <pc:docMk/>
          <pc:sldMk cId="2058721043" sldId="350"/>
        </pc:sldMkLst>
        <pc:spChg chg="mod">
          <ac:chgData name="Hossein Abdizadeh" userId="0d2a89a6122ad9b9" providerId="LiveId" clId="{0C0E8AAD-131E-4550-A2AD-54A5EEF66D0A}" dt="2025-07-31T14:28:30.517" v="29" actId="27636"/>
          <ac:spMkLst>
            <pc:docMk/>
            <pc:sldMk cId="2058721043" sldId="350"/>
            <ac:spMk id="3" creationId="{7AF133FA-1D96-79F7-EB0A-B0ECE5E25EE7}"/>
          </ac:spMkLst>
        </pc:spChg>
      </pc:sldChg>
      <pc:sldChg chg="modSp mod ord">
        <pc:chgData name="Hossein Abdizadeh" userId="0d2a89a6122ad9b9" providerId="LiveId" clId="{0C0E8AAD-131E-4550-A2AD-54A5EEF66D0A}" dt="2025-07-31T14:28:03.401" v="17" actId="5793"/>
        <pc:sldMkLst>
          <pc:docMk/>
          <pc:sldMk cId="3720396669" sldId="367"/>
        </pc:sldMkLst>
        <pc:spChg chg="mod">
          <ac:chgData name="Hossein Abdizadeh" userId="0d2a89a6122ad9b9" providerId="LiveId" clId="{0C0E8AAD-131E-4550-A2AD-54A5EEF66D0A}" dt="2025-07-31T14:28:03.401" v="17" actId="5793"/>
          <ac:spMkLst>
            <pc:docMk/>
            <pc:sldMk cId="3720396669" sldId="367"/>
            <ac:spMk id="3" creationId="{7AF133FA-1D96-79F7-EB0A-B0ECE5E25EE7}"/>
          </ac:spMkLst>
        </pc:spChg>
      </pc:sldChg>
    </pc:docChg>
  </pc:docChgLst>
  <pc:docChgLst>
    <pc:chgData name="Hossein Abdizadeh" userId="0d2a89a6122ad9b9" providerId="LiveId" clId="{5130954A-B3E7-4B7C-85CF-EFCE9D2A35B8}"/>
    <pc:docChg chg="modSld">
      <pc:chgData name="Hossein Abdizadeh" userId="0d2a89a6122ad9b9" providerId="LiveId" clId="{5130954A-B3E7-4B7C-85CF-EFCE9D2A35B8}" dt="2025-02-04T14:11:31.391" v="9"/>
      <pc:docMkLst>
        <pc:docMk/>
      </pc:docMkLst>
      <pc:sldChg chg="modSp mod">
        <pc:chgData name="Hossein Abdizadeh" userId="0d2a89a6122ad9b9" providerId="LiveId" clId="{5130954A-B3E7-4B7C-85CF-EFCE9D2A35B8}" dt="2025-02-04T14:11:31.391" v="9"/>
        <pc:sldMkLst>
          <pc:docMk/>
          <pc:sldMk cId="655977049" sldId="364"/>
        </pc:sldMkLst>
      </pc:sldChg>
      <pc:sldChg chg="modSp mod">
        <pc:chgData name="Hossein Abdizadeh" userId="0d2a89a6122ad9b9" providerId="LiveId" clId="{5130954A-B3E7-4B7C-85CF-EFCE9D2A35B8}" dt="2025-02-04T14:06:42.389" v="8" actId="13926"/>
        <pc:sldMkLst>
          <pc:docMk/>
          <pc:sldMk cId="808035895" sldId="3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93987-31F9-5F83-5A3C-AA12AC9D4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43640-1107-CD1E-9E30-01CC03958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C987D-1685-09D3-213E-A26F0CBC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38A4E-99C6-E65C-7303-81635109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7CDC1-1AB1-F18A-B0B7-90D2624D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4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598A5-D4FC-9618-8F0E-CAAC64C0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3BEDD-D572-8274-AEDB-B92FFF7E5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0D729-61DC-AE93-D760-AA513A285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BEF20-F730-6B47-82CD-B7C90BBBC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A40F4-45D4-B2F5-72A8-234359A3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68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AAFF-C6B9-026D-A6C6-E07018B8F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04D3A-950D-375E-1159-7EFFCF277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16E49-01B8-1A67-EA77-9F439CCBF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B090B-21C0-0685-64B8-B71D49B8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B1341-9FBC-512E-68B6-85FF398D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24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4F57-266D-A288-C954-7DBA6464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BABB2-2D15-C33F-4F4A-07FD1CA9D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1AACE0-5454-E238-3C7C-A6E32037F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1761A-A438-066F-6452-5E30EBD0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2C4C5-23FC-A131-4E61-0FA08D87F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AC05A-9C86-FAA4-F032-729C3EB2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48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D50A-93D8-0639-0DC0-6D0F69B4D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6D895-FBD1-4A5B-3512-E55DBBD01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AFDCD-7605-7D21-D473-C882B354F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07BDD1-E48B-7A05-60DC-69BF9FA35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B721F3-DAA7-208D-4F1B-9C4835799C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A6C6B4-EA2A-2CB7-D214-294E4289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00FEA-C4CC-EFD6-6EC3-4108E3907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AD5ED-2E34-3FB0-4B96-7D45DC52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93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A508-08B1-3BC4-3BDC-1B3CA3F9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0140B-A4F1-E8FD-BB96-CA1BC4F4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E5BCDF-B337-16CA-7EA7-9ADE46D6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23A72-514C-1E24-2352-194946E1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0E86D-69BA-4908-0E92-16474542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3E30F-115F-BC0B-4DAD-CC952F8A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37E62-2BFB-BAE2-EEF2-C588AA8B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879A7-3E28-5A6B-0A9A-74AFCAEAE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2C7BF-884F-E6A8-8F39-DEDC49B2A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DFC3C3-ED25-F8EC-7B17-1EE54E9EC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AD21F-210A-FE3F-E8A6-CC94D074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FE943-FFFE-83F0-773C-632C78CE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67C71-D780-AD20-4CBF-658B36C2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F9679-D20A-3005-A215-4B94C588D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023796-B25A-EBAB-F6C6-C9CC4A12A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8B6C1A-8AAF-834C-5E75-B9AD45EA6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24FF5-EA23-71E5-DB64-DD37F73C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04FF3-75CE-F184-4FD2-8F05DB9F8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87021-F8FC-FB5C-6FFD-F11CEA557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86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52BB-EEDB-29D4-6427-CE703CD6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A90F5-2DBE-FD23-2BA4-FD1040C31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E76BA-3248-6339-7EDC-B4945264A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57A6A-B684-49A4-3D6C-81C7EE60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6A39E-B1D6-24B8-D637-0F968D3E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00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701F5-D700-2925-E253-414D99E876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9BFAB-1A39-3638-8578-CA774687A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39988-8677-F0E6-B733-33ECA785E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7BE16-7974-3DF2-0093-D85DEE14A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96403-C0BA-5B8A-ECDB-277CE426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27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259E0D-12E9-E249-0EF8-11560C6E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BB3B2-B981-88E9-3CF4-BD8BF4AEE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73B68-9373-742D-F344-6CCB74EF7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A281F-F224-462D-A591-2D47BD8CB6D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F3CDB-E83A-CFA1-F1D9-5998104E95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C469F-7AC2-0801-D502-A4CFAD2FD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01C3D-3CD3-46AE-B1E4-A812EE131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unity3d.com/download_unity/7da38d85baf6/Windows64EditorInstaller/UnitySetup64-2021.3.6f1.exe" TargetMode="External"/><Relationship Id="rId2" Type="http://schemas.openxmlformats.org/officeDocument/2006/relationships/hyperlink" Target="https://public-cdn.cloud.unity3d.com/hub/prod/UnityHubSetup.ex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.microsoft.com/fwlink/?linkid=2088517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807" y="2419562"/>
            <a:ext cx="5042263" cy="201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5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600" dirty="0">
                <a:cs typeface="B Titr" panose="00000700000000000000" pitchFamily="2" charset="-78"/>
              </a:rPr>
              <a:t>سرفصل ها</a:t>
            </a:r>
            <a:endParaRPr lang="en-US" sz="3600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2743" y="2276001"/>
            <a:ext cx="2457408" cy="4438308"/>
          </a:xfrm>
        </p:spPr>
        <p:txBody>
          <a:bodyPr>
            <a:normAutofit/>
          </a:bodyPr>
          <a:lstStyle/>
          <a:p>
            <a:pPr algn="r" rtl="1"/>
            <a:r>
              <a:rPr lang="fa-IR" sz="1800" dirty="0">
                <a:cs typeface="B Koodak" panose="00000700000000000000" pitchFamily="2" charset="-78"/>
              </a:rPr>
              <a:t>گام اول</a:t>
            </a:r>
          </a:p>
          <a:p>
            <a:pPr algn="r" rtl="1"/>
            <a:r>
              <a:rPr lang="fa-IR" sz="1800" dirty="0">
                <a:cs typeface="B Koodak" panose="00000700000000000000" pitchFamily="2" charset="-78"/>
              </a:rPr>
              <a:t>فیزیک</a:t>
            </a:r>
            <a:endParaRPr lang="en-US" sz="1800" dirty="0">
              <a:cs typeface="B Koodak" panose="00000700000000000000" pitchFamily="2" charset="-78"/>
            </a:endParaRPr>
          </a:p>
          <a:p>
            <a:pPr algn="r" rtl="1"/>
            <a:r>
              <a:rPr lang="fa-IR" sz="1800" dirty="0">
                <a:cs typeface="B Koodak" panose="00000700000000000000" pitchFamily="2" charset="-78"/>
              </a:rPr>
              <a:t>مبانی سی‌شارپ</a:t>
            </a:r>
          </a:p>
          <a:p>
            <a:pPr algn="r" rtl="1"/>
            <a:r>
              <a:rPr lang="fa-IR" sz="1800" dirty="0">
                <a:cs typeface="B Koodak" panose="00000700000000000000" pitchFamily="2" charset="-78"/>
              </a:rPr>
              <a:t>کدنویسی در یونیتی</a:t>
            </a:r>
          </a:p>
          <a:p>
            <a:pPr algn="r" rtl="1"/>
            <a:r>
              <a:rPr lang="fa-IR" sz="1800" dirty="0">
                <a:cs typeface="B Koodak" panose="00000700000000000000" pitchFamily="2" charset="-78"/>
              </a:rPr>
              <a:t>کلیدهای لمسی</a:t>
            </a:r>
          </a:p>
          <a:p>
            <a:pPr algn="r" rtl="1"/>
            <a:r>
              <a:rPr lang="fa-IR" sz="1800" dirty="0">
                <a:cs typeface="B Koodak" panose="00000700000000000000" pitchFamily="2" charset="-78"/>
              </a:rPr>
              <a:t>دوربین</a:t>
            </a:r>
            <a:endParaRPr lang="en-US" sz="1800" dirty="0">
              <a:cs typeface="B Koodak" panose="00000700000000000000" pitchFamily="2" charset="-78"/>
            </a:endParaRPr>
          </a:p>
          <a:p>
            <a:pPr algn="r" rtl="1"/>
            <a:r>
              <a:rPr lang="fa-IR" sz="1800" dirty="0">
                <a:cs typeface="B Koodak" panose="00000700000000000000" pitchFamily="2" charset="-78"/>
              </a:rPr>
              <a:t>جلوه ها</a:t>
            </a:r>
          </a:p>
          <a:p>
            <a:pPr algn="r" rtl="1"/>
            <a:r>
              <a:rPr lang="fa-IR" sz="1800" dirty="0">
                <a:cs typeface="B Koodak" panose="00000700000000000000" pitchFamily="2" charset="-78"/>
              </a:rPr>
              <a:t>ساختار بازی</a:t>
            </a:r>
          </a:p>
          <a:p>
            <a:pPr algn="r" rtl="1"/>
            <a:r>
              <a:rPr lang="fa-IR" sz="1800" dirty="0">
                <a:cs typeface="B Koodak" panose="00000700000000000000" pitchFamily="2" charset="-78"/>
              </a:rPr>
              <a:t>ارائه بازی</a:t>
            </a:r>
          </a:p>
          <a:p>
            <a:pPr algn="r" rtl="1"/>
            <a:endParaRPr lang="fa-IR" sz="1800" dirty="0">
              <a:cs typeface="B Koodak" panose="00000700000000000000" pitchFamily="2" charset="-78"/>
            </a:endParaRPr>
          </a:p>
          <a:p>
            <a:pPr algn="r" rtl="1"/>
            <a:endParaRPr lang="fa-IR" sz="1800" dirty="0">
              <a:cs typeface="B Koodak" panose="00000700000000000000" pitchFamily="2" charset="-78"/>
            </a:endParaRPr>
          </a:p>
          <a:p>
            <a:pPr algn="r" rtl="1"/>
            <a:endParaRPr lang="fa-IR" sz="1800" dirty="0">
              <a:cs typeface="B Koodak" panose="00000700000000000000" pitchFamily="2" charset="-7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228233" y="6858000"/>
            <a:ext cx="6096000" cy="4801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0" indent="-228600" algn="r" rt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fa-IR" sz="2800" dirty="0">
                <a:solidFill>
                  <a:prstClr val="black"/>
                </a:solidFill>
              </a:rPr>
              <a:t>اعمال بافت به اشیا (</a:t>
            </a:r>
            <a:r>
              <a:rPr lang="en-US" sz="2800" dirty="0">
                <a:solidFill>
                  <a:prstClr val="black"/>
                </a:solidFill>
              </a:rPr>
              <a:t>Texture</a:t>
            </a:r>
            <a:r>
              <a:rPr lang="fa-IR" sz="2800" dirty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364377" y="2275996"/>
            <a:ext cx="3670663" cy="4438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Koodak" panose="00000700000000000000" pitchFamily="2" charset="-78"/>
              </a:rPr>
              <a:t>کلیدهای لمسی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دوربین</a:t>
            </a:r>
            <a:endParaRPr lang="en-US" dirty="0">
              <a:cs typeface="B Koodak" panose="00000700000000000000" pitchFamily="2" charset="-78"/>
            </a:endParaRP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جلوه ها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لحظه های مرگ و زندگی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انیمیشن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جلوه های صوتی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ساختار بازی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ایجاد ایستگاه (</a:t>
            </a:r>
            <a:r>
              <a:rPr lang="en-US" sz="1600" dirty="0" err="1">
                <a:cs typeface="B Koodak" panose="00000700000000000000" pitchFamily="2" charset="-78"/>
              </a:rPr>
              <a:t>CheckPoint</a:t>
            </a:r>
            <a:r>
              <a:rPr lang="fa-IR" sz="1600" dirty="0">
                <a:cs typeface="B Koodak" panose="00000700000000000000" pitchFamily="2" charset="-78"/>
              </a:rPr>
              <a:t>)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ساخت مراحل و منوی اصلی بازی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ارائه بازی برای </a:t>
            </a:r>
            <a:r>
              <a:rPr lang="en-US" dirty="0">
                <a:cs typeface="B Koodak" panose="00000700000000000000" pitchFamily="2" charset="-78"/>
              </a:rPr>
              <a:t>platform</a:t>
            </a:r>
            <a:r>
              <a:rPr lang="fa-IR" dirty="0">
                <a:cs typeface="B Koodak" panose="00000700000000000000" pitchFamily="2" charset="-78"/>
              </a:rPr>
              <a:t> های مختلف</a:t>
            </a:r>
          </a:p>
          <a:p>
            <a:pPr marL="0" indent="0" algn="r" rtl="1">
              <a:buNone/>
            </a:pPr>
            <a:endParaRPr lang="fa-IR" sz="1600" dirty="0">
              <a:cs typeface="B Koodak" panose="00000700000000000000" pitchFamily="2" charset="-7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35040" y="2275996"/>
            <a:ext cx="2847703" cy="3759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Koodak" panose="00000700000000000000" pitchFamily="2" charset="-78"/>
              </a:rPr>
              <a:t>کدنویسی در یونیتی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حرکات پایه(چپ، راست، بالا و پایین)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کنترل رو صفحه کلید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پرش یا پرواز!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زندگی و مرگ (سکه ها و خطرات)</a:t>
            </a:r>
            <a:endParaRPr lang="en-US" sz="16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جمع امتیاز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چرخش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اشیاء متحرک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ایجاد اشیاء </a:t>
            </a:r>
            <a:r>
              <a:rPr lang="en-US" sz="1600" dirty="0">
                <a:cs typeface="B Koodak" panose="00000700000000000000" pitchFamily="2" charset="-78"/>
              </a:rPr>
              <a:t>dynamic</a:t>
            </a:r>
          </a:p>
          <a:p>
            <a:pPr marL="0" indent="0" algn="r" rtl="1">
              <a:buNone/>
            </a:pPr>
            <a:r>
              <a:rPr lang="fa-IR" sz="1600" dirty="0">
                <a:cs typeface="B Koodak" panose="00000700000000000000" pitchFamily="2" charset="-78"/>
              </a:rPr>
              <a:t>ایجاد سطوح ناپایدار(ایجاد </a:t>
            </a:r>
            <a:r>
              <a:rPr lang="en-US" sz="1600" dirty="0">
                <a:cs typeface="B Koodak" panose="00000700000000000000" pitchFamily="2" charset="-78"/>
              </a:rPr>
              <a:t>timer</a:t>
            </a:r>
            <a:r>
              <a:rPr lang="fa-IR" sz="1600" dirty="0">
                <a:cs typeface="B Koodak" panose="00000700000000000000" pitchFamily="2" charset="-78"/>
              </a:rPr>
              <a:t>)</a:t>
            </a:r>
          </a:p>
          <a:p>
            <a:pPr marL="0" indent="0" algn="r" rtl="1">
              <a:buNone/>
            </a:pPr>
            <a:endParaRPr lang="fa-IR" sz="1600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85934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600" dirty="0">
                <a:cs typeface="B Titr" panose="00000700000000000000" pitchFamily="2" charset="-78"/>
              </a:rPr>
              <a:t>نصب </a:t>
            </a:r>
            <a:r>
              <a:rPr lang="en-US" sz="3600" dirty="0">
                <a:cs typeface="B Titr" panose="00000700000000000000" pitchFamily="2" charset="-78"/>
              </a:rPr>
              <a:t>unity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B74A9B-BBD4-44AA-32A1-D593052D0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2303929"/>
            <a:ext cx="10515600" cy="3989576"/>
          </a:xfrm>
        </p:spPr>
        <p:txBody>
          <a:bodyPr/>
          <a:lstStyle/>
          <a:p>
            <a:r>
              <a:rPr lang="en-US" dirty="0"/>
              <a:t>Unity Hub </a:t>
            </a:r>
          </a:p>
          <a:p>
            <a:pPr marL="0" indent="0">
              <a:buNone/>
            </a:pPr>
            <a:r>
              <a:rPr lang="en-US" sz="1600" dirty="0">
                <a:hlinkClick r:id="rId2"/>
              </a:rPr>
              <a:t>https://public-cdn.cloud.unity3d.com/hub/prod/UnityHubSetup.exe</a:t>
            </a:r>
            <a:endParaRPr lang="fa-IR" sz="1600" dirty="0"/>
          </a:p>
          <a:p>
            <a:pPr marL="0" indent="0">
              <a:buNone/>
            </a:pPr>
            <a:endParaRPr lang="en-US" sz="1600" dirty="0"/>
          </a:p>
          <a:p>
            <a:r>
              <a:rPr lang="en-US" dirty="0"/>
              <a:t>Unity </a:t>
            </a:r>
          </a:p>
          <a:p>
            <a:pPr marL="0" indent="0">
              <a:buNone/>
            </a:pPr>
            <a:r>
              <a:rPr lang="en-US" sz="1600" dirty="0">
                <a:hlinkClick r:id="rId3"/>
              </a:rPr>
              <a:t>https://download.unity3d.com/download_unity/7da38d85baf6/Windows64EditorInstaller/UnitySetup64-2021.3.6f1.exe</a:t>
            </a:r>
            <a:endParaRPr lang="fa-IR" sz="1600" dirty="0"/>
          </a:p>
          <a:p>
            <a:pPr marL="0" indent="0">
              <a:buNone/>
            </a:pPr>
            <a:endParaRPr lang="en-US" sz="1600" dirty="0"/>
          </a:p>
          <a:p>
            <a:r>
              <a:rPr lang="en-US" dirty="0"/>
              <a:t>Dotnet</a:t>
            </a:r>
          </a:p>
          <a:p>
            <a:pPr marL="0" indent="0">
              <a:buNone/>
            </a:pPr>
            <a:r>
              <a:rPr lang="en-US" sz="1600" dirty="0">
                <a:hlinkClick r:id="rId4"/>
              </a:rPr>
              <a:t>https://go.microsoft.com/fwlink/?linkid=2088517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40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2AFC1-2ADC-D346-1206-2AF83332E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600" dirty="0">
                <a:cs typeface="B Titr" panose="00000700000000000000" pitchFamily="2" charset="-78"/>
              </a:rPr>
              <a:t>فعال سازی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8EAD5-8C8D-F174-2AB1-122084DA1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00" y="1690688"/>
            <a:ext cx="4445351" cy="2136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3A4A2E-F24D-A1D5-E05F-DB53CD9A39C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191919"/>
              </a:clrFrom>
              <a:clrTo>
                <a:srgbClr val="19191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4" t="9069" r="13750" b="5622"/>
          <a:stretch/>
        </p:blipFill>
        <p:spPr>
          <a:xfrm>
            <a:off x="936812" y="4040933"/>
            <a:ext cx="4094057" cy="26418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6D0E82-8AE4-7A99-6F49-A55094442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894" y="4164772"/>
            <a:ext cx="5172906" cy="2394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B16855-7911-4FFE-BEBE-3267A7C632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78" y="175250"/>
            <a:ext cx="5683522" cy="3793751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1E0A365-725E-78E2-7062-2F377D8EA6D6}"/>
              </a:ext>
            </a:extLst>
          </p:cNvPr>
          <p:cNvSpPr/>
          <p:nvPr/>
        </p:nvSpPr>
        <p:spPr>
          <a:xfrm>
            <a:off x="5143436" y="103318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3E9E72C-3740-5EB4-29F7-FDAB34A253F4}"/>
              </a:ext>
            </a:extLst>
          </p:cNvPr>
          <p:cNvSpPr/>
          <p:nvPr/>
        </p:nvSpPr>
        <p:spPr>
          <a:xfrm>
            <a:off x="248200" y="918910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3CF0B75-8AEA-D53C-7C36-4AE2874B7856}"/>
              </a:ext>
            </a:extLst>
          </p:cNvPr>
          <p:cNvSpPr/>
          <p:nvPr/>
        </p:nvSpPr>
        <p:spPr>
          <a:xfrm>
            <a:off x="5745354" y="642769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85CF32B-6DB7-CCF5-3B99-9C40FDE39C02}"/>
              </a:ext>
            </a:extLst>
          </p:cNvPr>
          <p:cNvSpPr/>
          <p:nvPr/>
        </p:nvSpPr>
        <p:spPr>
          <a:xfrm>
            <a:off x="3575142" y="5016631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4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B046273-23C4-287A-4C09-197F83DB3B87}"/>
              </a:ext>
            </a:extLst>
          </p:cNvPr>
          <p:cNvSpPr/>
          <p:nvPr/>
        </p:nvSpPr>
        <p:spPr>
          <a:xfrm>
            <a:off x="10752528" y="2759075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5</a:t>
            </a:r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BF2AC4-EF8C-ACF9-D411-36545FA1AAC9}"/>
              </a:ext>
            </a:extLst>
          </p:cNvPr>
          <p:cNvSpPr/>
          <p:nvPr/>
        </p:nvSpPr>
        <p:spPr>
          <a:xfrm>
            <a:off x="7385142" y="3419864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6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FDAEBDA-4EA7-8312-F355-5B147C760CA9}"/>
              </a:ext>
            </a:extLst>
          </p:cNvPr>
          <p:cNvSpPr/>
          <p:nvPr/>
        </p:nvSpPr>
        <p:spPr>
          <a:xfrm>
            <a:off x="7763965" y="5893948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76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DF89A3-677E-4ABC-6F42-2A7F52657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83" y="227461"/>
            <a:ext cx="6007702" cy="37369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461E76-A9FE-FE37-3837-762DD3A5BB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67" y="2179312"/>
            <a:ext cx="8126633" cy="43135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600" dirty="0">
                <a:cs typeface="B Titr" panose="00000700000000000000" pitchFamily="2" charset="-78"/>
              </a:rPr>
              <a:t>ایجاد یک پروژه</a:t>
            </a:r>
            <a:endParaRPr lang="en-US" sz="3600" dirty="0">
              <a:cs typeface="B Titr" panose="00000700000000000000" pitchFamily="2" charset="-78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17177" y="838494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554909" y="3159207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A79E554-854F-9A89-94B1-7D6C70037A9B}"/>
              </a:ext>
            </a:extLst>
          </p:cNvPr>
          <p:cNvSpPr/>
          <p:nvPr/>
        </p:nvSpPr>
        <p:spPr>
          <a:xfrm>
            <a:off x="10511519" y="2754815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CC1D99F-3C7B-D1FD-3711-DEF87F9BDA6E}"/>
              </a:ext>
            </a:extLst>
          </p:cNvPr>
          <p:cNvSpPr/>
          <p:nvPr/>
        </p:nvSpPr>
        <p:spPr>
          <a:xfrm>
            <a:off x="10890342" y="6116857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124AB4-3832-4BA1-D2B0-29A1085EF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52" y="1027906"/>
            <a:ext cx="10677648" cy="568362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D588B-FE30-8855-7414-2189F91D0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600" dirty="0">
                <a:cs typeface="B Titr" panose="00000700000000000000" pitchFamily="2" charset="-78"/>
              </a:rPr>
              <a:t>محیط برنامه</a:t>
            </a:r>
            <a:endParaRPr lang="en-US" sz="3600" dirty="0">
              <a:cs typeface="B Titr" panose="000007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62622C-7B62-77E6-A9FB-BDE0DB4534AB}"/>
              </a:ext>
            </a:extLst>
          </p:cNvPr>
          <p:cNvSpPr txBox="1"/>
          <p:nvPr/>
        </p:nvSpPr>
        <p:spPr>
          <a:xfrm>
            <a:off x="676152" y="33399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صحنه یا </a:t>
            </a: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scene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endParaRPr lang="en-US" dirty="0">
              <a:solidFill>
                <a:schemeClr val="bg1"/>
              </a:solidFill>
              <a:cs typeface="B Nazanin" panose="00000400000000000000" pitchFamily="2" charset="-78"/>
              <a:sym typeface="Wingdings" panose="05000000000000000000" pitchFamily="2" charset="2"/>
            </a:endParaRPr>
          </a:p>
          <a:p>
            <a:pPr algn="r" rtl="1">
              <a:lnSpc>
                <a:spcPct val="100000"/>
              </a:lnSpc>
            </a:pP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همه چیز (</a:t>
            </a: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game Objects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) اینجاست!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633075-7052-6B9B-BC19-B50A2E708119}"/>
              </a:ext>
            </a:extLst>
          </p:cNvPr>
          <p:cNvSpPr txBox="1"/>
          <p:nvPr/>
        </p:nvSpPr>
        <p:spPr>
          <a:xfrm>
            <a:off x="582705" y="5837579"/>
            <a:ext cx="1631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project</a:t>
            </a:r>
          </a:p>
          <a:p>
            <a:pPr algn="r" rtl="1">
              <a:lnSpc>
                <a:spcPct val="100000"/>
              </a:lnSpc>
            </a:pP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فایل ها و منابع بازی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9EC702-5C76-2AF5-12B7-F5F87B42355B}"/>
              </a:ext>
            </a:extLst>
          </p:cNvPr>
          <p:cNvSpPr txBox="1"/>
          <p:nvPr/>
        </p:nvSpPr>
        <p:spPr>
          <a:xfrm>
            <a:off x="655980" y="2640968"/>
            <a:ext cx="19517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hierarchy</a:t>
            </a:r>
            <a:endParaRPr lang="en-US" sz="1800" dirty="0">
              <a:solidFill>
                <a:schemeClr val="bg1"/>
              </a:solidFill>
              <a:cs typeface="B Nazanin" panose="00000400000000000000" pitchFamily="2" charset="-78"/>
              <a:sym typeface="Wingdings" panose="05000000000000000000" pitchFamily="2" charset="2"/>
            </a:endParaRPr>
          </a:p>
          <a:p>
            <a:pPr algn="r" rtl="1">
              <a:lnSpc>
                <a:spcPct val="100000"/>
              </a:lnSpc>
            </a:pP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لیست تمام عناصر صحنه</a:t>
            </a:r>
            <a:endParaRPr lang="en-US" sz="18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4395A9-B1E0-F3D2-38F4-576A5BC7A478}"/>
              </a:ext>
            </a:extLst>
          </p:cNvPr>
          <p:cNvSpPr txBox="1"/>
          <p:nvPr/>
        </p:nvSpPr>
        <p:spPr>
          <a:xfrm>
            <a:off x="9099175" y="3546552"/>
            <a:ext cx="19274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inspector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endParaRPr lang="en-US" sz="1800" dirty="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algn="r" rtl="1">
              <a:lnSpc>
                <a:spcPct val="100000"/>
              </a:lnSpc>
            </a:pP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ویژگی های</a:t>
            </a: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عناصر بازی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22B5C9-E573-29E2-1581-43F7F7644B8A}"/>
              </a:ext>
            </a:extLst>
          </p:cNvPr>
          <p:cNvSpPr txBox="1"/>
          <p:nvPr/>
        </p:nvSpPr>
        <p:spPr>
          <a:xfrm>
            <a:off x="1999128" y="1447179"/>
            <a:ext cx="2572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game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  <a:sym typeface="Wingdings" panose="05000000000000000000" pitchFamily="2" charset="2"/>
              </a:rPr>
              <a:t>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</a:p>
          <a:p>
            <a:pPr algn="r" rtl="1">
              <a:lnSpc>
                <a:spcPct val="100000"/>
              </a:lnSpc>
            </a:pP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صفحه</a:t>
            </a: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اجرای بازی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EC4444-AEF5-A548-CAC0-5655970CD6A0}"/>
              </a:ext>
            </a:extLst>
          </p:cNvPr>
          <p:cNvSpPr txBox="1"/>
          <p:nvPr/>
        </p:nvSpPr>
        <p:spPr>
          <a:xfrm>
            <a:off x="1425388" y="4439538"/>
            <a:ext cx="14477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  <a:cs typeface="B Nazanin" panose="00000400000000000000" pitchFamily="2" charset="-78"/>
              </a:rPr>
              <a:t>console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  <a:sym typeface="Wingdings" panose="05000000000000000000" pitchFamily="2" charset="2"/>
              </a:rPr>
              <a:t></a:t>
            </a: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endParaRPr lang="fa-IR" dirty="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algn="r" rtl="1">
              <a:lnSpc>
                <a:spcPct val="100000"/>
              </a:lnSpc>
            </a:pPr>
            <a:r>
              <a:rPr lang="fa-IR" sz="1800" dirty="0">
                <a:solidFill>
                  <a:schemeClr val="bg1"/>
                </a:solidFill>
                <a:cs typeface="B Nazanin" panose="00000400000000000000" pitchFamily="2" charset="-78"/>
              </a:rPr>
              <a:t>خطاها و هشدارها</a:t>
            </a:r>
          </a:p>
        </p:txBody>
      </p:sp>
    </p:spTree>
    <p:extLst>
      <p:ext uri="{BB962C8B-B14F-4D97-AF65-F5344CB8AC3E}">
        <p14:creationId xmlns:p14="http://schemas.microsoft.com/office/powerpoint/2010/main" val="88290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600" dirty="0">
                <a:cs typeface="B Titr" panose="00000700000000000000" pitchFamily="2" charset="-78"/>
              </a:rPr>
              <a:t>اولین گام</a:t>
            </a:r>
            <a:endParaRPr lang="en-US" sz="3600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بازی شما قبل از هرچیز در ذهن شماست</a:t>
            </a:r>
          </a:p>
          <a:p>
            <a:pPr algn="r" rtl="1"/>
            <a:endParaRPr lang="fa-IR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Nazanin" panose="00000400000000000000" pitchFamily="2" charset="-78"/>
              </a:rPr>
              <a:t>مثال خرگوش، هویج، روباه: </a:t>
            </a:r>
            <a:endParaRPr lang="en-US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خیر و شر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خرگوش بازیکن ما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 هویج امتیاز و اسلحه خرگوش ما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روباه دشمن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سایرمخاطرات و ویژگی ها</a:t>
            </a:r>
          </a:p>
          <a:p>
            <a:pPr algn="r" rtl="1"/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7861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3600" dirty="0">
                <a:cs typeface="B Titr" panose="00000700000000000000" pitchFamily="2" charset="-78"/>
              </a:rPr>
              <a:t>شروع</a:t>
            </a:r>
            <a:endParaRPr lang="en-US" sz="3600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ساخت پوشه </a:t>
            </a:r>
            <a:r>
              <a:rPr lang="en-US" dirty="0">
                <a:cs typeface="B Nazanin" panose="00000400000000000000" pitchFamily="2" charset="-78"/>
              </a:rPr>
              <a:t>Objects</a:t>
            </a:r>
            <a:r>
              <a:rPr lang="fa-IR" dirty="0">
                <a:cs typeface="B Nazanin" panose="00000400000000000000" pitchFamily="2" charset="-78"/>
              </a:rPr>
              <a:t> (برای عناصر بازی)</a:t>
            </a:r>
          </a:p>
          <a:p>
            <a:pPr marL="0" indent="0" algn="l">
              <a:buNone/>
            </a:pPr>
            <a:r>
              <a:rPr lang="en-US" dirty="0">
                <a:cs typeface="B Nazanin" panose="00000400000000000000" pitchFamily="2" charset="-78"/>
              </a:rPr>
              <a:t>Project&gt;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Assets&gt;</a:t>
            </a:r>
            <a:r>
              <a:rPr lang="fa-IR" dirty="0">
                <a:cs typeface="B Nazanin" panose="00000400000000000000" pitchFamily="2" charset="-78"/>
              </a:rPr>
              <a:t>راست کلیک </a:t>
            </a:r>
            <a:r>
              <a:rPr lang="en-US" dirty="0">
                <a:cs typeface="B Nazanin" panose="00000400000000000000" pitchFamily="2" charset="-78"/>
              </a:rPr>
              <a:t>&gt;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Create&gt;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Folder</a:t>
            </a:r>
            <a:endParaRPr lang="fa-IR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ساخت اولین آبجکت</a:t>
            </a:r>
          </a:p>
          <a:p>
            <a:pPr marL="0" indent="0">
              <a:buNone/>
            </a:pPr>
            <a:r>
              <a:rPr lang="en-US" dirty="0">
                <a:cs typeface="B Nazanin" panose="00000400000000000000" pitchFamily="2" charset="-78"/>
              </a:rPr>
              <a:t>Project&gt;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Assets&gt; Objects&gt;</a:t>
            </a:r>
            <a:r>
              <a:rPr lang="fa-IR" dirty="0">
                <a:cs typeface="B Nazanin" panose="00000400000000000000" pitchFamily="2" charset="-78"/>
              </a:rPr>
              <a:t>راست کلیک </a:t>
            </a:r>
            <a:r>
              <a:rPr lang="en-US" dirty="0">
                <a:cs typeface="B Nazanin" panose="00000400000000000000" pitchFamily="2" charset="-78"/>
              </a:rPr>
              <a:t>&gt;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Create&gt;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2D&gt; Sprites&gt; Square</a:t>
            </a:r>
          </a:p>
          <a:p>
            <a:pPr marL="0" indent="0">
              <a:buNone/>
            </a:pPr>
            <a:endParaRPr lang="en-US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2368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اولین </a:t>
            </a:r>
            <a:r>
              <a:rPr lang="en-US" dirty="0">
                <a:cs typeface="B Titr" panose="00000700000000000000" pitchFamily="2" charset="-78"/>
              </a:rPr>
              <a:t>game object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94" b="5662"/>
          <a:stretch/>
        </p:blipFill>
        <p:spPr>
          <a:xfrm>
            <a:off x="249537" y="2454959"/>
            <a:ext cx="3986287" cy="4104994"/>
          </a:xfrm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31"/>
          <a:stretch/>
        </p:blipFill>
        <p:spPr>
          <a:xfrm>
            <a:off x="4357370" y="2454959"/>
            <a:ext cx="7585093" cy="4104994"/>
          </a:xfrm>
          <a:prstGeom prst="rect">
            <a:avLst/>
          </a:prstGeom>
          <a:ln>
            <a:noFill/>
          </a:ln>
        </p:spPr>
      </p:pic>
      <p:sp>
        <p:nvSpPr>
          <p:cNvPr id="7" name="Right Arrow 6"/>
          <p:cNvSpPr/>
          <p:nvPr/>
        </p:nvSpPr>
        <p:spPr>
          <a:xfrm>
            <a:off x="4195483" y="4325526"/>
            <a:ext cx="403411" cy="4180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464527" y="2367260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405148" y="2367260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594559" y="4058800"/>
            <a:ext cx="1675382" cy="1842247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080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اولین </a:t>
            </a:r>
            <a:r>
              <a:rPr lang="en-US" dirty="0">
                <a:cs typeface="B Titr" panose="00000700000000000000" pitchFamily="2" charset="-78"/>
              </a:rPr>
              <a:t>game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5385" y="2617148"/>
            <a:ext cx="3057099" cy="3416300"/>
          </a:xfrm>
        </p:spPr>
        <p:txBody>
          <a:bodyPr/>
          <a:lstStyle/>
          <a:p>
            <a:pPr algn="ctr" rtl="1"/>
            <a:r>
              <a:rPr lang="fa-IR" dirty="0">
                <a:cs typeface="B Koodak" panose="00000700000000000000" pitchFamily="2" charset="-78"/>
              </a:rPr>
              <a:t>اضافه کردن شی به صحنه بازی 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ctr" rtl="1">
              <a:buNone/>
            </a:pPr>
            <a:r>
              <a:rPr lang="fa-IR" dirty="0">
                <a:cs typeface="B Koodak" panose="00000700000000000000" pitchFamily="2" charset="-78"/>
              </a:rPr>
              <a:t>بکشید و رها کنید</a:t>
            </a:r>
          </a:p>
          <a:p>
            <a:pPr algn="ctr" rtl="1"/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0"/>
          <a:stretch/>
        </p:blipFill>
        <p:spPr>
          <a:xfrm>
            <a:off x="571835" y="2373284"/>
            <a:ext cx="8045817" cy="4276165"/>
          </a:xfrm>
          <a:prstGeom prst="rect">
            <a:avLst/>
          </a:prstGeom>
          <a:ln>
            <a:noFill/>
          </a:ln>
        </p:spPr>
      </p:pic>
      <p:cxnSp>
        <p:nvCxnSpPr>
          <p:cNvPr id="6" name="Straight Arrow Connector 5"/>
          <p:cNvCxnSpPr/>
          <p:nvPr/>
        </p:nvCxnSpPr>
        <p:spPr>
          <a:xfrm flipV="1">
            <a:off x="1555453" y="3582733"/>
            <a:ext cx="1397726" cy="18026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950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اولین </a:t>
            </a:r>
            <a:r>
              <a:rPr lang="en-US" dirty="0">
                <a:cs typeface="B Titr" panose="00000700000000000000" pitchFamily="2" charset="-78"/>
              </a:rPr>
              <a:t>game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1588" y="2264035"/>
            <a:ext cx="8825659" cy="3416300"/>
          </a:xfrm>
        </p:spPr>
        <p:txBody>
          <a:bodyPr/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یک راه دیگر برای کارهای بزرگتر!</a:t>
            </a:r>
            <a:endParaRPr lang="en-US" dirty="0"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831" b="21261"/>
          <a:stretch/>
        </p:blipFill>
        <p:spPr>
          <a:xfrm>
            <a:off x="130628" y="2262355"/>
            <a:ext cx="4140926" cy="4452761"/>
          </a:xfrm>
          <a:prstGeom prst="rect">
            <a:avLst/>
          </a:prstGeom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27"/>
          <a:stretch/>
        </p:blipFill>
        <p:spPr>
          <a:xfrm>
            <a:off x="4376057" y="2748856"/>
            <a:ext cx="7475198" cy="3966260"/>
          </a:xfrm>
          <a:prstGeom prst="rect">
            <a:avLst/>
          </a:prstGeom>
          <a:ln>
            <a:noFill/>
          </a:ln>
        </p:spPr>
      </p:pic>
      <p:cxnSp>
        <p:nvCxnSpPr>
          <p:cNvPr id="10" name="Straight Arrow Connector 9"/>
          <p:cNvCxnSpPr/>
          <p:nvPr/>
        </p:nvCxnSpPr>
        <p:spPr>
          <a:xfrm flipV="1">
            <a:off x="5225143" y="4068205"/>
            <a:ext cx="5408023" cy="15283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Arrow 10"/>
          <p:cNvSpPr/>
          <p:nvPr/>
        </p:nvSpPr>
        <p:spPr>
          <a:xfrm>
            <a:off x="4099388" y="4522980"/>
            <a:ext cx="553337" cy="41801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3156858" y="2370033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8860965" y="2861658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36" b="27960"/>
          <a:stretch/>
        </p:blipFill>
        <p:spPr>
          <a:xfrm>
            <a:off x="9110339" y="4323135"/>
            <a:ext cx="2598613" cy="22701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6" name="TextBox 15"/>
          <p:cNvSpPr txBox="1"/>
          <p:nvPr/>
        </p:nvSpPr>
        <p:spPr>
          <a:xfrm>
            <a:off x="11900845" y="5136637"/>
            <a:ext cx="60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rgbClr val="FF0000"/>
                </a:solidFill>
                <a:cs typeface="B Koodak" panose="00000700000000000000" pitchFamily="2" charset="-78"/>
              </a:rPr>
              <a:t>یا</a:t>
            </a:r>
            <a:endParaRPr lang="en-US" dirty="0">
              <a:solidFill>
                <a:srgbClr val="FF0000"/>
              </a:solidFill>
              <a:cs typeface="B Koodak" panose="00000700000000000000" pitchFamily="2" charset="-78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11706837" y="5332565"/>
            <a:ext cx="233916" cy="53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598744" y="5290035"/>
            <a:ext cx="107961" cy="956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1740206" y="5136637"/>
            <a:ext cx="160639" cy="1606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100" dirty="0"/>
              <a:t>1</a:t>
            </a:r>
            <a:endParaRPr lang="en-US" sz="1100" dirty="0"/>
          </a:p>
        </p:txBody>
      </p:sp>
      <p:sp>
        <p:nvSpPr>
          <p:cNvPr id="21" name="Oval 20"/>
          <p:cNvSpPr/>
          <p:nvPr/>
        </p:nvSpPr>
        <p:spPr>
          <a:xfrm>
            <a:off x="9668025" y="4591830"/>
            <a:ext cx="160639" cy="16063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7629513" y="3972185"/>
            <a:ext cx="430356" cy="381453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81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اولین </a:t>
            </a:r>
            <a:r>
              <a:rPr lang="en-US" dirty="0">
                <a:cs typeface="B Titr" panose="00000700000000000000" pitchFamily="2" charset="-78"/>
              </a:rPr>
              <a:t>game object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933779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en-US" dirty="0">
                <a:cs typeface="B Koodak" panose="00000700000000000000" pitchFamily="2" charset="-78"/>
              </a:rPr>
              <a:t>Inspector</a:t>
            </a:r>
            <a:r>
              <a:rPr lang="fa-IR" dirty="0">
                <a:cs typeface="B Koodak" panose="00000700000000000000" pitchFamily="2" charset="-78"/>
              </a:rPr>
              <a:t>&gt; </a:t>
            </a:r>
            <a:r>
              <a:rPr lang="en-US" dirty="0">
                <a:cs typeface="B Koodak" panose="00000700000000000000" pitchFamily="2" charset="-78"/>
              </a:rPr>
              <a:t>Transform</a:t>
            </a:r>
            <a:r>
              <a:rPr lang="fa-IR" dirty="0">
                <a:cs typeface="B Koodak" panose="00000700000000000000" pitchFamily="2" charset="-78"/>
              </a:rPr>
              <a:t>&gt; 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</a:rPr>
              <a:t>Position</a:t>
            </a:r>
            <a:r>
              <a:rPr lang="fa-IR" dirty="0">
                <a:cs typeface="B Koodak" panose="00000700000000000000" pitchFamily="2" charset="-78"/>
              </a:rPr>
              <a:t> یا موقعیت مکانی</a:t>
            </a: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</a:rPr>
              <a:t>Rotation</a:t>
            </a:r>
            <a:r>
              <a:rPr lang="fa-IR" dirty="0">
                <a:cs typeface="B Koodak" panose="00000700000000000000" pitchFamily="2" charset="-78"/>
              </a:rPr>
              <a:t> یا چرخش</a:t>
            </a: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</a:rPr>
              <a:t>Scale</a:t>
            </a:r>
            <a:r>
              <a:rPr lang="fa-IR" dirty="0">
                <a:cs typeface="B Koodak" panose="00000700000000000000" pitchFamily="2" charset="-78"/>
              </a:rPr>
              <a:t> یا مقیاس (بزرگنمایی/کوچکنمایی)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اما </a:t>
            </a:r>
            <a:r>
              <a:rPr lang="en-US" dirty="0">
                <a:cs typeface="B Koodak" panose="00000700000000000000" pitchFamily="2" charset="-78"/>
              </a:rPr>
              <a:t>Z</a:t>
            </a:r>
            <a:r>
              <a:rPr lang="fa-IR" dirty="0">
                <a:cs typeface="B Koodak" panose="00000700000000000000" pitchFamily="2" charset="-78"/>
              </a:rPr>
              <a:t> در </a:t>
            </a:r>
            <a:r>
              <a:rPr lang="en-US" dirty="0">
                <a:cs typeface="B Koodak" panose="00000700000000000000" pitchFamily="2" charset="-78"/>
              </a:rPr>
              <a:t>Position</a:t>
            </a:r>
            <a:r>
              <a:rPr lang="fa-IR" dirty="0">
                <a:cs typeface="B Koodak" panose="00000700000000000000" pitchFamily="2" charset="-78"/>
              </a:rPr>
              <a:t> در فضای 2بعدی!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همان پشت/جلوی سایر اجسام را تعیین می‌کند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28" t="9141" b="16740"/>
          <a:stretch/>
        </p:blipFill>
        <p:spPr>
          <a:xfrm>
            <a:off x="627792" y="2345785"/>
            <a:ext cx="2934269" cy="4191494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3029801" y="5227096"/>
            <a:ext cx="6539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83726" y="5057819"/>
            <a:ext cx="2115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این دکمه را به خاطر بسپارید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59551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اولین </a:t>
            </a:r>
            <a:r>
              <a:rPr lang="en-US" dirty="0">
                <a:cs typeface="B Titr" panose="00000700000000000000" pitchFamily="2" charset="-78"/>
              </a:rPr>
              <a:t>game object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719" y="2841471"/>
            <a:ext cx="4544561" cy="68857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803469" y="2617219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4579087" y="2617219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5355144" y="2617218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6085655" y="2617217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6787120" y="2622528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5</a:t>
            </a:r>
            <a:endParaRPr lang="en-US" dirty="0"/>
          </a:p>
        </p:txBody>
      </p:sp>
      <p:sp>
        <p:nvSpPr>
          <p:cNvPr id="18" name="Oval 17"/>
          <p:cNvSpPr/>
          <p:nvPr/>
        </p:nvSpPr>
        <p:spPr>
          <a:xfrm>
            <a:off x="7510335" y="2617217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6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89110" y="3725840"/>
            <a:ext cx="75608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1-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Hand</a:t>
            </a: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 یا جا بجایی صفحه کار و پیمایش کلی صحنه بازی</a:t>
            </a:r>
          </a:p>
          <a:p>
            <a:pPr algn="r" rtl="1">
              <a:lnSpc>
                <a:spcPct val="150000"/>
              </a:lnSpc>
            </a:pP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2-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Move</a:t>
            </a: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 یا جابجایی عناصر محیط بازی در صحنه بازی</a:t>
            </a:r>
          </a:p>
          <a:p>
            <a:pPr algn="r" rtl="1">
              <a:lnSpc>
                <a:spcPct val="150000"/>
              </a:lnSpc>
            </a:pP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3-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Rotate</a:t>
            </a: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 یا چرخش عناصر محیط بازی در صحنه بازی</a:t>
            </a:r>
          </a:p>
          <a:p>
            <a:pPr algn="r" rtl="1">
              <a:lnSpc>
                <a:spcPct val="150000"/>
              </a:lnSpc>
            </a:pP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4-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Scale</a:t>
            </a: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 یا تغییر مقیاس (اندازه) عناصر محیط بازی در صحنه بازی</a:t>
            </a:r>
          </a:p>
          <a:p>
            <a:pPr algn="r" rtl="1">
              <a:lnSpc>
                <a:spcPct val="150000"/>
              </a:lnSpc>
            </a:pP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5-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Rect</a:t>
            </a: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 نمایش عنصر فعال در در صحنه بازی</a:t>
            </a:r>
          </a:p>
          <a:p>
            <a:pPr algn="r" rtl="1">
              <a:lnSpc>
                <a:spcPct val="150000"/>
              </a:lnSpc>
            </a:pPr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6- ابزار یکپارچه جهت تعیین مقیاس، زاویه چرخش و جابجایی عناصر محیط بازی در صحنه بازی</a:t>
            </a:r>
          </a:p>
        </p:txBody>
      </p:sp>
    </p:spTree>
    <p:extLst>
      <p:ext uri="{BB962C8B-B14F-4D97-AF65-F5344CB8AC3E}">
        <p14:creationId xmlns:p14="http://schemas.microsoft.com/office/powerpoint/2010/main" val="1935905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اولین </a:t>
            </a:r>
            <a:r>
              <a:rPr lang="en-US" dirty="0">
                <a:cs typeface="B Titr" panose="00000700000000000000" pitchFamily="2" charset="-78"/>
              </a:rPr>
              <a:t>game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862614"/>
          </a:xfrm>
        </p:spPr>
        <p:txBody>
          <a:bodyPr>
            <a:normAutofit fontScale="85000" lnSpcReduction="20000"/>
          </a:bodyPr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اولین اجرا 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نکته: در زمان اجرا چیزی را تغییر ندهید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algn="r" rtl="1"/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اولین اجرا، اما، همه چیز ثابت، انگار درفضا هستیم، وقت دمیدن روح در عناصر بازیست!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rtl="1">
              <a:buNone/>
            </a:pPr>
            <a:r>
              <a:rPr lang="fa-IR" dirty="0">
                <a:solidFill>
                  <a:schemeClr val="accent6">
                    <a:lumMod val="50000"/>
                  </a:schemeClr>
                </a:solidFill>
                <a:cs typeface="B Koodak" panose="00000700000000000000" pitchFamily="2" charset="-78"/>
              </a:rPr>
              <a:t>پایان جلسه اول</a:t>
            </a:r>
            <a:endParaRPr lang="en-US" dirty="0">
              <a:solidFill>
                <a:schemeClr val="accent6">
                  <a:lumMod val="50000"/>
                </a:schemeClr>
              </a:solidFill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819" y="2603500"/>
            <a:ext cx="1286054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15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522052" cy="3416300"/>
          </a:xfrm>
        </p:spPr>
        <p:txBody>
          <a:bodyPr/>
          <a:lstStyle/>
          <a:p>
            <a:pPr algn="l"/>
            <a:r>
              <a:rPr lang="en-US" dirty="0" err="1"/>
              <a:t>Rigidbody</a:t>
            </a:r>
            <a:r>
              <a:rPr lang="en-US" dirty="0"/>
              <a:t> 2D Component</a:t>
            </a:r>
          </a:p>
          <a:p>
            <a:pPr marL="0" indent="0" algn="l">
              <a:buNone/>
            </a:pPr>
            <a:r>
              <a:rPr lang="fa-IR" dirty="0">
                <a:cs typeface="B Koodak" panose="00000700000000000000" pitchFamily="2" charset="-78"/>
              </a:rPr>
              <a:t>بدن سفت و سخت!</a:t>
            </a:r>
          </a:p>
          <a:p>
            <a:pPr marL="0" indent="0" algn="l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algn="r" rtl="1"/>
            <a:endParaRPr lang="en-US" dirty="0">
              <a:cs typeface="B Koodak" panose="00000700000000000000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28" t="33786" b="16740"/>
          <a:stretch/>
        </p:blipFill>
        <p:spPr>
          <a:xfrm>
            <a:off x="499862" y="3589361"/>
            <a:ext cx="2934269" cy="2797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18664" y="5603807"/>
            <a:ext cx="1178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یادتون هست؟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B Koodak" panose="00000700000000000000" pitchFamily="2" charset="-78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85" t="9625" b="36797"/>
          <a:stretch/>
        </p:blipFill>
        <p:spPr>
          <a:xfrm>
            <a:off x="4405236" y="3587182"/>
            <a:ext cx="2988860" cy="27999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6161" y="3587182"/>
            <a:ext cx="3350845" cy="2799969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844941" y="5076967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4712218" y="3799508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9191869" y="5824653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508069" y="5076967"/>
            <a:ext cx="0" cy="5008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470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708" y="2407556"/>
            <a:ext cx="9516332" cy="4293690"/>
          </a:xfrm>
        </p:spPr>
        <p:txBody>
          <a:bodyPr>
            <a:normAutofit lnSpcReduction="10000"/>
          </a:bodyPr>
          <a:lstStyle/>
          <a:p>
            <a:pPr algn="r" rtl="1"/>
            <a:r>
              <a:rPr lang="en-US" b="1" dirty="0">
                <a:cs typeface="B Koodak" panose="00000700000000000000" pitchFamily="2" charset="-78"/>
              </a:rPr>
              <a:t>Body Type</a:t>
            </a: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</a:rPr>
              <a:t>Dynamic</a:t>
            </a:r>
            <a:r>
              <a:rPr lang="fa-IR" dirty="0">
                <a:cs typeface="B Koodak" panose="00000700000000000000" pitchFamily="2" charset="-78"/>
              </a:rPr>
              <a:t>: اعمال جاذبه به صورت پیش فرض برای استقرار روی سطح زمین</a:t>
            </a: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</a:rPr>
              <a:t>Kinematic</a:t>
            </a:r>
            <a:r>
              <a:rPr lang="fa-IR" dirty="0">
                <a:cs typeface="B Koodak" panose="00000700000000000000" pitchFamily="2" charset="-78"/>
              </a:rPr>
              <a:t>: اعمال فیزیک بدون در نظر گرفتن جاذبه (هواپیما روی هوا)</a:t>
            </a: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</a:rPr>
              <a:t>Static</a:t>
            </a:r>
            <a:r>
              <a:rPr lang="fa-IR" dirty="0">
                <a:cs typeface="B Koodak" panose="00000700000000000000" pitchFamily="2" charset="-78"/>
              </a:rPr>
              <a:t>:  جسم ثابت بدون امکان جابجایی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سوال: 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اگر قرار نیست جاذبه اعمال شود، چرا از </a:t>
            </a:r>
            <a:r>
              <a:rPr lang="en-US" dirty="0" err="1">
                <a:cs typeface="B Koodak" panose="00000700000000000000" pitchFamily="2" charset="-78"/>
              </a:rPr>
              <a:t>Rigidbody</a:t>
            </a:r>
            <a:r>
              <a:rPr lang="en-US" dirty="0">
                <a:cs typeface="B Koodak" panose="00000700000000000000" pitchFamily="2" charset="-78"/>
              </a:rPr>
              <a:t> </a:t>
            </a:r>
            <a:r>
              <a:rPr lang="fa-IR" dirty="0">
                <a:cs typeface="B Koodak" panose="00000700000000000000" pitchFamily="2" charset="-78"/>
              </a:rPr>
              <a:t> استفاده</a:t>
            </a:r>
            <a:r>
              <a:rPr lang="en-US" dirty="0">
                <a:cs typeface="B Koodak" panose="00000700000000000000" pitchFamily="2" charset="-78"/>
              </a:rPr>
              <a:t> </a:t>
            </a:r>
            <a:r>
              <a:rPr lang="fa-IR" dirty="0">
                <a:cs typeface="B Koodak" panose="00000700000000000000" pitchFamily="2" charset="-78"/>
              </a:rPr>
              <a:t>کنیم؟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جواب: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استفاده از ویژگی های فیزیکی در کد(اسکریپت) نویسی.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82" t="50285" b="6275"/>
          <a:stretch/>
        </p:blipFill>
        <p:spPr>
          <a:xfrm>
            <a:off x="994725" y="3185919"/>
            <a:ext cx="3250063" cy="281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53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حالا روی حالت </a:t>
            </a:r>
            <a:r>
              <a:rPr lang="en-US" dirty="0">
                <a:cs typeface="B Koodak" panose="00000700000000000000" pitchFamily="2" charset="-78"/>
              </a:rPr>
              <a:t>Dynamic</a:t>
            </a:r>
            <a:r>
              <a:rPr lang="fa-IR" dirty="0">
                <a:cs typeface="B Koodak" panose="00000700000000000000" pitchFamily="2" charset="-78"/>
              </a:rPr>
              <a:t> بازی را اجرا کنید.</a:t>
            </a:r>
          </a:p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سوال: 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با این سقوط بی پایان چه کنیم؟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جواب: 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یک سطح (زمین) ایجاد کنید.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370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5525588"/>
            <a:ext cx="8825659" cy="494211"/>
          </a:xfrm>
        </p:spPr>
        <p:txBody>
          <a:bodyPr/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حالا تمام سطحی را انتخاب کنید</a:t>
            </a:r>
            <a:endParaRPr lang="en-US" dirty="0">
              <a:cs typeface="B Koodak" panose="00000700000000000000" pitchFamily="2" charset="-78"/>
            </a:endParaRPr>
          </a:p>
          <a:p>
            <a:pPr algn="r" rtl="1"/>
            <a:endParaRPr lang="en-US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971" y="3046327"/>
            <a:ext cx="2676899" cy="12955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387" y="2626445"/>
            <a:ext cx="5992061" cy="2638793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2886892" y="3962228"/>
            <a:ext cx="6865" cy="535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3704" y="4341908"/>
            <a:ext cx="3775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نکته:</a:t>
            </a:r>
          </a:p>
          <a:p>
            <a:pPr algn="r" rtl="1"/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می‌توانید مجموعه‌ای از عناصر ایجاد کنید، که</a:t>
            </a:r>
          </a:p>
          <a:p>
            <a:pPr algn="r" rtl="1"/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کار را برای پروژه های بزرگ ساده خواهد کرد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59108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42240"/>
            <a:ext cx="8825659" cy="4045494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cs typeface="B Koodak" panose="00000700000000000000" pitchFamily="2" charset="-78"/>
              </a:rPr>
              <a:t>Box Collider 2D Component</a:t>
            </a:r>
          </a:p>
          <a:p>
            <a:pPr marL="0" indent="0">
              <a:buNone/>
            </a:pPr>
            <a:r>
              <a:rPr lang="fa-IR" dirty="0">
                <a:cs typeface="B Koodak" panose="00000700000000000000" pitchFamily="2" charset="-78"/>
              </a:rPr>
              <a:t>جعبه برخورد دهنده!</a:t>
            </a: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همین مراحل را برای جسم سقوط کننده هم انجام دهید.</a:t>
            </a:r>
            <a:endParaRPr lang="en-US" dirty="0">
              <a:cs typeface="B Koodak" panose="00000700000000000000" pitchFamily="2" charset="-78"/>
            </a:endParaRPr>
          </a:p>
          <a:p>
            <a:endParaRPr lang="en-US" dirty="0">
              <a:cs typeface="B Koodak" panose="00000700000000000000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568" y="3129792"/>
            <a:ext cx="4868625" cy="28043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73" t="45484" r="4541" b="9472"/>
          <a:stretch/>
        </p:blipFill>
        <p:spPr>
          <a:xfrm>
            <a:off x="3779210" y="3129792"/>
            <a:ext cx="2685280" cy="280015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28" t="33786" b="16740"/>
          <a:stretch/>
        </p:blipFill>
        <p:spPr>
          <a:xfrm>
            <a:off x="499862" y="3132156"/>
            <a:ext cx="2934269" cy="279779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44941" y="4619762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089223" y="3158627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7994109" y="5367448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79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097746"/>
          </a:xfrm>
        </p:spPr>
        <p:txBody>
          <a:bodyPr>
            <a:normAutofit fontScale="77500" lnSpcReduction="20000"/>
          </a:bodyPr>
          <a:lstStyle/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حالا بازی را اجرا کنید</a:t>
            </a:r>
          </a:p>
          <a:p>
            <a:pPr algn="r" rtl="1"/>
            <a:endParaRPr lang="fa-IR" dirty="0">
              <a:cs typeface="B Koodak" panose="00000700000000000000" pitchFamily="2" charset="-78"/>
            </a:endParaRP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چند تمرین و کار اضافه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1- اندازه باکس برخورد را تغییر دهید و نتیجه را ببینید.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2- یک جسم جدید به طوری که روی </a:t>
            </a:r>
            <a:r>
              <a:rPr lang="fa-IR" dirty="0">
                <a:solidFill>
                  <a:srgbClr val="FF0000"/>
                </a:solidFill>
                <a:cs typeface="B Koodak" panose="00000700000000000000" pitchFamily="2" charset="-78"/>
              </a:rPr>
              <a:t>لبه</a:t>
            </a:r>
            <a:r>
              <a:rPr lang="fa-IR" dirty="0">
                <a:cs typeface="B Koodak" panose="00000700000000000000" pitchFamily="2" charset="-78"/>
              </a:rPr>
              <a:t> سطح سقوط کند، ایجاد کنید.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3- یک سطح </a:t>
            </a:r>
            <a:r>
              <a:rPr lang="fa-IR" dirty="0">
                <a:solidFill>
                  <a:srgbClr val="FF0000"/>
                </a:solidFill>
                <a:cs typeface="B Koodak" panose="00000700000000000000" pitchFamily="2" charset="-78"/>
              </a:rPr>
              <a:t>شیب‌دار</a:t>
            </a:r>
            <a:r>
              <a:rPr lang="fa-IR" dirty="0">
                <a:cs typeface="B Koodak" panose="00000700000000000000" pitchFamily="2" charset="-78"/>
              </a:rPr>
              <a:t> برای جسم سقوط کننده بسازید.</a:t>
            </a:r>
          </a:p>
          <a:p>
            <a:pPr marL="0" indent="0" algn="r" rtl="1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سوال:</a:t>
            </a: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</a:rPr>
              <a:t>Edge Radius</a:t>
            </a:r>
            <a:r>
              <a:rPr lang="fa-IR" dirty="0">
                <a:cs typeface="B Koodak" panose="00000700000000000000" pitchFamily="2" charset="-78"/>
              </a:rPr>
              <a:t> چه کاری انجام می‌دهد؟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جواب: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جلوگیری از گیر کردن در لبه‌های سطح، و شاید کارهای جذاب‌تر!</a:t>
            </a:r>
          </a:p>
          <a:p>
            <a:pPr algn="r" rtl="1"/>
            <a:endParaRPr lang="en-US" dirty="0"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58" y="2655752"/>
            <a:ext cx="3803073" cy="219056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933303" y="2808515"/>
            <a:ext cx="1410788" cy="3265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011680" y="4193177"/>
            <a:ext cx="1881051" cy="2481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3344091" y="2991397"/>
            <a:ext cx="1414940" cy="6727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3892731" y="3788228"/>
            <a:ext cx="866300" cy="5290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/>
          <p:nvPr/>
        </p:nvCxnSpPr>
        <p:spPr>
          <a:xfrm rot="10800000">
            <a:off x="4798221" y="3737765"/>
            <a:ext cx="910248" cy="26201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07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تمرین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چند سطح شیب دار و مخزن جمع‌آوری مهره‌های سقوط کننده!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</a:rPr>
              <a:t> </a:t>
            </a:r>
            <a:endParaRPr lang="fa-IR" dirty="0">
              <a:cs typeface="B Koodak" panose="00000700000000000000" pitchFamily="2" charset="-78"/>
            </a:endParaRP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توسعه کار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مهره‌های مربعی تک‌رنگ را با مهره های دایره‌ای چند‌رنگ عوض کنید.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راهنمایی: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از </a:t>
            </a:r>
            <a:r>
              <a:rPr lang="en-US" dirty="0">
                <a:cs typeface="B Koodak" panose="00000700000000000000" pitchFamily="2" charset="-78"/>
              </a:rPr>
              <a:t>Circle Collider 2D Component</a:t>
            </a:r>
            <a:r>
              <a:rPr lang="fa-IR" dirty="0">
                <a:cs typeface="B Koodak" panose="00000700000000000000" pitchFamily="2" charset="-78"/>
              </a:rPr>
              <a:t> استفاده کنید.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en-US" dirty="0"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37" t="5751" r="27532" b="35040"/>
          <a:stretch/>
        </p:blipFill>
        <p:spPr>
          <a:xfrm>
            <a:off x="1277471" y="2528047"/>
            <a:ext cx="2628324" cy="334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59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حذف یک کامپوننت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راست کلیک...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l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58" t="53561" b="6709"/>
          <a:stretch/>
        </p:blipFill>
        <p:spPr>
          <a:xfrm>
            <a:off x="4702628" y="3188244"/>
            <a:ext cx="2860765" cy="2246811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4349931" y="3383280"/>
            <a:ext cx="134547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3188244"/>
            <a:ext cx="2429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تنظیمات پیش‌فرض کامپوننت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42966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کامپوننت های کاربردی زیرمجموعه </a:t>
            </a:r>
            <a:r>
              <a:rPr lang="en-US" dirty="0">
                <a:cs typeface="B Koodak" panose="00000700000000000000" pitchFamily="2" charset="-78"/>
              </a:rPr>
              <a:t>Physics 2D</a:t>
            </a:r>
            <a:endParaRPr lang="fa-IR" dirty="0">
              <a:cs typeface="B Koodak" panose="00000700000000000000" pitchFamily="2" charset="-78"/>
            </a:endParaRPr>
          </a:p>
          <a:p>
            <a:r>
              <a:rPr lang="en-US" dirty="0">
                <a:cs typeface="B Koodak" panose="00000700000000000000" pitchFamily="2" charset="-78"/>
              </a:rPr>
              <a:t>Area Effector 2D</a:t>
            </a:r>
            <a:endParaRPr lang="fa-IR" dirty="0">
              <a:cs typeface="B Koodak" panose="00000700000000000000" pitchFamily="2" charset="-78"/>
            </a:endParaRPr>
          </a:p>
          <a:p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نکته 1: گزینه </a:t>
            </a:r>
            <a:r>
              <a:rPr lang="en-US" dirty="0">
                <a:cs typeface="B Koodak" panose="00000700000000000000" pitchFamily="2" charset="-78"/>
              </a:rPr>
              <a:t>use by Effector</a:t>
            </a:r>
            <a:r>
              <a:rPr lang="fa-IR" dirty="0">
                <a:cs typeface="B Koodak" panose="00000700000000000000" pitchFamily="2" charset="-78"/>
              </a:rPr>
              <a:t> در مجموعه کامپوننت های </a:t>
            </a:r>
            <a:r>
              <a:rPr lang="en-US" dirty="0">
                <a:cs typeface="B Koodak" panose="00000700000000000000" pitchFamily="2" charset="-78"/>
              </a:rPr>
              <a:t>Collider 2D</a:t>
            </a:r>
            <a:r>
              <a:rPr lang="fa-IR" dirty="0">
                <a:cs typeface="B Koodak" panose="00000700000000000000" pitchFamily="2" charset="-78"/>
              </a:rPr>
              <a:t> فعال باشد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نکته 2: مقدار </a:t>
            </a:r>
            <a:r>
              <a:rPr lang="en-US" dirty="0">
                <a:cs typeface="B Koodak" panose="00000700000000000000" pitchFamily="2" charset="-78"/>
              </a:rPr>
              <a:t>force magnitude</a:t>
            </a:r>
            <a:r>
              <a:rPr lang="fa-IR" dirty="0">
                <a:cs typeface="B Koodak" panose="00000700000000000000" pitchFamily="2" charset="-78"/>
              </a:rPr>
              <a:t>!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نکته 3: گزینه </a:t>
            </a:r>
            <a:r>
              <a:rPr lang="en-US" dirty="0">
                <a:cs typeface="B Koodak" panose="00000700000000000000" pitchFamily="2" charset="-78"/>
              </a:rPr>
              <a:t>force Target</a:t>
            </a:r>
            <a:r>
              <a:rPr lang="fa-IR" dirty="0">
                <a:cs typeface="B Koodak" panose="00000700000000000000" pitchFamily="2" charset="-78"/>
              </a:rPr>
              <a:t> نقطه اعمال نیرو هستند (نقطه برخورد یا مرکز ثقل جسم)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l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4760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فیزیک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endParaRPr lang="en-US" dirty="0">
              <a:cs typeface="B Koodak" panose="00000700000000000000" pitchFamily="2" charset="-78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32440" y="2245638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یک استخر آب بسازید!</a:t>
            </a:r>
          </a:p>
          <a:p>
            <a:pPr algn="l"/>
            <a:r>
              <a:rPr lang="en-US" sz="1900" b="1" dirty="0">
                <a:cs typeface="B Koodak" panose="00000700000000000000" pitchFamily="2" charset="-78"/>
              </a:rPr>
              <a:t>Buoyancy Effector 2D</a:t>
            </a: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نکته 1: گزینه </a:t>
            </a:r>
            <a:r>
              <a:rPr lang="en-US" sz="2000" dirty="0">
                <a:cs typeface="B Koodak" panose="00000700000000000000" pitchFamily="2" charset="-78"/>
              </a:rPr>
              <a:t>use by Effector</a:t>
            </a:r>
            <a:r>
              <a:rPr lang="fa-IR" sz="2000" dirty="0">
                <a:cs typeface="B Koodak" panose="00000700000000000000" pitchFamily="2" charset="-78"/>
              </a:rPr>
              <a:t> و </a:t>
            </a:r>
            <a:r>
              <a:rPr lang="en-US" sz="2000" dirty="0">
                <a:cs typeface="B Koodak" panose="00000700000000000000" pitchFamily="2" charset="-78"/>
              </a:rPr>
              <a:t>Is Trigger</a:t>
            </a:r>
            <a:r>
              <a:rPr lang="fa-IR" sz="2000" dirty="0">
                <a:cs typeface="B Koodak" panose="00000700000000000000" pitchFamily="2" charset="-78"/>
              </a:rPr>
              <a:t> در مجموعه کامپوننت های </a:t>
            </a:r>
            <a:r>
              <a:rPr lang="en-US" sz="2000" dirty="0">
                <a:cs typeface="B Koodak" panose="00000700000000000000" pitchFamily="2" charset="-78"/>
              </a:rPr>
              <a:t>Collider 2D</a:t>
            </a:r>
            <a:r>
              <a:rPr lang="fa-IR" sz="2000" dirty="0">
                <a:cs typeface="B Koodak" panose="00000700000000000000" pitchFamily="2" charset="-78"/>
              </a:rPr>
              <a:t> فعال باشد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نکته 2: مقدار </a:t>
            </a:r>
            <a:r>
              <a:rPr lang="en-US" sz="2000" dirty="0">
                <a:cs typeface="B Koodak" panose="00000700000000000000" pitchFamily="2" charset="-78"/>
              </a:rPr>
              <a:t>Density</a:t>
            </a:r>
            <a:r>
              <a:rPr lang="fa-IR" sz="2000" dirty="0">
                <a:cs typeface="B Koodak" panose="00000700000000000000" pitchFamily="2" charset="-78"/>
              </a:rPr>
              <a:t>!</a:t>
            </a:r>
          </a:p>
          <a:p>
            <a:pPr marL="0" indent="0" algn="r" rtl="1">
              <a:buNone/>
            </a:pPr>
            <a:endParaRPr lang="en-US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66732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اعمال نیروی ثابت</a:t>
            </a:r>
            <a:endParaRPr lang="en-US" dirty="0">
              <a:cs typeface="B Koodak" panose="00000700000000000000" pitchFamily="2" charset="-78"/>
            </a:endParaRPr>
          </a:p>
          <a:p>
            <a:r>
              <a:rPr lang="en-US" dirty="0">
                <a:cs typeface="B Koodak" panose="00000700000000000000" pitchFamily="2" charset="-78"/>
              </a:rPr>
              <a:t>Constant Force 2D</a:t>
            </a: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آونگ</a:t>
            </a:r>
          </a:p>
          <a:p>
            <a:r>
              <a:rPr lang="en-US" dirty="0">
                <a:cs typeface="B Koodak" panose="00000700000000000000" pitchFamily="2" charset="-78"/>
              </a:rPr>
              <a:t>Distance Joint 2D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آونگ توقف پذیر</a:t>
            </a:r>
          </a:p>
          <a:p>
            <a:r>
              <a:rPr lang="en-US" dirty="0">
                <a:cs typeface="B Koodak" panose="00000700000000000000" pitchFamily="2" charset="-78"/>
              </a:rPr>
              <a:t>Target Joint 2D</a:t>
            </a: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l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57222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اتصال دو یا چند جسم (شی) به هم</a:t>
            </a:r>
          </a:p>
          <a:p>
            <a:r>
              <a:rPr lang="en-US" dirty="0">
                <a:cs typeface="B Koodak" panose="00000700000000000000" pitchFamily="2" charset="-78"/>
              </a:rPr>
              <a:t>Hinge Joint 2d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در نظر بگیرید می‌خواهیم یک پل معلق بسازیم!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l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3716399"/>
            <a:ext cx="4279195" cy="264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32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برای مثال می‌خواهیم در صحنه بازی جسم </a:t>
            </a:r>
            <a:r>
              <a:rPr lang="en-US" dirty="0">
                <a:cs typeface="B Koodak" panose="00000700000000000000" pitchFamily="2" charset="-78"/>
              </a:rPr>
              <a:t>A</a:t>
            </a:r>
            <a:r>
              <a:rPr lang="fa-IR" dirty="0">
                <a:cs typeface="B Koodak" panose="00000700000000000000" pitchFamily="2" charset="-78"/>
              </a:rPr>
              <a:t> را به جسم </a:t>
            </a:r>
            <a:r>
              <a:rPr lang="en-US" dirty="0">
                <a:cs typeface="B Koodak" panose="00000700000000000000" pitchFamily="2" charset="-78"/>
              </a:rPr>
              <a:t>B</a:t>
            </a:r>
            <a:r>
              <a:rPr lang="fa-IR" dirty="0">
                <a:cs typeface="B Koodak" panose="00000700000000000000" pitchFamily="2" charset="-78"/>
              </a:rPr>
              <a:t> متصل کنیم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گام اول: 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کامپوننت </a:t>
            </a:r>
            <a:r>
              <a:rPr lang="en-US" dirty="0">
                <a:cs typeface="B Koodak" panose="00000700000000000000" pitchFamily="2" charset="-78"/>
              </a:rPr>
              <a:t>Hinge Joint 2d</a:t>
            </a:r>
            <a:r>
              <a:rPr lang="fa-IR" dirty="0">
                <a:cs typeface="B Koodak" panose="00000700000000000000" pitchFamily="2" charset="-78"/>
              </a:rPr>
              <a:t> را به جسمی </a:t>
            </a:r>
            <a:r>
              <a:rPr lang="en-US" dirty="0">
                <a:cs typeface="B Koodak" panose="00000700000000000000" pitchFamily="2" charset="-78"/>
              </a:rPr>
              <a:t>A</a:t>
            </a:r>
            <a:r>
              <a:rPr lang="fa-IR" dirty="0">
                <a:cs typeface="B Koodak" panose="00000700000000000000" pitchFamily="2" charset="-78"/>
              </a:rPr>
              <a:t> اضافه کنید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3956345"/>
            <a:ext cx="5496692" cy="24292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164454" y="4545873"/>
            <a:ext cx="5447212" cy="2351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11666" y="4658887"/>
            <a:ext cx="3174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>
                <a:solidFill>
                  <a:srgbClr val="FF0000"/>
                </a:solidFill>
                <a:cs typeface="B Koodak" panose="00000700000000000000" pitchFamily="2" charset="-78"/>
              </a:rPr>
              <a:t>به این قسمت توجه کنید</a:t>
            </a:r>
          </a:p>
          <a:p>
            <a:r>
              <a:rPr lang="en-US" dirty="0">
                <a:solidFill>
                  <a:srgbClr val="FF0000"/>
                </a:solidFill>
                <a:cs typeface="B Koodak" panose="00000700000000000000" pitchFamily="2" charset="-78"/>
              </a:rPr>
              <a:t>Connected Rigid Body</a:t>
            </a:r>
          </a:p>
        </p:txBody>
      </p:sp>
      <p:cxnSp>
        <p:nvCxnSpPr>
          <p:cNvPr id="9" name="Straight Arrow Connector 8"/>
          <p:cNvCxnSpPr>
            <a:stCxn id="7" idx="0"/>
          </p:cNvCxnSpPr>
          <p:nvPr/>
        </p:nvCxnSpPr>
        <p:spPr>
          <a:xfrm flipH="1">
            <a:off x="6624731" y="4658887"/>
            <a:ext cx="15740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078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3901803"/>
          </a:xfrm>
        </p:spPr>
        <p:txBody>
          <a:bodyPr>
            <a:normAutofit fontScale="70000" lnSpcReduction="20000"/>
          </a:bodyPr>
          <a:lstStyle/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گام دوم: 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جسم </a:t>
            </a:r>
            <a:r>
              <a:rPr lang="en-US" dirty="0">
                <a:cs typeface="B Koodak" panose="00000700000000000000" pitchFamily="2" charset="-78"/>
              </a:rPr>
              <a:t>B</a:t>
            </a:r>
            <a:r>
              <a:rPr lang="fa-IR" dirty="0">
                <a:cs typeface="B Koodak" panose="00000700000000000000" pitchFamily="2" charset="-78"/>
              </a:rPr>
              <a:t> حتما باید کامپوننت </a:t>
            </a:r>
            <a:r>
              <a:rPr lang="en-US" dirty="0">
                <a:cs typeface="B Koodak" panose="00000700000000000000" pitchFamily="2" charset="-78"/>
              </a:rPr>
              <a:t>Rigid Body 2d</a:t>
            </a:r>
            <a:r>
              <a:rPr lang="fa-IR" dirty="0">
                <a:cs typeface="B Koodak" panose="00000700000000000000" pitchFamily="2" charset="-78"/>
              </a:rPr>
              <a:t> داشته باشد،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اگر ندارد اضافه کنید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گام آخر: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جسم </a:t>
            </a:r>
            <a:r>
              <a:rPr lang="en-US" dirty="0">
                <a:cs typeface="B Koodak" panose="00000700000000000000" pitchFamily="2" charset="-78"/>
              </a:rPr>
              <a:t>A</a:t>
            </a:r>
            <a:r>
              <a:rPr lang="fa-IR" dirty="0">
                <a:cs typeface="B Koodak" panose="00000700000000000000" pitchFamily="2" charset="-78"/>
              </a:rPr>
              <a:t> را انتخاب کنید، 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از سلسه مراتب اشیاء صحنه (</a:t>
            </a:r>
            <a:r>
              <a:rPr lang="en-US" dirty="0">
                <a:cs typeface="B Koodak" panose="00000700000000000000" pitchFamily="2" charset="-78"/>
              </a:rPr>
              <a:t>Hierarchy</a:t>
            </a:r>
            <a:r>
              <a:rPr lang="fa-IR" dirty="0">
                <a:cs typeface="B Koodak" panose="00000700000000000000" pitchFamily="2" charset="-78"/>
              </a:rPr>
              <a:t>)، جسم </a:t>
            </a:r>
            <a:r>
              <a:rPr lang="en-US" dirty="0">
                <a:cs typeface="B Koodak" panose="00000700000000000000" pitchFamily="2" charset="-78"/>
              </a:rPr>
              <a:t>B</a:t>
            </a:r>
            <a:r>
              <a:rPr lang="fa-IR" dirty="0">
                <a:cs typeface="B Koodak" panose="00000700000000000000" pitchFamily="2" charset="-78"/>
              </a:rPr>
              <a:t> را به درون کادر </a:t>
            </a:r>
            <a:r>
              <a:rPr lang="en-US" b="1" dirty="0">
                <a:cs typeface="B Koodak" panose="00000700000000000000" pitchFamily="2" charset="-78"/>
              </a:rPr>
              <a:t>Connected Rigid Body</a:t>
            </a:r>
            <a:r>
              <a:rPr lang="fa-IR" b="1" dirty="0">
                <a:cs typeface="B Koodak" panose="00000700000000000000" pitchFamily="2" charset="-78"/>
              </a:rPr>
              <a:t> </a:t>
            </a:r>
            <a:r>
              <a:rPr lang="fa-IR" dirty="0">
                <a:cs typeface="B Koodak" panose="00000700000000000000" pitchFamily="2" charset="-78"/>
              </a:rPr>
              <a:t>در بکشید.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یادآوری: </a:t>
            </a: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</a:rPr>
              <a:t>Connected Rigid Body</a:t>
            </a:r>
            <a:r>
              <a:rPr lang="fa-IR" dirty="0">
                <a:cs typeface="B Koodak" panose="00000700000000000000" pitchFamily="2" charset="-78"/>
              </a:rPr>
              <a:t> در زیرمجموعه کامپوننت </a:t>
            </a:r>
            <a:r>
              <a:rPr lang="en-US" dirty="0">
                <a:cs typeface="B Koodak" panose="00000700000000000000" pitchFamily="2" charset="-78"/>
              </a:rPr>
              <a:t>Hinge Joint 2D</a:t>
            </a:r>
            <a:r>
              <a:rPr lang="fa-IR" dirty="0">
                <a:cs typeface="B Koodak" panose="00000700000000000000" pitchFamily="2" charset="-78"/>
              </a:rPr>
              <a:t> در </a:t>
            </a:r>
            <a:r>
              <a:rPr lang="en-US" dirty="0">
                <a:cs typeface="B Koodak" panose="00000700000000000000" pitchFamily="2" charset="-78"/>
              </a:rPr>
              <a:t>Inspector</a:t>
            </a:r>
            <a:r>
              <a:rPr lang="fa-IR" dirty="0">
                <a:cs typeface="B Koodak" panose="00000700000000000000" pitchFamily="2" charset="-78"/>
              </a:rPr>
              <a:t> است (گام اول!)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62838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فیزیک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endParaRPr lang="en-US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508" y="2679939"/>
            <a:ext cx="3515216" cy="370574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91" t="46057" r="6426" b="8206"/>
          <a:stretch/>
        </p:blipFill>
        <p:spPr>
          <a:xfrm>
            <a:off x="1423852" y="2679939"/>
            <a:ext cx="2429691" cy="370060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298608" y="2679939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946508" y="4719617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453628" y="3394955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3941122" y="3448595"/>
            <a:ext cx="1466902" cy="195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154954" y="2246809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b="1" dirty="0">
                <a:cs typeface="B Koodak" panose="00000700000000000000" pitchFamily="2" charset="-78"/>
              </a:rPr>
              <a:t>Platform Effector 2D</a:t>
            </a: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نکته 1: نباید بتوانید از دیوار راست بالا بروید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نکته2 : پریدن روی سکو با یا بدون</a:t>
            </a:r>
          </a:p>
          <a:p>
            <a:pPr marL="0" indent="0" algn="r" rtl="1">
              <a:buNone/>
            </a:pPr>
            <a:r>
              <a:rPr lang="en-US" sz="1900" b="1" dirty="0">
                <a:cs typeface="B Koodak" panose="00000700000000000000" pitchFamily="2" charset="-78"/>
              </a:rPr>
              <a:t>				Use one Way</a:t>
            </a: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986726" y="5516689"/>
            <a:ext cx="1466902" cy="195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153" y="4705166"/>
            <a:ext cx="3658111" cy="168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80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B Koodak" panose="00000700000000000000" pitchFamily="2" charset="-78"/>
              </a:rPr>
              <a:t>point Effector 2D</a:t>
            </a:r>
            <a:endParaRPr lang="fa-IR" dirty="0">
              <a:cs typeface="B Koodak" panose="00000700000000000000" pitchFamily="2" charset="-78"/>
            </a:endParaRPr>
          </a:p>
          <a:p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نکته 1: گزینه </a:t>
            </a:r>
            <a:r>
              <a:rPr lang="en-US" dirty="0">
                <a:cs typeface="B Koodak" panose="00000700000000000000" pitchFamily="2" charset="-78"/>
              </a:rPr>
              <a:t>use by Effector</a:t>
            </a:r>
            <a:r>
              <a:rPr lang="fa-IR" dirty="0">
                <a:cs typeface="B Koodak" panose="00000700000000000000" pitchFamily="2" charset="-78"/>
              </a:rPr>
              <a:t> در مجموعه کامپوننت های </a:t>
            </a:r>
            <a:r>
              <a:rPr lang="en-US" dirty="0">
                <a:cs typeface="B Koodak" panose="00000700000000000000" pitchFamily="2" charset="-78"/>
              </a:rPr>
              <a:t>Collider 2D</a:t>
            </a:r>
            <a:r>
              <a:rPr lang="fa-IR" dirty="0">
                <a:cs typeface="B Koodak" panose="00000700000000000000" pitchFamily="2" charset="-78"/>
              </a:rPr>
              <a:t> فعال باشد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نکته 2: مقدار </a:t>
            </a:r>
            <a:r>
              <a:rPr lang="en-US" dirty="0">
                <a:cs typeface="B Koodak" panose="00000700000000000000" pitchFamily="2" charset="-78"/>
              </a:rPr>
              <a:t>force magnitude</a:t>
            </a:r>
            <a:r>
              <a:rPr lang="fa-IR" dirty="0">
                <a:cs typeface="B Koodak" panose="00000700000000000000" pitchFamily="2" charset="-78"/>
              </a:rPr>
              <a:t>!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نکته 3: جاذبه و دافعه را تجربه کنید!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l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86799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فیزیک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776" y="2714402"/>
            <a:ext cx="2991267" cy="37247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536" y="2309535"/>
            <a:ext cx="2962688" cy="45345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656" y="3438404"/>
            <a:ext cx="2600688" cy="2276793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5826034" y="4010297"/>
            <a:ext cx="1557742" cy="4702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4070225" y="4180115"/>
            <a:ext cx="763032" cy="3966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281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مبانی سی شارپ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متغیرها و انواع آن‌ها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تعریف متغیر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مفاهیم سراسری و عمومی ضمن بلوک کد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ساختارهای شرطی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ساختارهای تکراری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ساختار توابع و اصول تعریف تابع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نکته نقطه ویرگول انتهای هر خط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کامنت کد (</a:t>
            </a:r>
            <a:r>
              <a:rPr lang="en-US" dirty="0">
                <a:cs typeface="B Koodak" panose="00000700000000000000" pitchFamily="2" charset="-78"/>
              </a:rPr>
              <a:t>//</a:t>
            </a:r>
            <a:r>
              <a:rPr lang="fa-IR" dirty="0">
                <a:cs typeface="B Koodak" panose="00000700000000000000" pitchFamily="2" charset="-78"/>
              </a:rPr>
              <a:t>)</a:t>
            </a:r>
          </a:p>
          <a:p>
            <a:pPr algn="r" rtl="1"/>
            <a:endParaRPr lang="en-US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70127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چیزی شبیه به این صحنه را آماده کنید!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121" y="3562007"/>
            <a:ext cx="5363323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958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ایجاد یک اسکریپت در یونیتی</a:t>
            </a:r>
          </a:p>
          <a:p>
            <a:pPr marL="0" indent="0" algn="l">
              <a:buNone/>
            </a:pPr>
            <a:r>
              <a:rPr lang="en-US" dirty="0">
                <a:cs typeface="B Koodak" panose="00000700000000000000" pitchFamily="2" charset="-78"/>
              </a:rPr>
              <a:t>Project view&gt; Assets&gt; </a:t>
            </a:r>
            <a:r>
              <a:rPr lang="fa-IR" dirty="0">
                <a:cs typeface="B Koodak" panose="00000700000000000000" pitchFamily="2" charset="-78"/>
              </a:rPr>
              <a:t>راست کلیک</a:t>
            </a:r>
            <a:r>
              <a:rPr lang="en-US" dirty="0">
                <a:cs typeface="B Koodak" panose="00000700000000000000" pitchFamily="2" charset="-78"/>
              </a:rPr>
              <a:t>&gt; Create&gt; Folder</a:t>
            </a:r>
            <a:endParaRPr lang="fa-IR" dirty="0">
              <a:cs typeface="B Koodak" panose="00000700000000000000" pitchFamily="2" charset="-78"/>
            </a:endParaRPr>
          </a:p>
          <a:p>
            <a:pPr marL="0" indent="0" algn="l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نام پوشه جدید را </a:t>
            </a:r>
            <a:r>
              <a:rPr lang="en-US" dirty="0">
                <a:cs typeface="B Koodak" panose="00000700000000000000" pitchFamily="2" charset="-78"/>
              </a:rPr>
              <a:t>Scripts</a:t>
            </a:r>
            <a:r>
              <a:rPr lang="fa-IR" dirty="0">
                <a:cs typeface="B Koodak" panose="00000700000000000000" pitchFamily="2" charset="-78"/>
              </a:rPr>
              <a:t> تایپ کنید و در ادامه، وارد پوشه جدید شده و؛</a:t>
            </a:r>
          </a:p>
          <a:p>
            <a:pPr marL="0" indent="0">
              <a:buNone/>
            </a:pPr>
            <a:r>
              <a:rPr lang="fa-IR" dirty="0">
                <a:cs typeface="B Koodak" panose="00000700000000000000" pitchFamily="2" charset="-78"/>
              </a:rPr>
              <a:t>راست کلیک </a:t>
            </a:r>
            <a:r>
              <a:rPr lang="en-US" dirty="0">
                <a:cs typeface="B Koodak" panose="00000700000000000000" pitchFamily="2" charset="-78"/>
              </a:rPr>
              <a:t>&gt; Create&gt; C# Script</a:t>
            </a: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نام فایل جدید را </a:t>
            </a:r>
            <a:r>
              <a:rPr lang="en-US" dirty="0">
                <a:cs typeface="B Koodak" panose="00000700000000000000" pitchFamily="2" charset="-78"/>
              </a:rPr>
              <a:t>Player</a:t>
            </a:r>
            <a:r>
              <a:rPr lang="fa-IR" dirty="0">
                <a:cs typeface="B Koodak" panose="00000700000000000000" pitchFamily="2" charset="-78"/>
              </a:rPr>
              <a:t> تایپ کنید؛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فایل اسکریپت جدید را باز کنید.</a:t>
            </a:r>
            <a:endParaRPr lang="en-US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53786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07355" y="2755900"/>
            <a:ext cx="3943914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using</a:t>
            </a:r>
            <a:r>
              <a:rPr lang="en-US" sz="1600" dirty="0"/>
              <a:t> </a:t>
            </a:r>
            <a:r>
              <a:rPr lang="en-US" sz="1600" dirty="0" err="1"/>
              <a:t>System.Collections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b="1" dirty="0"/>
              <a:t>using</a:t>
            </a:r>
            <a:r>
              <a:rPr lang="en-US" sz="1600" dirty="0"/>
              <a:t> </a:t>
            </a:r>
            <a:r>
              <a:rPr lang="en-US" sz="1600" dirty="0" err="1"/>
              <a:t>System.Collections.Generic</a:t>
            </a:r>
            <a:r>
              <a:rPr lang="en-US" sz="1600" dirty="0"/>
              <a:t>;</a:t>
            </a:r>
          </a:p>
          <a:p>
            <a:pPr marL="0" indent="0">
              <a:buNone/>
            </a:pPr>
            <a:r>
              <a:rPr lang="en-US" sz="1600" b="1" dirty="0"/>
              <a:t>using</a:t>
            </a:r>
            <a:r>
              <a:rPr lang="en-US" sz="1600" dirty="0"/>
              <a:t> </a:t>
            </a:r>
            <a:r>
              <a:rPr lang="en-US" sz="1600" dirty="0" err="1"/>
              <a:t>UnityEngine</a:t>
            </a:r>
            <a:r>
              <a:rPr lang="en-US" sz="1600" dirty="0"/>
              <a:t>;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34594" y="2755899"/>
            <a:ext cx="5694353" cy="390615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public class </a:t>
            </a:r>
            <a:r>
              <a:rPr lang="en-US" b="1" dirty="0">
                <a:cs typeface="B Koodak" panose="00000700000000000000" pitchFamily="2" charset="-78"/>
              </a:rPr>
              <a:t>Player</a:t>
            </a:r>
            <a:r>
              <a:rPr lang="en-US" dirty="0">
                <a:cs typeface="B Koodak" panose="00000700000000000000" pitchFamily="2" charset="-78"/>
              </a:rPr>
              <a:t> : </a:t>
            </a:r>
            <a:r>
              <a:rPr lang="en-US" dirty="0" err="1">
                <a:cs typeface="B Koodak" panose="00000700000000000000" pitchFamily="2" charset="-78"/>
              </a:rPr>
              <a:t>MonoBehaviour</a:t>
            </a:r>
            <a:r>
              <a:rPr lang="en-US" dirty="0">
                <a:cs typeface="B Koodak" panose="00000700000000000000" pitchFamily="2" charset="-78"/>
              </a:rPr>
              <a:t> {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// Use this for initialization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void </a:t>
            </a:r>
            <a:r>
              <a:rPr lang="en-US" b="1" dirty="0">
                <a:cs typeface="B Koodak" panose="00000700000000000000" pitchFamily="2" charset="-78"/>
              </a:rPr>
              <a:t>Start</a:t>
            </a:r>
            <a:r>
              <a:rPr lang="en-US" dirty="0">
                <a:cs typeface="B Koodak" panose="00000700000000000000" pitchFamily="2" charset="-78"/>
              </a:rPr>
              <a:t> () {</a:t>
            </a:r>
          </a:p>
          <a:p>
            <a:pPr marL="0" indent="0">
              <a:buNone/>
            </a:pPr>
            <a:r>
              <a:rPr lang="fa-IR" sz="2000" b="1" dirty="0">
                <a:cs typeface="B Koodak" panose="00000700000000000000" pitchFamily="2" charset="-78"/>
              </a:rPr>
              <a:t>ویژگی های ابتدایی شی متصل (لحظه‌ای که شی ما وارد بازی می‌شود)</a:t>
            </a:r>
            <a:endParaRPr lang="en-US" sz="2000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}</a:t>
            </a:r>
          </a:p>
          <a:p>
            <a:pPr marL="0" indent="0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// Update is called once per frame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void </a:t>
            </a:r>
            <a:r>
              <a:rPr lang="en-US" b="1" dirty="0">
                <a:cs typeface="B Koodak" panose="00000700000000000000" pitchFamily="2" charset="-78"/>
              </a:rPr>
              <a:t>Update</a:t>
            </a:r>
            <a:r>
              <a:rPr lang="en-US" dirty="0">
                <a:cs typeface="B Koodak" panose="00000700000000000000" pitchFamily="2" charset="-78"/>
              </a:rPr>
              <a:t> () {</a:t>
            </a:r>
          </a:p>
          <a:p>
            <a:pPr marL="0" indent="0">
              <a:buNone/>
            </a:pPr>
            <a:r>
              <a:rPr lang="fa-IR" dirty="0">
                <a:cs typeface="B Koodak" panose="00000700000000000000" pitchFamily="2" charset="-78"/>
              </a:rPr>
              <a:t>بررسی تغییرات لحظه‌ای، مثل فشرده شده یک کلید (معمولا فریم به فریم)</a:t>
            </a: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}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}</a:t>
            </a:r>
          </a:p>
        </p:txBody>
      </p:sp>
      <p:sp>
        <p:nvSpPr>
          <p:cNvPr id="7" name="Oval 6"/>
          <p:cNvSpPr/>
          <p:nvPr/>
        </p:nvSpPr>
        <p:spPr>
          <a:xfrm>
            <a:off x="928532" y="2962252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355771" y="2712930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5355771" y="5001519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0" name="Oval 9"/>
          <p:cNvSpPr/>
          <p:nvPr/>
        </p:nvSpPr>
        <p:spPr>
          <a:xfrm>
            <a:off x="5355771" y="3340983"/>
            <a:ext cx="378823" cy="37882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162720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154954" y="2495006"/>
            <a:ext cx="8761412" cy="4193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public class Player : </a:t>
            </a:r>
            <a:r>
              <a:rPr lang="en-US" dirty="0" err="1"/>
              <a:t>MonoBehaviour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b="1" dirty="0"/>
              <a:t>public Rigidbody2D </a:t>
            </a:r>
            <a:r>
              <a:rPr lang="en-US" b="1" dirty="0" err="1"/>
              <a:t>rb</a:t>
            </a:r>
            <a:r>
              <a:rPr lang="en-US" b="1" dirty="0"/>
              <a:t>; </a:t>
            </a:r>
            <a:r>
              <a:rPr lang="en-US" b="1" dirty="0">
                <a:cs typeface="B Koodak" panose="00000700000000000000" pitchFamily="2" charset="-78"/>
              </a:rPr>
              <a:t>//</a:t>
            </a:r>
            <a:r>
              <a:rPr lang="fa-IR" b="1" dirty="0">
                <a:cs typeface="B Koodak" panose="00000700000000000000" pitchFamily="2" charset="-78"/>
              </a:rPr>
              <a:t>تعریف متغیر</a:t>
            </a: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/>
              <a:t>void Start () {</a:t>
            </a:r>
          </a:p>
          <a:p>
            <a:pPr marL="0" indent="0">
              <a:buNone/>
            </a:pPr>
            <a:r>
              <a:rPr lang="en-US" b="1" dirty="0" err="1"/>
              <a:t>rb</a:t>
            </a:r>
            <a:r>
              <a:rPr lang="en-US" b="1" dirty="0"/>
              <a:t> = </a:t>
            </a:r>
            <a:r>
              <a:rPr lang="en-US" b="1" dirty="0" err="1"/>
              <a:t>GetComponent</a:t>
            </a:r>
            <a:r>
              <a:rPr lang="en-US" b="1" dirty="0"/>
              <a:t>&lt;Rigidbody2D&gt;();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fa-IR" dirty="0"/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void Update () {</a:t>
            </a:r>
          </a:p>
          <a:p>
            <a:pPr marL="0" indent="0">
              <a:buNone/>
            </a:pPr>
            <a:r>
              <a:rPr lang="en-US" b="1" dirty="0" err="1"/>
              <a:t>rb.velocity</a:t>
            </a:r>
            <a:r>
              <a:rPr lang="en-US" b="1" dirty="0"/>
              <a:t> = new Vector2(1, </a:t>
            </a:r>
            <a:r>
              <a:rPr lang="en-US" b="1" dirty="0" err="1"/>
              <a:t>rb.velocity.y</a:t>
            </a:r>
            <a:r>
              <a:rPr lang="en-US" b="1" dirty="0"/>
              <a:t>);</a:t>
            </a:r>
            <a:endParaRPr lang="fa-IR" b="1" dirty="0"/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}</a:t>
            </a: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fa-IR" dirty="0">
                <a:cs typeface="B Koodak" panose="00000700000000000000" pitchFamily="2" charset="-78"/>
              </a:rPr>
              <a:t>{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اصلا نگران نباشید، توضیح خواهیم داد!</a:t>
            </a:r>
          </a:p>
        </p:txBody>
      </p:sp>
    </p:spTree>
    <p:extLst>
      <p:ext uri="{BB962C8B-B14F-4D97-AF65-F5344CB8AC3E}">
        <p14:creationId xmlns:p14="http://schemas.microsoft.com/office/powerpoint/2010/main" val="36767392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اتصال عناصر بازی با اسکریپت مرتبط خودشان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- انتخاب شی مورد نظر از صحنه بازی </a:t>
            </a:r>
            <a:r>
              <a:rPr lang="en-US" dirty="0">
                <a:cs typeface="B Koodak" panose="00000700000000000000" pitchFamily="2" charset="-78"/>
              </a:rPr>
              <a:t>(Scene)</a:t>
            </a: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- </a:t>
            </a:r>
            <a:r>
              <a:rPr lang="en-US" dirty="0">
                <a:cs typeface="B Koodak" panose="00000700000000000000" pitchFamily="2" charset="-78"/>
              </a:rPr>
              <a:t>Add component</a:t>
            </a: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- جستجوی فایل اسکریپتی که می‌خواهیم به شی ما متصل شود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حالا یک بار بازی را اجرا کنید!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49" t="46169" r="2338" b="7633"/>
          <a:stretch/>
        </p:blipFill>
        <p:spPr>
          <a:xfrm>
            <a:off x="1763486" y="3005364"/>
            <a:ext cx="2717075" cy="261257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556171" y="5281394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2806659" y="2958498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631116" y="3617026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865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7559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Koodak" panose="00000700000000000000" pitchFamily="2" charset="-78"/>
              </a:rPr>
              <a:t>درباره </a:t>
            </a:r>
            <a:r>
              <a:rPr lang="en-US" dirty="0">
                <a:cs typeface="B Koodak" panose="00000700000000000000" pitchFamily="2" charset="-78"/>
              </a:rPr>
              <a:t>velocity</a:t>
            </a:r>
            <a:r>
              <a:rPr lang="fa-IR" dirty="0">
                <a:cs typeface="B Koodak" panose="00000700000000000000" pitchFamily="2" charset="-78"/>
              </a:rPr>
              <a:t> و </a:t>
            </a:r>
            <a:r>
              <a:rPr lang="en-US" dirty="0">
                <a:cs typeface="B Koodak" panose="00000700000000000000" pitchFamily="2" charset="-78"/>
              </a:rPr>
              <a:t> Vector2(X,Y)</a:t>
            </a:r>
            <a:r>
              <a:rPr lang="fa-IR" dirty="0">
                <a:cs typeface="B Koodak" panose="00000700000000000000" pitchFamily="2" charset="-78"/>
              </a:rPr>
              <a:t>یا سرعت در مسیر بردار</a:t>
            </a:r>
          </a:p>
          <a:p>
            <a:pPr algn="r" rtl="1"/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void Update () {</a:t>
            </a:r>
          </a:p>
          <a:p>
            <a:pPr marL="0" indent="0">
              <a:buNone/>
            </a:pPr>
            <a:r>
              <a:rPr lang="en-US" b="1" dirty="0"/>
              <a:t>// </a:t>
            </a:r>
            <a:r>
              <a:rPr lang="en-US" b="1" dirty="0" err="1"/>
              <a:t>rb.velocity</a:t>
            </a:r>
            <a:r>
              <a:rPr lang="en-US" b="1" dirty="0"/>
              <a:t> = new Vector2(1, </a:t>
            </a:r>
            <a:r>
              <a:rPr lang="en-US" b="1" dirty="0" err="1"/>
              <a:t>rb.velocity.y</a:t>
            </a:r>
            <a:r>
              <a:rPr lang="en-US" b="1" dirty="0"/>
              <a:t>);</a:t>
            </a:r>
            <a:endParaRPr lang="fa-IR" b="1" dirty="0"/>
          </a:p>
          <a:p>
            <a:pPr marL="0" indent="0">
              <a:buNone/>
            </a:pPr>
            <a:r>
              <a:rPr lang="en-US" b="1" dirty="0" err="1"/>
              <a:t>rb.velocity</a:t>
            </a:r>
            <a:r>
              <a:rPr lang="en-US" b="1" dirty="0"/>
              <a:t> = new Vector2(5, </a:t>
            </a:r>
            <a:r>
              <a:rPr lang="en-US" b="1" dirty="0" err="1"/>
              <a:t>rb.velocity.y</a:t>
            </a:r>
            <a:r>
              <a:rPr lang="en-US" b="1" dirty="0"/>
              <a:t>);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}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نکته: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کامنت (</a:t>
            </a:r>
            <a:r>
              <a:rPr lang="en-US" b="1" dirty="0"/>
              <a:t>//</a:t>
            </a:r>
            <a:r>
              <a:rPr lang="fa-IR" dirty="0">
                <a:cs typeface="B Koodak" panose="00000700000000000000" pitchFamily="2" charset="-78"/>
              </a:rPr>
              <a:t>)</a:t>
            </a: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49864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154954" y="2495006"/>
            <a:ext cx="8761412" cy="41931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b="1" dirty="0">
                <a:cs typeface="B Koodak" panose="00000700000000000000" pitchFamily="2" charset="-78"/>
              </a:rPr>
              <a:t>حرکت خطی رو به جلو (راست) با سرعت 1</a:t>
            </a: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b="1" dirty="0" err="1"/>
              <a:t>rb.velocity</a:t>
            </a:r>
            <a:r>
              <a:rPr lang="en-US" b="1" dirty="0"/>
              <a:t> = new Vector2(1, </a:t>
            </a:r>
            <a:r>
              <a:rPr lang="en-US" b="1" dirty="0" err="1"/>
              <a:t>rb.velocity.y</a:t>
            </a:r>
            <a:r>
              <a:rPr lang="en-US" b="1" dirty="0"/>
              <a:t>);</a:t>
            </a:r>
            <a:endParaRPr lang="fa-IR" b="1" dirty="0"/>
          </a:p>
          <a:p>
            <a:pPr algn="r" rtl="1"/>
            <a:r>
              <a:rPr lang="fa-IR" b="1" dirty="0">
                <a:cs typeface="B Koodak" panose="00000700000000000000" pitchFamily="2" charset="-78"/>
              </a:rPr>
              <a:t>حرکت خطی رو به عقب (چپ) با سرعت 1</a:t>
            </a: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b="1" dirty="0" err="1"/>
              <a:t>rb.velocity</a:t>
            </a:r>
            <a:r>
              <a:rPr lang="en-US" b="1" dirty="0"/>
              <a:t> = new Vector2(</a:t>
            </a:r>
            <a:r>
              <a:rPr lang="fa-IR" b="1" dirty="0"/>
              <a:t>-</a:t>
            </a:r>
            <a:r>
              <a:rPr lang="en-US" b="1" dirty="0"/>
              <a:t>1, </a:t>
            </a:r>
            <a:r>
              <a:rPr lang="en-US" b="1" dirty="0" err="1"/>
              <a:t>rb.velocity.y</a:t>
            </a:r>
            <a:r>
              <a:rPr lang="en-US" b="1" dirty="0"/>
              <a:t>);</a:t>
            </a:r>
            <a:endParaRPr lang="fa-IR" b="1" dirty="0"/>
          </a:p>
          <a:p>
            <a:pPr algn="r" rtl="1"/>
            <a:r>
              <a:rPr lang="fa-IR" b="1" dirty="0">
                <a:cs typeface="B Koodak" panose="00000700000000000000" pitchFamily="2" charset="-78"/>
              </a:rPr>
              <a:t>حرکت خطی رو به بالا با سرعت 1</a:t>
            </a: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b="1" dirty="0" err="1"/>
              <a:t>rb.velocity</a:t>
            </a:r>
            <a:r>
              <a:rPr lang="en-US" b="1" dirty="0"/>
              <a:t> = new Vector2(</a:t>
            </a:r>
            <a:r>
              <a:rPr lang="en-US" b="1" dirty="0" err="1"/>
              <a:t>rb.velocity.x</a:t>
            </a:r>
            <a:r>
              <a:rPr lang="en-US" b="1" dirty="0"/>
              <a:t>, 1);</a:t>
            </a:r>
          </a:p>
          <a:p>
            <a:pPr algn="r" rtl="1"/>
            <a:r>
              <a:rPr lang="fa-IR" b="1" dirty="0">
                <a:cs typeface="B Koodak" panose="00000700000000000000" pitchFamily="2" charset="-78"/>
              </a:rPr>
              <a:t>حرکت خطی رو به پایین با سرعت 1</a:t>
            </a: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b="1" dirty="0" err="1"/>
              <a:t>rb.velocity</a:t>
            </a:r>
            <a:r>
              <a:rPr lang="en-US" b="1" dirty="0"/>
              <a:t> = new Vector2(</a:t>
            </a:r>
            <a:r>
              <a:rPr lang="en-US" b="1" dirty="0" err="1"/>
              <a:t>rb.velocity.x</a:t>
            </a:r>
            <a:r>
              <a:rPr lang="en-US" b="1" dirty="0"/>
              <a:t>, -1);</a:t>
            </a:r>
          </a:p>
          <a:p>
            <a:pPr algn="r" rtl="1"/>
            <a:r>
              <a:rPr lang="fa-IR" b="1" dirty="0">
                <a:cs typeface="B Koodak" panose="00000700000000000000" pitchFamily="2" charset="-78"/>
              </a:rPr>
              <a:t>حرکت قوسی (تغییر جهت هم</a:t>
            </a:r>
            <a:r>
              <a:rPr lang="en-US" b="1" dirty="0">
                <a:cs typeface="B Koodak" panose="00000700000000000000" pitchFamily="2" charset="-78"/>
              </a:rPr>
              <a:t> </a:t>
            </a:r>
            <a:r>
              <a:rPr lang="fa-IR" b="1" dirty="0">
                <a:cs typeface="B Koodak" panose="00000700000000000000" pitchFamily="2" charset="-78"/>
              </a:rPr>
              <a:t>زمان با تغییر ارتفاع) </a:t>
            </a: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b="1" dirty="0" err="1"/>
              <a:t>rb.velocity</a:t>
            </a:r>
            <a:r>
              <a:rPr lang="en-US" b="1" dirty="0"/>
              <a:t> = new Vector2(</a:t>
            </a:r>
            <a:r>
              <a:rPr lang="fa-IR" b="1" dirty="0"/>
              <a:t>1</a:t>
            </a:r>
            <a:r>
              <a:rPr lang="en-US" b="1" dirty="0"/>
              <a:t>, </a:t>
            </a:r>
            <a:r>
              <a:rPr lang="fa-IR" b="1" dirty="0"/>
              <a:t>1</a:t>
            </a:r>
            <a:r>
              <a:rPr lang="en-US" b="1" dirty="0"/>
              <a:t>);</a:t>
            </a:r>
            <a:endParaRPr lang="fa-IR" b="1" dirty="0"/>
          </a:p>
          <a:p>
            <a:pPr marL="0" indent="0" algn="r">
              <a:buNone/>
            </a:pPr>
            <a:r>
              <a:rPr lang="fa-IR" sz="1600" b="1" dirty="0">
                <a:cs typeface="B Koodak" panose="00000700000000000000" pitchFamily="2" charset="-78"/>
              </a:rPr>
              <a:t>با تغییر علامت اعداد جهت تغییر خواهد کرد</a:t>
            </a:r>
          </a:p>
          <a:p>
            <a:pPr marL="0" indent="0">
              <a:buNone/>
            </a:pPr>
            <a:endParaRPr lang="fa-IR" b="1" dirty="0"/>
          </a:p>
          <a:p>
            <a:pPr marL="0" indent="0">
              <a:buNone/>
            </a:pPr>
            <a:endParaRPr lang="fa-IR" b="1" dirty="0"/>
          </a:p>
        </p:txBody>
      </p:sp>
    </p:spTree>
    <p:extLst>
      <p:ext uri="{BB962C8B-B14F-4D97-AF65-F5344CB8AC3E}">
        <p14:creationId xmlns:p14="http://schemas.microsoft.com/office/powerpoint/2010/main" val="27271568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Koodak" panose="00000700000000000000" pitchFamily="2" charset="-78"/>
              </a:rPr>
              <a:t>حالا </a:t>
            </a:r>
            <a:r>
              <a:rPr lang="fa-IR" u="sng" dirty="0">
                <a:cs typeface="B Koodak" panose="00000700000000000000" pitchFamily="2" charset="-78"/>
              </a:rPr>
              <a:t>یک متغیر برای سرعت</a:t>
            </a:r>
            <a:r>
              <a:rPr lang="fa-IR" dirty="0">
                <a:cs typeface="B Koodak" panose="00000700000000000000" pitchFamily="2" charset="-78"/>
              </a:rPr>
              <a:t> شی تعریف می‌کنیم</a:t>
            </a: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/>
              <a:t>public class Player : </a:t>
            </a:r>
            <a:r>
              <a:rPr lang="en-US" dirty="0" err="1"/>
              <a:t>MonoBehaviour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public Rigidbody2D </a:t>
            </a:r>
            <a:r>
              <a:rPr lang="en-US" dirty="0" err="1"/>
              <a:t>rb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public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movespeed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/>
              <a:t>void Start 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rb</a:t>
            </a:r>
            <a:r>
              <a:rPr lang="en-US" dirty="0"/>
              <a:t> = </a:t>
            </a:r>
            <a:r>
              <a:rPr lang="en-US" dirty="0" err="1"/>
              <a:t>GetComponent</a:t>
            </a:r>
            <a:r>
              <a:rPr lang="en-US" dirty="0"/>
              <a:t>&lt;Rigidbody2D&gt;();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/>
              <a:t>movespeed</a:t>
            </a:r>
            <a:r>
              <a:rPr lang="en-US" b="1" dirty="0"/>
              <a:t> = 2;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Update 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rb.velocity</a:t>
            </a:r>
            <a:r>
              <a:rPr lang="en-US" dirty="0"/>
              <a:t> = new Vector2(</a:t>
            </a:r>
            <a:r>
              <a:rPr lang="en-US" b="1" dirty="0" err="1"/>
              <a:t>movespeed</a:t>
            </a:r>
            <a:r>
              <a:rPr lang="en-US" dirty="0"/>
              <a:t>, </a:t>
            </a:r>
            <a:r>
              <a:rPr lang="en-US" dirty="0" err="1"/>
              <a:t>rb.velocity.y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34218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حالا یک راه دسترسی سریع برای تغییر سرعت داریم!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نکته: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برای اسفاده از این روش خط </a:t>
            </a:r>
            <a:r>
              <a:rPr lang="en-US" dirty="0" err="1">
                <a:cs typeface="B Koodak" panose="00000700000000000000" pitchFamily="2" charset="-78"/>
              </a:rPr>
              <a:t>movespeed</a:t>
            </a:r>
            <a:r>
              <a:rPr lang="en-US" dirty="0">
                <a:cs typeface="B Koodak" panose="00000700000000000000" pitchFamily="2" charset="-78"/>
              </a:rPr>
              <a:t> = 2</a:t>
            </a:r>
            <a:r>
              <a:rPr lang="fa-IR" dirty="0">
                <a:cs typeface="B Koodak" panose="00000700000000000000" pitchFamily="2" charset="-78"/>
              </a:rPr>
              <a:t> در اسکریپت را کامنت (</a:t>
            </a:r>
            <a:r>
              <a:rPr lang="en-US" dirty="0">
                <a:cs typeface="B Koodak" panose="00000700000000000000" pitchFamily="2" charset="-78"/>
              </a:rPr>
              <a:t>//</a:t>
            </a:r>
            <a:r>
              <a:rPr lang="en-US" dirty="0" err="1">
                <a:cs typeface="B Koodak" panose="00000700000000000000" pitchFamily="2" charset="-78"/>
              </a:rPr>
              <a:t>movespeed</a:t>
            </a:r>
            <a:r>
              <a:rPr lang="en-US" dirty="0">
                <a:cs typeface="B Koodak" panose="00000700000000000000" pitchFamily="2" charset="-78"/>
              </a:rPr>
              <a:t> = 2</a:t>
            </a:r>
            <a:r>
              <a:rPr lang="fa-IR" dirty="0">
                <a:cs typeface="B Koodak" panose="00000700000000000000" pitchFamily="2" charset="-78"/>
              </a:rPr>
              <a:t>) کنید</a:t>
            </a: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حالا چند باری بازی را اجرا کنید! (</a:t>
            </a:r>
            <a:r>
              <a:rPr lang="en-US" dirty="0" err="1">
                <a:cs typeface="B Koodak" panose="00000700000000000000" pitchFamily="2" charset="-78"/>
              </a:rPr>
              <a:t>movespeed</a:t>
            </a:r>
            <a:r>
              <a:rPr lang="fa-IR" dirty="0">
                <a:cs typeface="B Koodak" panose="00000700000000000000" pitchFamily="2" charset="-78"/>
              </a:rPr>
              <a:t> منفی را هم امتحان کنید)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966" y="3279433"/>
            <a:ext cx="4617264" cy="10740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317966" y="3944982"/>
            <a:ext cx="1084217" cy="209007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2860766" y="4049486"/>
            <a:ext cx="457200" cy="1045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15737" y="3984171"/>
            <a:ext cx="104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dirty="0">
                <a:solidFill>
                  <a:schemeClr val="tx1">
                    <a:lumMod val="75000"/>
                    <a:lumOff val="25000"/>
                  </a:schemeClr>
                </a:solidFill>
                <a:cs typeface="B Koodak" panose="00000700000000000000" pitchFamily="2" charset="-78"/>
              </a:rPr>
              <a:t>اینجاست!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23415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Koodak" panose="00000700000000000000" pitchFamily="2" charset="-78"/>
              </a:rPr>
              <a:t>کنترل عناصر بازی (صفحه کلید) و دستورات شرطی (</a:t>
            </a:r>
            <a:r>
              <a:rPr lang="en-US" dirty="0">
                <a:cs typeface="B Koodak" panose="00000700000000000000" pitchFamily="2" charset="-78"/>
              </a:rPr>
              <a:t>if</a:t>
            </a:r>
            <a:r>
              <a:rPr lang="fa-IR" dirty="0">
                <a:cs typeface="B Koodak" panose="00000700000000000000" pitchFamily="2" charset="-78"/>
              </a:rPr>
              <a:t>) </a:t>
            </a: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/>
              <a:t>public class Player : </a:t>
            </a:r>
            <a:r>
              <a:rPr lang="en-US" dirty="0" err="1"/>
              <a:t>MonoBehaviour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…</a:t>
            </a:r>
            <a:endParaRPr lang="fa-IR" dirty="0"/>
          </a:p>
          <a:p>
            <a:pPr marL="0" indent="0">
              <a:buNone/>
            </a:pPr>
            <a:r>
              <a:rPr lang="fa-IR" b="1" dirty="0"/>
              <a:t>    </a:t>
            </a:r>
            <a:r>
              <a:rPr lang="en-US" b="1" dirty="0"/>
              <a:t>public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movespeed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/>
              <a:t>void Start () {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movespeed</a:t>
            </a:r>
            <a:r>
              <a:rPr lang="en-US" dirty="0"/>
              <a:t> = 1;</a:t>
            </a:r>
          </a:p>
          <a:p>
            <a:pPr marL="0" indent="0">
              <a:buNone/>
            </a:pPr>
            <a:r>
              <a:rPr lang="fa-IR" dirty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void Update () {</a:t>
            </a:r>
          </a:p>
          <a:p>
            <a:pPr marL="0" indent="0">
              <a:buNone/>
            </a:pPr>
            <a:r>
              <a:rPr lang="en-US" b="1" dirty="0"/>
              <a:t>if (</a:t>
            </a:r>
            <a:r>
              <a:rPr lang="en-US" b="1" dirty="0" err="1"/>
              <a:t>Input.GetKey</a:t>
            </a:r>
            <a:r>
              <a:rPr lang="en-US" b="1" dirty="0"/>
              <a:t>(</a:t>
            </a:r>
            <a:r>
              <a:rPr lang="en-US" b="1" dirty="0" err="1"/>
              <a:t>KeyCode.RightArrow</a:t>
            </a:r>
            <a:r>
              <a:rPr lang="en-US" b="1" dirty="0"/>
              <a:t>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rb.velocity</a:t>
            </a:r>
            <a:r>
              <a:rPr lang="en-US" dirty="0"/>
              <a:t> = new Vector2(</a:t>
            </a:r>
            <a:r>
              <a:rPr lang="en-US" dirty="0" err="1"/>
              <a:t>movespeed</a:t>
            </a:r>
            <a:r>
              <a:rPr lang="en-US" dirty="0"/>
              <a:t>, </a:t>
            </a:r>
            <a:r>
              <a:rPr lang="en-US" dirty="0" err="1"/>
              <a:t>rb.velocity.y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b="1" dirty="0"/>
              <a:t>        }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}//</a:t>
            </a:r>
            <a:r>
              <a:rPr lang="fa-IR" dirty="0">
                <a:cs typeface="B Koodak" panose="00000700000000000000" pitchFamily="2" charset="-78"/>
              </a:rPr>
              <a:t>این از حرکت رو به جلو، حرکت رو به عقب را شما بنویسید!</a:t>
            </a: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13152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a-IR" dirty="0"/>
              <a:t>...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void Update () {</a:t>
            </a:r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Input.GetKey</a:t>
            </a:r>
            <a:r>
              <a:rPr lang="en-US" dirty="0"/>
              <a:t>(</a:t>
            </a:r>
            <a:r>
              <a:rPr lang="en-US" dirty="0" err="1"/>
              <a:t>KeyCode.RightArrow</a:t>
            </a:r>
            <a:r>
              <a:rPr lang="en-US" dirty="0"/>
              <a:t>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rb.velocity</a:t>
            </a:r>
            <a:r>
              <a:rPr lang="en-US" dirty="0"/>
              <a:t> = new Vector2(</a:t>
            </a:r>
            <a:r>
              <a:rPr lang="en-US" dirty="0" err="1"/>
              <a:t>movespeed</a:t>
            </a:r>
            <a:r>
              <a:rPr lang="en-US" dirty="0"/>
              <a:t>, </a:t>
            </a:r>
            <a:r>
              <a:rPr lang="en-US" dirty="0" err="1"/>
              <a:t>rb.velocity.y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if (</a:t>
            </a:r>
            <a:r>
              <a:rPr lang="en-US" b="1" dirty="0" err="1"/>
              <a:t>Input.GetKey</a:t>
            </a:r>
            <a:r>
              <a:rPr lang="en-US" b="1" dirty="0"/>
              <a:t>(</a:t>
            </a:r>
            <a:r>
              <a:rPr lang="en-US" b="1" dirty="0" err="1"/>
              <a:t>KeyCode.LeftArrow</a:t>
            </a:r>
            <a:r>
              <a:rPr lang="en-US" b="1" dirty="0"/>
              <a:t>))</a:t>
            </a:r>
            <a:r>
              <a:rPr lang="fa-IR" b="1" dirty="0"/>
              <a:t> </a:t>
            </a: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rb.velocity</a:t>
            </a:r>
            <a:r>
              <a:rPr lang="en-US" dirty="0"/>
              <a:t> = new Vector2(</a:t>
            </a:r>
            <a:r>
              <a:rPr lang="en-US" b="1" dirty="0"/>
              <a:t>-</a:t>
            </a:r>
            <a:r>
              <a:rPr lang="en-US" b="1" dirty="0" err="1"/>
              <a:t>movespeed</a:t>
            </a:r>
            <a:r>
              <a:rPr lang="en-US" dirty="0"/>
              <a:t>, </a:t>
            </a:r>
            <a:r>
              <a:rPr lang="en-US" dirty="0" err="1"/>
              <a:t>rb.velocity.y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}//</a:t>
            </a:r>
            <a:r>
              <a:rPr lang="fa-IR" dirty="0">
                <a:cs typeface="B Koodak" panose="00000700000000000000" pitchFamily="2" charset="-78"/>
              </a:rPr>
              <a:t>اگر بخواهیم سرعت حرکت رو به جلو 2برابر سرعت حرکت رو به عقب باشد چه؟!</a:t>
            </a: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536543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a-IR" dirty="0"/>
              <a:t>...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void Update () {</a:t>
            </a:r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Input.GetKey</a:t>
            </a:r>
            <a:r>
              <a:rPr lang="en-US" dirty="0"/>
              <a:t>(</a:t>
            </a:r>
            <a:r>
              <a:rPr lang="en-US" dirty="0" err="1"/>
              <a:t>KeyCode.RightArrow</a:t>
            </a:r>
            <a:r>
              <a:rPr lang="en-US" dirty="0"/>
              <a:t>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rb.velocity</a:t>
            </a:r>
            <a:r>
              <a:rPr lang="en-US" dirty="0"/>
              <a:t> = new Vector2(</a:t>
            </a:r>
            <a:r>
              <a:rPr lang="en-US" b="1" dirty="0"/>
              <a:t>2*</a:t>
            </a:r>
            <a:r>
              <a:rPr lang="en-US" b="1" dirty="0" err="1"/>
              <a:t>movespeed</a:t>
            </a:r>
            <a:r>
              <a:rPr lang="en-US" dirty="0"/>
              <a:t>, </a:t>
            </a:r>
            <a:r>
              <a:rPr lang="en-US" dirty="0" err="1"/>
              <a:t>rb.velocity.y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if (</a:t>
            </a:r>
            <a:r>
              <a:rPr lang="en-US" dirty="0" err="1"/>
              <a:t>Input.GetKey</a:t>
            </a:r>
            <a:r>
              <a:rPr lang="en-US" dirty="0"/>
              <a:t>(</a:t>
            </a:r>
            <a:r>
              <a:rPr lang="en-US" dirty="0" err="1"/>
              <a:t>KeyCode.LeftArrow</a:t>
            </a:r>
            <a:r>
              <a:rPr lang="en-US" dirty="0"/>
              <a:t>)){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rb.velocity</a:t>
            </a:r>
            <a:r>
              <a:rPr lang="en-US" dirty="0"/>
              <a:t> = new Vector2(</a:t>
            </a:r>
            <a:r>
              <a:rPr lang="en-US" b="1" dirty="0"/>
              <a:t>-</a:t>
            </a:r>
            <a:r>
              <a:rPr lang="en-US" b="1" dirty="0" err="1"/>
              <a:t>movespeed</a:t>
            </a:r>
            <a:r>
              <a:rPr lang="en-US" dirty="0"/>
              <a:t>, </a:t>
            </a:r>
            <a:r>
              <a:rPr lang="en-US" dirty="0" err="1"/>
              <a:t>rb.velocity.y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}//</a:t>
            </a:r>
            <a:r>
              <a:rPr lang="fa-IR" dirty="0">
                <a:cs typeface="B Koodak" panose="00000700000000000000" pitchFamily="2" charset="-78"/>
              </a:rPr>
              <a:t>حالا وقت پریدن است! (اما قبل از آن، بیایید یک بازی ساده بسازیم)</a:t>
            </a: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432510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689" y="2735393"/>
            <a:ext cx="5421363" cy="364899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307354" y="25037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Koodak" panose="00000700000000000000" pitchFamily="2" charset="-78"/>
              </a:rPr>
              <a:t>تمرین</a:t>
            </a:r>
            <a:endParaRPr lang="en-US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98837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Koodak" panose="00000700000000000000" pitchFamily="2" charset="-78"/>
              </a:rPr>
              <a:t>پریدن</a:t>
            </a: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fa-IR" dirty="0"/>
              <a:t>...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void Update () {</a:t>
            </a:r>
          </a:p>
          <a:p>
            <a:pPr marL="0" indent="0">
              <a:buNone/>
            </a:pPr>
            <a:r>
              <a:rPr lang="en-US" b="1" dirty="0"/>
              <a:t>if (</a:t>
            </a:r>
            <a:r>
              <a:rPr lang="en-US" b="1" dirty="0" err="1"/>
              <a:t>Input.GetKey</a:t>
            </a:r>
            <a:r>
              <a:rPr lang="en-US" b="1" dirty="0"/>
              <a:t>(</a:t>
            </a:r>
            <a:r>
              <a:rPr lang="en-US" b="1" dirty="0" err="1"/>
              <a:t>KeyCode.Space</a:t>
            </a:r>
            <a:r>
              <a:rPr lang="en-US" b="1" dirty="0"/>
              <a:t>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rb.velocity</a:t>
            </a:r>
            <a:r>
              <a:rPr lang="en-US" dirty="0"/>
              <a:t> = new Vector2(</a:t>
            </a:r>
            <a:r>
              <a:rPr lang="en-US" b="1" dirty="0" err="1"/>
              <a:t>rb.velocity.x</a:t>
            </a:r>
            <a:r>
              <a:rPr lang="en-US" b="1" dirty="0"/>
              <a:t>, 5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}//</a:t>
            </a:r>
            <a:r>
              <a:rPr lang="fa-IR" dirty="0">
                <a:cs typeface="B Koodak" panose="00000700000000000000" pitchFamily="2" charset="-78"/>
              </a:rPr>
              <a:t>بد نیست، اما بازیکن ما پرواز هم می‌کند! (طبیعی نیست)</a:t>
            </a: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می‌خواهیم فقط زمانی که روی سطح زمین هستیم توان پریدن داشته باشیم. (اما قبل از آن یک تمرین)</a:t>
            </a: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081523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536" y="3215346"/>
            <a:ext cx="6469402" cy="2939728"/>
          </a:xfrm>
          <a:prstGeom prst="rect">
            <a:avLst/>
          </a:prstGeo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1307354" y="25037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Koodak" panose="00000700000000000000" pitchFamily="2" charset="-78"/>
              </a:rPr>
              <a:t>تمرین</a:t>
            </a:r>
            <a:endParaRPr lang="en-US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648779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9974600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Koodak" panose="00000700000000000000" pitchFamily="2" charset="-78"/>
              </a:rPr>
              <a:t>حالا یه پرش درست!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مهم‌ترین چیز، این است که راهی پیدا کنیم که بتوان تشخیص داد بازیکن ما روی سطح زمین است و در هوا نیست</a:t>
            </a:r>
            <a:r>
              <a:rPr lang="en-US" dirty="0">
                <a:cs typeface="B Koodak" panose="00000700000000000000" pitchFamily="2" charset="-78"/>
              </a:rPr>
              <a:t> </a:t>
            </a: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(در واقع کی پاش رو زمینه!)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گام اول: یک </a:t>
            </a:r>
            <a:r>
              <a:rPr lang="en-US" dirty="0">
                <a:cs typeface="B Koodak" panose="00000700000000000000" pitchFamily="2" charset="-78"/>
              </a:rPr>
              <a:t>transform</a:t>
            </a:r>
            <a:r>
              <a:rPr lang="fa-IR" dirty="0">
                <a:cs typeface="B Koodak" panose="00000700000000000000" pitchFamily="2" charset="-78"/>
              </a:rPr>
              <a:t> (نقطه‌ای در فضا شامل مختصات، زاویه و شعاع)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b="1" dirty="0"/>
              <a:t>Transform</a:t>
            </a:r>
            <a:r>
              <a:rPr lang="en-US" dirty="0"/>
              <a:t> </a:t>
            </a:r>
            <a:r>
              <a:rPr lang="en-US" dirty="0" err="1"/>
              <a:t>groundCheck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b="1" dirty="0"/>
              <a:t>float</a:t>
            </a:r>
            <a:r>
              <a:rPr lang="en-US" dirty="0"/>
              <a:t> </a:t>
            </a:r>
            <a:r>
              <a:rPr lang="en-US" dirty="0" err="1"/>
              <a:t>groundChekRadius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b="1" dirty="0" err="1"/>
              <a:t>LayerMask</a:t>
            </a:r>
            <a:r>
              <a:rPr lang="en-US" dirty="0"/>
              <a:t> </a:t>
            </a:r>
            <a:r>
              <a:rPr lang="en-US" dirty="0" err="1"/>
              <a:t>whatIsGround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/>
              <a:t>private</a:t>
            </a:r>
            <a:r>
              <a:rPr lang="en-US" dirty="0"/>
              <a:t> </a:t>
            </a:r>
            <a:r>
              <a:rPr lang="en-US" b="1" dirty="0"/>
              <a:t>bool</a:t>
            </a:r>
            <a:r>
              <a:rPr lang="en-US" dirty="0"/>
              <a:t> </a:t>
            </a:r>
            <a:r>
              <a:rPr lang="en-US" dirty="0" err="1"/>
              <a:t>onGround</a:t>
            </a:r>
            <a:r>
              <a:rPr lang="en-US" dirty="0"/>
              <a:t>;</a:t>
            </a:r>
            <a:endParaRPr lang="fa-IR" dirty="0">
              <a:cs typeface="B Koodak" panose="00000700000000000000" pitchFamily="2" charset="-78"/>
            </a:endParaRPr>
          </a:p>
          <a:p>
            <a:pPr marL="0" indent="0" algn="l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50958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dirty="0">
                <a:cs typeface="B Koodak" panose="00000700000000000000" pitchFamily="2" charset="-78"/>
              </a:rPr>
              <a:t>گام دوم: تابع </a:t>
            </a:r>
            <a:r>
              <a:rPr lang="en-US" b="1" dirty="0" err="1">
                <a:cs typeface="B Koodak" panose="00000700000000000000" pitchFamily="2" charset="-78"/>
              </a:rPr>
              <a:t>FixedUpdate</a:t>
            </a:r>
            <a:r>
              <a:rPr lang="en-US" b="1" dirty="0">
                <a:cs typeface="B Koodak" panose="00000700000000000000" pitchFamily="2" charset="-78"/>
              </a:rPr>
              <a:t>()</a:t>
            </a:r>
          </a:p>
          <a:p>
            <a:pPr marL="0" indent="0" algn="r" rtl="1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b="1" dirty="0"/>
              <a:t>void </a:t>
            </a:r>
            <a:r>
              <a:rPr lang="en-US" b="1" dirty="0" err="1"/>
              <a:t>FixedUpdate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/>
              <a:t>   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sz="1600" dirty="0" err="1"/>
              <a:t>onGround</a:t>
            </a:r>
            <a:r>
              <a:rPr lang="en-US" sz="1600" dirty="0"/>
              <a:t> = </a:t>
            </a:r>
          </a:p>
          <a:p>
            <a:pPr marL="0" indent="0">
              <a:buNone/>
            </a:pPr>
            <a:r>
              <a:rPr lang="en-US" sz="1600" dirty="0"/>
              <a:t>		</a:t>
            </a:r>
            <a:r>
              <a:rPr lang="en-US" sz="1600" b="1" dirty="0"/>
              <a:t>Physics2D.OverlapCircle</a:t>
            </a:r>
            <a:r>
              <a:rPr lang="en-US" sz="1600" dirty="0"/>
              <a:t>(</a:t>
            </a:r>
            <a:r>
              <a:rPr lang="en-US" sz="1600" dirty="0" err="1"/>
              <a:t>groundCheck.position</a:t>
            </a:r>
            <a:r>
              <a:rPr lang="en-US" sz="1600" dirty="0"/>
              <a:t>, </a:t>
            </a:r>
            <a:r>
              <a:rPr lang="en-US" sz="1600" dirty="0" err="1"/>
              <a:t>groundChekRadius</a:t>
            </a:r>
            <a:r>
              <a:rPr lang="en-US" sz="1600" dirty="0"/>
              <a:t>, </a:t>
            </a:r>
            <a:r>
              <a:rPr lang="en-US" sz="1600" dirty="0" err="1"/>
              <a:t>whatIsGround</a:t>
            </a:r>
            <a:r>
              <a:rPr lang="en-US" sz="1600" dirty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}</a:t>
            </a: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تفاوت اصلی </a:t>
            </a:r>
            <a:r>
              <a:rPr lang="en-US" dirty="0">
                <a:cs typeface="B Koodak" panose="00000700000000000000" pitchFamily="2" charset="-78"/>
              </a:rPr>
              <a:t>update</a:t>
            </a:r>
            <a:r>
              <a:rPr lang="fa-IR" dirty="0">
                <a:cs typeface="B Koodak" panose="00000700000000000000" pitchFamily="2" charset="-78"/>
              </a:rPr>
              <a:t> و </a:t>
            </a:r>
            <a:r>
              <a:rPr lang="en-US" dirty="0" err="1">
                <a:cs typeface="B Koodak" panose="00000700000000000000" pitchFamily="2" charset="-78"/>
              </a:rPr>
              <a:t>fixedupdate</a:t>
            </a:r>
            <a:r>
              <a:rPr lang="fa-IR" dirty="0">
                <a:cs typeface="B Koodak" panose="00000700000000000000" pitchFamily="2" charset="-78"/>
              </a:rPr>
              <a:t> در تعداد اجرا در هر فریم است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(</a:t>
            </a:r>
            <a:r>
              <a:rPr lang="en-US" dirty="0">
                <a:cs typeface="B Koodak" panose="00000700000000000000" pitchFamily="2" charset="-78"/>
              </a:rPr>
              <a:t>update</a:t>
            </a:r>
            <a:r>
              <a:rPr lang="fa-IR" dirty="0">
                <a:cs typeface="B Koodak" panose="00000700000000000000" pitchFamily="2" charset="-78"/>
              </a:rPr>
              <a:t> در هر فریم تنها یکبار اجرا می‌شود ولی </a:t>
            </a:r>
            <a:r>
              <a:rPr lang="en-US" dirty="0" err="1">
                <a:cs typeface="B Koodak" panose="00000700000000000000" pitchFamily="2" charset="-78"/>
              </a:rPr>
              <a:t>fixedUpdate</a:t>
            </a:r>
            <a:r>
              <a:rPr lang="fa-IR" dirty="0">
                <a:cs typeface="B Koodak" panose="00000700000000000000" pitchFamily="2" charset="-78"/>
              </a:rPr>
              <a:t> بیشتر)</a:t>
            </a:r>
          </a:p>
          <a:p>
            <a:pPr algn="r" rtl="1"/>
            <a:r>
              <a:rPr lang="en-US" dirty="0" err="1">
                <a:cs typeface="B Koodak" panose="00000700000000000000" pitchFamily="2" charset="-78"/>
              </a:rPr>
              <a:t>Fixedupdate</a:t>
            </a:r>
            <a:r>
              <a:rPr lang="fa-IR" dirty="0">
                <a:cs typeface="B Koodak" panose="00000700000000000000" pitchFamily="2" charset="-78"/>
              </a:rPr>
              <a:t> برای موارد مرتبط با فیزیک اجسام مناسب‌تر است</a:t>
            </a:r>
          </a:p>
        </p:txBody>
      </p:sp>
    </p:spTree>
    <p:extLst>
      <p:ext uri="{BB962C8B-B14F-4D97-AF65-F5344CB8AC3E}">
        <p14:creationId xmlns:p14="http://schemas.microsoft.com/office/powerpoint/2010/main" val="32676380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متغیرهای جدید ما در </a:t>
            </a:r>
            <a:r>
              <a:rPr lang="en-US" dirty="0">
                <a:cs typeface="B Koodak" panose="00000700000000000000" pitchFamily="2" charset="-78"/>
              </a:rPr>
              <a:t>inspector</a:t>
            </a:r>
            <a:r>
              <a:rPr lang="fa-IR" dirty="0">
                <a:cs typeface="B Koodak" panose="00000700000000000000" pitchFamily="2" charset="-78"/>
              </a:rPr>
              <a:t> هستند</a:t>
            </a:r>
          </a:p>
          <a:p>
            <a:pPr algn="r" rtl="1"/>
            <a:endParaRPr lang="fa-IR" dirty="0">
              <a:cs typeface="B Koodak" panose="00000700000000000000" pitchFamily="2" charset="-78"/>
            </a:endParaRPr>
          </a:p>
          <a:p>
            <a:pPr algn="r" rtl="1"/>
            <a:endParaRPr lang="fa-IR" dirty="0">
              <a:cs typeface="B Koodak" panose="00000700000000000000" pitchFamily="2" charset="-78"/>
            </a:endParaRPr>
          </a:p>
          <a:p>
            <a:pPr algn="r" rtl="1"/>
            <a:endParaRPr lang="fa-IR" dirty="0">
              <a:cs typeface="B Koodak" panose="00000700000000000000" pitchFamily="2" charset="-78"/>
            </a:endParaRP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گام سوم: یک </a:t>
            </a:r>
            <a:r>
              <a:rPr lang="en-US" dirty="0" err="1">
                <a:cs typeface="B Koodak" panose="00000700000000000000" pitchFamily="2" charset="-78"/>
              </a:rPr>
              <a:t>GameObject</a:t>
            </a:r>
            <a:r>
              <a:rPr lang="fa-IR" dirty="0">
                <a:cs typeface="B Koodak" panose="00000700000000000000" pitchFamily="2" charset="-78"/>
              </a:rPr>
              <a:t> خالی به شی خود متصل می‌کنیم، چرا؟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برای بررسی قرار گرفتن شی اصلی بر روی سطح زمین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en-US" dirty="0" err="1">
                <a:cs typeface="B Koodak" panose="00000700000000000000" pitchFamily="2" charset="-78"/>
              </a:rPr>
              <a:t>GameObject</a:t>
            </a:r>
            <a:r>
              <a:rPr lang="fa-IR" dirty="0">
                <a:cs typeface="B Koodak" panose="00000700000000000000" pitchFamily="2" charset="-78"/>
              </a:rPr>
              <a:t> خالی باید به شی مرجع متصل باشد </a:t>
            </a:r>
            <a:endParaRPr lang="en-US" dirty="0">
              <a:solidFill>
                <a:srgbClr val="FF0000"/>
              </a:solidFill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en-US" dirty="0" err="1">
                <a:cs typeface="B Koodak" panose="00000700000000000000" pitchFamily="2" charset="-78"/>
              </a:rPr>
              <a:t>GameObject</a:t>
            </a:r>
            <a:r>
              <a:rPr lang="fa-IR" dirty="0">
                <a:cs typeface="B Koodak" panose="00000700000000000000" pitchFamily="2" charset="-78"/>
              </a:rPr>
              <a:t> خالی را به متغیر </a:t>
            </a:r>
            <a:r>
              <a:rPr lang="en-US" dirty="0">
                <a:cs typeface="B Koodak" panose="00000700000000000000" pitchFamily="2" charset="-78"/>
              </a:rPr>
              <a:t>transform</a:t>
            </a:r>
            <a:r>
              <a:rPr lang="fa-IR" dirty="0">
                <a:cs typeface="B Koodak" panose="00000700000000000000" pitchFamily="2" charset="-78"/>
              </a:rPr>
              <a:t> شی مرجع می‌کشیم</a:t>
            </a:r>
            <a:r>
              <a:rPr lang="en-US" dirty="0">
                <a:cs typeface="B Koodak" panose="00000700000000000000" pitchFamily="2" charset="-78"/>
              </a:rPr>
              <a:t>!</a:t>
            </a:r>
            <a:endParaRPr lang="fa-IR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dirty="0">
              <a:cs typeface="B Koodak" panose="00000700000000000000" pitchFamily="2" charset="-78"/>
            </a:endParaRPr>
          </a:p>
          <a:p>
            <a:pPr algn="r" rtl="1"/>
            <a:endParaRPr lang="en-US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315" y="2351313"/>
            <a:ext cx="3505689" cy="14098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41" r="82857" b="49442"/>
          <a:stretch/>
        </p:blipFill>
        <p:spPr>
          <a:xfrm>
            <a:off x="2475166" y="4118924"/>
            <a:ext cx="1724297" cy="23251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527" y="5976016"/>
            <a:ext cx="3505689" cy="3334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527" y="5090993"/>
            <a:ext cx="2086266" cy="38105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2357846" y="3993680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316783" y="4954749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316783" y="5850772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3212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314235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b="1" dirty="0">
                <a:cs typeface="B Koodak" panose="00000700000000000000" pitchFamily="2" charset="-78"/>
              </a:rPr>
              <a:t>گام چهارم: باید تعیین کنیم که زمین کجاست (لایه زمین در کل بازی قابل تنظیم باشد)</a:t>
            </a:r>
          </a:p>
          <a:p>
            <a:pPr marL="0" indent="0" algn="r" rtl="1">
              <a:buNone/>
            </a:pPr>
            <a:r>
              <a:rPr lang="fa-IR" b="1" dirty="0">
                <a:cs typeface="B Koodak" panose="00000700000000000000" pitchFamily="2" charset="-78"/>
              </a:rPr>
              <a:t>یک لایه جدید تعریف، </a:t>
            </a:r>
          </a:p>
          <a:p>
            <a:pPr marL="0" indent="0" algn="r" rtl="1">
              <a:buNone/>
            </a:pPr>
            <a:r>
              <a:rPr lang="fa-IR" b="1" dirty="0">
                <a:cs typeface="B Koodak" panose="00000700000000000000" pitchFamily="2" charset="-78"/>
              </a:rPr>
              <a:t>اجزاء سطحی که می‌خواهیم نقش زمین را داشته باشند، از صحنه بازی انتخاب می‌کنیم،</a:t>
            </a:r>
            <a:r>
              <a:rPr lang="en-US" b="1" dirty="0">
                <a:cs typeface="B Koodak" panose="00000700000000000000" pitchFamily="2" charset="-78"/>
              </a:rPr>
              <a:t> </a:t>
            </a:r>
            <a:r>
              <a:rPr lang="fa-IR" b="1" dirty="0">
                <a:cs typeface="B Koodak" panose="00000700000000000000" pitchFamily="2" charset="-78"/>
              </a:rPr>
              <a:t>و لایه زمین را به آن‌ها نسبت می‌دهیم </a:t>
            </a:r>
            <a:endParaRPr lang="fa-IR" b="1" dirty="0">
              <a:solidFill>
                <a:srgbClr val="FF0000"/>
              </a:solidFill>
              <a:cs typeface="B Koodak" panose="00000700000000000000" pitchFamily="2" charset="-78"/>
              <a:sym typeface="Wingdings" panose="05000000000000000000" pitchFamily="2" charset="2"/>
            </a:endParaRPr>
          </a:p>
          <a:p>
            <a:pPr marL="0" indent="0" algn="r" rtl="1">
              <a:buNone/>
            </a:pPr>
            <a:endParaRPr lang="en-US" b="1" dirty="0">
              <a:cs typeface="B Koodak" panose="00000700000000000000" pitchFamily="2" charset="-78"/>
              <a:sym typeface="Wingdings" panose="05000000000000000000" pitchFamily="2" charset="2"/>
            </a:endParaRPr>
          </a:p>
          <a:p>
            <a:pPr marL="0" indent="0" algn="r" rtl="1">
              <a:buNone/>
            </a:pPr>
            <a:endParaRPr lang="en-US" b="1" dirty="0">
              <a:cs typeface="B Koodak" panose="00000700000000000000" pitchFamily="2" charset="-78"/>
              <a:sym typeface="Wingdings" panose="05000000000000000000" pitchFamily="2" charset="2"/>
            </a:endParaRPr>
          </a:p>
          <a:p>
            <a:pPr marL="0" indent="0" algn="r" rtl="1">
              <a:buNone/>
            </a:pPr>
            <a:endParaRPr lang="en-US" b="1" dirty="0">
              <a:cs typeface="B Koodak" panose="00000700000000000000" pitchFamily="2" charset="-78"/>
              <a:sym typeface="Wingdings" panose="05000000000000000000" pitchFamily="2" charset="2"/>
            </a:endParaRPr>
          </a:p>
          <a:p>
            <a:pPr marL="0" indent="0" algn="r" rtl="1">
              <a:buNone/>
            </a:pPr>
            <a:endParaRPr lang="en-US" b="1" dirty="0">
              <a:cs typeface="B Koodak" panose="00000700000000000000" pitchFamily="2" charset="-78"/>
              <a:sym typeface="Wingdings" panose="05000000000000000000" pitchFamily="2" charset="2"/>
            </a:endParaRPr>
          </a:p>
          <a:p>
            <a:pPr marL="0" indent="0" algn="r" rtl="1">
              <a:buNone/>
            </a:pPr>
            <a:endParaRPr lang="en-US" b="1" dirty="0">
              <a:cs typeface="B Koodak" panose="00000700000000000000" pitchFamily="2" charset="-78"/>
              <a:sym typeface="Wingdings" panose="05000000000000000000" pitchFamily="2" charset="2"/>
            </a:endParaRPr>
          </a:p>
          <a:p>
            <a:pPr marL="0" indent="0" algn="r" rtl="1">
              <a:buNone/>
            </a:pPr>
            <a:r>
              <a:rPr lang="fa-IR" b="1" dirty="0">
                <a:cs typeface="B Koodak" panose="00000700000000000000" pitchFamily="2" charset="-78"/>
                <a:sym typeface="Wingdings" panose="05000000000000000000" pitchFamily="2" charset="2"/>
              </a:rPr>
              <a:t>در نهایت، لایه زمین را به شی مرجع معرفی می‌کنیم (متغیر </a:t>
            </a:r>
            <a:r>
              <a:rPr lang="en-US" b="1" dirty="0" err="1">
                <a:cs typeface="B Koodak" panose="00000700000000000000" pitchFamily="2" charset="-78"/>
                <a:sym typeface="Wingdings" panose="05000000000000000000" pitchFamily="2" charset="2"/>
              </a:rPr>
              <a:t>WhatIsGround</a:t>
            </a:r>
            <a:r>
              <a:rPr lang="fa-IR" b="1" dirty="0">
                <a:cs typeface="B Koodak" panose="00000700000000000000" pitchFamily="2" charset="-78"/>
                <a:sym typeface="Wingdings" panose="05000000000000000000" pitchFamily="2" charset="2"/>
              </a:rPr>
              <a:t>) </a:t>
            </a:r>
            <a:r>
              <a:rPr lang="en-US" b="1" dirty="0">
                <a:solidFill>
                  <a:srgbClr val="FF0000"/>
                </a:solidFill>
                <a:cs typeface="B Koodak" panose="00000700000000000000" pitchFamily="2" charset="-78"/>
                <a:sym typeface="Wingdings" panose="05000000000000000000" pitchFamily="2" charset="2"/>
              </a:rPr>
              <a:t></a:t>
            </a:r>
            <a:endParaRPr lang="fa-IR" b="1" dirty="0">
              <a:solidFill>
                <a:srgbClr val="FF0000"/>
              </a:solidFill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b="1" dirty="0"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429" t="9441" b="62609"/>
          <a:stretch/>
        </p:blipFill>
        <p:spPr>
          <a:xfrm>
            <a:off x="1578003" y="3605582"/>
            <a:ext cx="3125041" cy="17187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035" y="3605583"/>
            <a:ext cx="3209544" cy="17187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99" t="9673" b="59606"/>
          <a:stretch/>
        </p:blipFill>
        <p:spPr>
          <a:xfrm>
            <a:off x="8138716" y="3605582"/>
            <a:ext cx="2856006" cy="1718773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452759" y="3480338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740227" y="3511965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754" y="6150183"/>
            <a:ext cx="3458058" cy="35247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36" t="61765" b="21142"/>
          <a:stretch/>
        </p:blipFill>
        <p:spPr>
          <a:xfrm>
            <a:off x="1703247" y="5544235"/>
            <a:ext cx="2893200" cy="96665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8138568" y="3475187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682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b="1" dirty="0">
                <a:cs typeface="B Koodak" panose="00000700000000000000" pitchFamily="2" charset="-78"/>
              </a:rPr>
              <a:t>گام پنجم: ضربه آخر! (کد نهایی)</a:t>
            </a:r>
          </a:p>
          <a:p>
            <a:pPr marL="0" indent="0">
              <a:buNone/>
            </a:pPr>
            <a:r>
              <a:rPr lang="en-US" sz="1600" dirty="0">
                <a:cs typeface="B Koodak" panose="00000700000000000000" pitchFamily="2" charset="-78"/>
              </a:rPr>
              <a:t>public Transform </a:t>
            </a:r>
            <a:r>
              <a:rPr lang="en-US" sz="1600" dirty="0" err="1">
                <a:cs typeface="B Koodak" panose="00000700000000000000" pitchFamily="2" charset="-78"/>
              </a:rPr>
              <a:t>groundCheck</a:t>
            </a:r>
            <a:r>
              <a:rPr lang="en-US" sz="1600" dirty="0">
                <a:cs typeface="B Koodak" panose="00000700000000000000" pitchFamily="2" charset="-78"/>
              </a:rPr>
              <a:t>;    public float </a:t>
            </a:r>
            <a:r>
              <a:rPr lang="en-US" sz="1600" dirty="0" err="1">
                <a:cs typeface="B Koodak" panose="00000700000000000000" pitchFamily="2" charset="-78"/>
              </a:rPr>
              <a:t>groundChekRadius</a:t>
            </a:r>
            <a:r>
              <a:rPr lang="en-US" sz="1600" dirty="0">
                <a:cs typeface="B Koodak" panose="00000700000000000000" pitchFamily="2" charset="-78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cs typeface="B Koodak" panose="00000700000000000000" pitchFamily="2" charset="-78"/>
              </a:rPr>
              <a:t>public </a:t>
            </a:r>
            <a:r>
              <a:rPr lang="en-US" sz="1600" dirty="0" err="1">
                <a:cs typeface="B Koodak" panose="00000700000000000000" pitchFamily="2" charset="-78"/>
              </a:rPr>
              <a:t>LayerMask</a:t>
            </a:r>
            <a:r>
              <a:rPr lang="en-US" sz="1600" dirty="0">
                <a:cs typeface="B Koodak" panose="00000700000000000000" pitchFamily="2" charset="-78"/>
              </a:rPr>
              <a:t> </a:t>
            </a:r>
            <a:r>
              <a:rPr lang="en-US" sz="1600" dirty="0" err="1">
                <a:cs typeface="B Koodak" panose="00000700000000000000" pitchFamily="2" charset="-78"/>
              </a:rPr>
              <a:t>whatIsGround</a:t>
            </a:r>
            <a:r>
              <a:rPr lang="en-US" sz="1600" dirty="0">
                <a:cs typeface="B Koodak" panose="00000700000000000000" pitchFamily="2" charset="-78"/>
              </a:rPr>
              <a:t>;  private bool </a:t>
            </a:r>
            <a:r>
              <a:rPr lang="en-US" sz="1600" dirty="0" err="1">
                <a:cs typeface="B Koodak" panose="00000700000000000000" pitchFamily="2" charset="-78"/>
              </a:rPr>
              <a:t>onGround</a:t>
            </a:r>
            <a:r>
              <a:rPr lang="en-US" sz="1600" dirty="0">
                <a:cs typeface="B Koodak" panose="00000700000000000000" pitchFamily="2" charset="-78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cs typeface="B Koodak" panose="00000700000000000000" pitchFamily="2" charset="-78"/>
              </a:rPr>
              <a:t>void Start () {…}</a:t>
            </a:r>
          </a:p>
          <a:p>
            <a:pPr marL="0" indent="0">
              <a:buNone/>
            </a:pPr>
            <a:r>
              <a:rPr lang="en-US" sz="1600" dirty="0">
                <a:cs typeface="B Koodak" panose="00000700000000000000" pitchFamily="2" charset="-78"/>
              </a:rPr>
              <a:t>void Update () {</a:t>
            </a:r>
          </a:p>
          <a:p>
            <a:pPr marL="0" indent="0">
              <a:buNone/>
            </a:pPr>
            <a:r>
              <a:rPr lang="en-US" sz="1600" dirty="0">
                <a:cs typeface="B Koodak" panose="00000700000000000000" pitchFamily="2" charset="-78"/>
              </a:rPr>
              <a:t>if (</a:t>
            </a:r>
            <a:r>
              <a:rPr lang="en-US" sz="1600" dirty="0" err="1">
                <a:cs typeface="B Koodak" panose="00000700000000000000" pitchFamily="2" charset="-78"/>
              </a:rPr>
              <a:t>Input.GetKey</a:t>
            </a:r>
            <a:r>
              <a:rPr lang="en-US" sz="1600" dirty="0">
                <a:cs typeface="B Koodak" panose="00000700000000000000" pitchFamily="2" charset="-78"/>
              </a:rPr>
              <a:t>(</a:t>
            </a:r>
            <a:r>
              <a:rPr lang="en-US" sz="1600" dirty="0" err="1">
                <a:cs typeface="B Koodak" panose="00000700000000000000" pitchFamily="2" charset="-78"/>
              </a:rPr>
              <a:t>KeyCode.Space</a:t>
            </a:r>
            <a:r>
              <a:rPr lang="en-US" sz="1600" dirty="0">
                <a:cs typeface="B Koodak" panose="00000700000000000000" pitchFamily="2" charset="-78"/>
              </a:rPr>
              <a:t>) </a:t>
            </a:r>
            <a:r>
              <a:rPr lang="en-US" sz="1600" b="1" dirty="0">
                <a:cs typeface="B Koodak" panose="00000700000000000000" pitchFamily="2" charset="-78"/>
              </a:rPr>
              <a:t>&amp;&amp; </a:t>
            </a:r>
            <a:r>
              <a:rPr lang="en-US" sz="1600" b="1" dirty="0" err="1">
                <a:cs typeface="B Koodak" panose="00000700000000000000" pitchFamily="2" charset="-78"/>
              </a:rPr>
              <a:t>onGround</a:t>
            </a:r>
            <a:r>
              <a:rPr lang="en-US" sz="1600" dirty="0">
                <a:cs typeface="B Koodak" panose="00000700000000000000" pitchFamily="2" charset="-78"/>
              </a:rPr>
              <a:t>) {</a:t>
            </a:r>
          </a:p>
          <a:p>
            <a:pPr marL="0" indent="0">
              <a:buNone/>
            </a:pPr>
            <a:r>
              <a:rPr lang="en-US" sz="1600" dirty="0">
                <a:cs typeface="B Koodak" panose="00000700000000000000" pitchFamily="2" charset="-78"/>
              </a:rPr>
              <a:t>            </a:t>
            </a:r>
            <a:r>
              <a:rPr lang="en-US" sz="1600" dirty="0" err="1">
                <a:cs typeface="B Koodak" panose="00000700000000000000" pitchFamily="2" charset="-78"/>
              </a:rPr>
              <a:t>rb.velocity</a:t>
            </a:r>
            <a:r>
              <a:rPr lang="en-US" sz="1600" dirty="0">
                <a:cs typeface="B Koodak" panose="00000700000000000000" pitchFamily="2" charset="-78"/>
              </a:rPr>
              <a:t> = new Vector2(</a:t>
            </a:r>
            <a:r>
              <a:rPr lang="en-US" sz="1600" dirty="0" err="1">
                <a:cs typeface="B Koodak" panose="00000700000000000000" pitchFamily="2" charset="-78"/>
              </a:rPr>
              <a:t>rb.velocity.x</a:t>
            </a:r>
            <a:r>
              <a:rPr lang="en-US" sz="1600" dirty="0">
                <a:cs typeface="B Koodak" panose="00000700000000000000" pitchFamily="2" charset="-78"/>
              </a:rPr>
              <a:t>, 5);</a:t>
            </a:r>
            <a:endParaRPr lang="fa-IR" sz="1600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sz="1600" dirty="0">
                <a:cs typeface="B Koodak" panose="00000700000000000000" pitchFamily="2" charset="-78"/>
              </a:rPr>
              <a:t>}  }</a:t>
            </a:r>
          </a:p>
          <a:p>
            <a:pPr marL="0" indent="0">
              <a:buNone/>
            </a:pPr>
            <a:r>
              <a:rPr lang="en-US" sz="1600" dirty="0">
                <a:cs typeface="B Koodak" panose="00000700000000000000" pitchFamily="2" charset="-78"/>
              </a:rPr>
              <a:t>void </a:t>
            </a:r>
            <a:r>
              <a:rPr lang="en-US" sz="1600" dirty="0" err="1">
                <a:cs typeface="B Koodak" panose="00000700000000000000" pitchFamily="2" charset="-78"/>
              </a:rPr>
              <a:t>FixedUpdate</a:t>
            </a:r>
            <a:r>
              <a:rPr lang="en-US" sz="1600" dirty="0">
                <a:cs typeface="B Koodak" panose="00000700000000000000" pitchFamily="2" charset="-78"/>
              </a:rPr>
              <a:t>()    {</a:t>
            </a:r>
          </a:p>
          <a:p>
            <a:pPr marL="0" indent="0">
              <a:buNone/>
            </a:pPr>
            <a:r>
              <a:rPr lang="en-US" sz="1600" dirty="0">
                <a:cs typeface="B Koodak" panose="00000700000000000000" pitchFamily="2" charset="-78"/>
              </a:rPr>
              <a:t>     </a:t>
            </a:r>
            <a:r>
              <a:rPr lang="en-US" sz="1600" dirty="0" err="1">
                <a:cs typeface="B Koodak" panose="00000700000000000000" pitchFamily="2" charset="-78"/>
              </a:rPr>
              <a:t>onGround</a:t>
            </a:r>
            <a:r>
              <a:rPr lang="en-US" sz="1600" dirty="0">
                <a:cs typeface="B Koodak" panose="00000700000000000000" pitchFamily="2" charset="-78"/>
              </a:rPr>
              <a:t> = Physics2D.OverlapCircle(</a:t>
            </a:r>
            <a:r>
              <a:rPr lang="en-US" sz="1600" dirty="0" err="1">
                <a:cs typeface="B Koodak" panose="00000700000000000000" pitchFamily="2" charset="-78"/>
              </a:rPr>
              <a:t>groundCheck.position</a:t>
            </a:r>
            <a:r>
              <a:rPr lang="en-US" sz="1600" dirty="0">
                <a:cs typeface="B Koodak" panose="00000700000000000000" pitchFamily="2" charset="-78"/>
              </a:rPr>
              <a:t>, </a:t>
            </a:r>
            <a:r>
              <a:rPr lang="en-US" sz="1600" dirty="0" err="1">
                <a:cs typeface="B Koodak" panose="00000700000000000000" pitchFamily="2" charset="-78"/>
              </a:rPr>
              <a:t>groundChekRadius</a:t>
            </a:r>
            <a:r>
              <a:rPr lang="en-US" sz="1600" dirty="0">
                <a:cs typeface="B Koodak" panose="00000700000000000000" pitchFamily="2" charset="-78"/>
              </a:rPr>
              <a:t>, </a:t>
            </a:r>
            <a:r>
              <a:rPr lang="en-US" sz="1600" dirty="0" err="1">
                <a:cs typeface="B Koodak" panose="00000700000000000000" pitchFamily="2" charset="-78"/>
              </a:rPr>
              <a:t>whatIsGround</a:t>
            </a:r>
            <a:r>
              <a:rPr lang="en-US" sz="1600" dirty="0">
                <a:cs typeface="B Koodak" panose="00000700000000000000" pitchFamily="2" charset="-78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cs typeface="B Koodak" panose="00000700000000000000" pitchFamily="2" charset="-78"/>
              </a:rPr>
              <a:t>    }</a:t>
            </a:r>
            <a:r>
              <a:rPr lang="fa-IR" sz="1600" dirty="0">
                <a:cs typeface="B Koodak" panose="00000700000000000000" pitchFamily="2" charset="-78"/>
              </a:rPr>
              <a:t>امّا شی ما در برخورد با لبه سطوح دیگر می‌چرخد و پرش غیر فعال می‌شود(در واقع چپ می‌کند!)</a:t>
            </a:r>
            <a:endParaRPr lang="en-US" sz="1600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507653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b="1" dirty="0">
                <a:cs typeface="B Koodak" panose="00000700000000000000" pitchFamily="2" charset="-78"/>
              </a:rPr>
              <a:t>جلوگیری از چپ کردن!</a:t>
            </a:r>
          </a:p>
          <a:p>
            <a:pPr marL="0" indent="0" algn="r" rtl="1">
              <a:buNone/>
            </a:pPr>
            <a:r>
              <a:rPr lang="fa-IR" b="1" dirty="0">
                <a:cs typeface="B Koodak" panose="00000700000000000000" pitchFamily="2" charset="-78"/>
              </a:rPr>
              <a:t>از کامپوننت </a:t>
            </a:r>
            <a:r>
              <a:rPr lang="en-US" b="1" dirty="0">
                <a:cs typeface="B Koodak" panose="00000700000000000000" pitchFamily="2" charset="-78"/>
              </a:rPr>
              <a:t>RigidBody2D</a:t>
            </a:r>
            <a:r>
              <a:rPr lang="fa-IR" b="1" dirty="0">
                <a:cs typeface="B Koodak" panose="00000700000000000000" pitchFamily="2" charset="-78"/>
              </a:rPr>
              <a:t> متصل به شی پرش کننده، گزینه </a:t>
            </a:r>
            <a:r>
              <a:rPr lang="en-US" b="1" dirty="0">
                <a:cs typeface="B Koodak" panose="00000700000000000000" pitchFamily="2" charset="-78"/>
              </a:rPr>
              <a:t>Freeze Rotation Z</a:t>
            </a:r>
            <a:r>
              <a:rPr lang="fa-IR" b="1" dirty="0">
                <a:cs typeface="B Koodak" panose="00000700000000000000" pitchFamily="2" charset="-78"/>
              </a:rPr>
              <a:t> را فعال کنید</a:t>
            </a:r>
          </a:p>
          <a:p>
            <a:pPr marL="0" indent="0" algn="r" rtl="1">
              <a:buNone/>
            </a:pPr>
            <a:endParaRPr lang="fa-IR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b="1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661" y="3364721"/>
            <a:ext cx="3572374" cy="27150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32811" y="5695406"/>
            <a:ext cx="1463040" cy="22206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132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تمرین 1: بر اساس قوانینی که آموختید یک مرز نامرئی برای محدوه حرکت یک جسم </a:t>
            </a:r>
            <a:r>
              <a:rPr lang="en-US" sz="1900" b="1" dirty="0">
                <a:cs typeface="B Koodak" panose="00000700000000000000" pitchFamily="2" charset="-78"/>
              </a:rPr>
              <a:t>kinematic</a:t>
            </a:r>
            <a:r>
              <a:rPr lang="fa-IR" sz="1900" b="1" dirty="0">
                <a:cs typeface="B Koodak" panose="00000700000000000000" pitchFamily="2" charset="-78"/>
              </a:rPr>
              <a:t> تعریف کنید</a:t>
            </a:r>
          </a:p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تمرین 2: مهره‌ها در هوا نگه دارید (یک فنر متحرک بسازید)</a:t>
            </a: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endParaRPr lang="en-US" sz="1900" b="1" dirty="0">
              <a:cs typeface="B Koodak" panose="00000700000000000000" pitchFamily="2" charset="-78"/>
            </a:endParaRP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تمرین 3: برخورد یک توپ با زمین و پرش مجدد، تا سکون جسم را شبیه‌سازی کنید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205" y="3370219"/>
            <a:ext cx="5148625" cy="231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952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سکه ها!</a:t>
            </a:r>
            <a:r>
              <a:rPr lang="en-US" sz="1900" b="1" dirty="0">
                <a:cs typeface="B Koodak" panose="00000700000000000000" pitchFamily="2" charset="-78"/>
              </a:rPr>
              <a:t> </a:t>
            </a:r>
            <a:r>
              <a:rPr lang="fa-IR" sz="1900" b="1" dirty="0">
                <a:cs typeface="B Koodak" panose="00000700000000000000" pitchFamily="2" charset="-78"/>
              </a:rPr>
              <a:t>(کد برای سکه‌های موجود در صحنه بازی)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b="1" dirty="0"/>
              <a:t>Coin</a:t>
            </a:r>
            <a:r>
              <a:rPr lang="en-US" dirty="0"/>
              <a:t> : </a:t>
            </a:r>
            <a:r>
              <a:rPr lang="en-US" dirty="0" err="1"/>
              <a:t>MonoBehaviour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void Start(){}</a:t>
            </a:r>
          </a:p>
          <a:p>
            <a:pPr marL="0" indent="0">
              <a:buNone/>
            </a:pPr>
            <a:r>
              <a:rPr lang="en-US" dirty="0"/>
              <a:t>void Update () {}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private void OnTriggerEnter2D(Collider2D other)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/>
              <a:t>if (</a:t>
            </a:r>
            <a:r>
              <a:rPr lang="en-US" b="1" dirty="0" err="1"/>
              <a:t>other.tag</a:t>
            </a:r>
            <a:r>
              <a:rPr lang="en-US" b="1" dirty="0"/>
              <a:t> == "Player"){</a:t>
            </a:r>
          </a:p>
          <a:p>
            <a:pPr marL="0" indent="0">
              <a:buNone/>
            </a:pPr>
            <a:r>
              <a:rPr lang="en-US" b="1" dirty="0"/>
              <a:t>            Destroy(</a:t>
            </a:r>
            <a:r>
              <a:rPr lang="en-US" b="1" dirty="0" err="1"/>
              <a:t>gameObject</a:t>
            </a:r>
            <a:r>
              <a:rPr lang="en-US" b="1" dirty="0"/>
              <a:t>);</a:t>
            </a:r>
          </a:p>
          <a:p>
            <a:pPr marL="0" indent="0">
              <a:buNone/>
            </a:pPr>
            <a:r>
              <a:rPr lang="en-US" b="1" dirty="0"/>
              <a:t>        }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fa-IR" sz="1900" b="1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586111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سکه ها!</a:t>
            </a:r>
            <a:r>
              <a:rPr lang="en-US" sz="1900" b="1" dirty="0">
                <a:cs typeface="B Koodak" panose="00000700000000000000" pitchFamily="2" charset="-78"/>
              </a:rPr>
              <a:t> </a:t>
            </a:r>
            <a:r>
              <a:rPr lang="fa-IR" sz="1900" b="1" dirty="0">
                <a:cs typeface="B Koodak" panose="00000700000000000000" pitchFamily="2" charset="-78"/>
              </a:rPr>
              <a:t>(تنظیمات)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تگ </a:t>
            </a:r>
            <a:r>
              <a:rPr lang="en-US" sz="1900" b="1" dirty="0">
                <a:cs typeface="B Koodak" panose="00000700000000000000" pitchFamily="2" charset="-78"/>
              </a:rPr>
              <a:t>Player</a:t>
            </a:r>
            <a:r>
              <a:rPr lang="fa-IR" sz="1900" b="1" dirty="0">
                <a:cs typeface="B Koodak" panose="00000700000000000000" pitchFamily="2" charset="-78"/>
              </a:rPr>
              <a:t> متعلق به کیست؟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بازیکن اصلی بازی شما (</a:t>
            </a:r>
            <a:r>
              <a:rPr lang="en-US" sz="1900" b="1" dirty="0">
                <a:cs typeface="B Koodak" panose="00000700000000000000" pitchFamily="2" charset="-78"/>
              </a:rPr>
              <a:t>Tag</a:t>
            </a:r>
            <a:r>
              <a:rPr lang="fa-IR" sz="1900" b="1" dirty="0">
                <a:cs typeface="B Koodak" panose="00000700000000000000" pitchFamily="2" charset="-78"/>
              </a:rPr>
              <a:t>)	         </a:t>
            </a:r>
            <a:r>
              <a:rPr lang="en-US" sz="1900" b="1" dirty="0">
                <a:cs typeface="B Koodak" panose="00000700000000000000" pitchFamily="2" charset="-78"/>
              </a:rPr>
              <a:t>	</a:t>
            </a:r>
            <a:r>
              <a:rPr lang="fa-IR" sz="1900" b="1" dirty="0">
                <a:cs typeface="B Koodak" panose="00000700000000000000" pitchFamily="2" charset="-78"/>
              </a:rPr>
              <a:t>برای سکه ها (</a:t>
            </a:r>
            <a:r>
              <a:rPr lang="en-US" sz="1900" b="1" dirty="0">
                <a:cs typeface="B Koodak" panose="00000700000000000000" pitchFamily="2" charset="-78"/>
              </a:rPr>
              <a:t>Polygon Collider 2D</a:t>
            </a:r>
            <a:r>
              <a:rPr lang="fa-IR" sz="1900" b="1" dirty="0">
                <a:cs typeface="B Koodak" panose="00000700000000000000" pitchFamily="2" charset="-78"/>
              </a:rPr>
              <a:t>)</a:t>
            </a: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در آینده جمع امتیاز این سکه ها را خواهیم گفت.</a:t>
            </a: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75" t="8979" b="57296"/>
          <a:stretch/>
        </p:blipFill>
        <p:spPr>
          <a:xfrm>
            <a:off x="7260898" y="3539331"/>
            <a:ext cx="2653811" cy="19869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778" y="3539331"/>
            <a:ext cx="3867696" cy="19855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90502" y="4180114"/>
            <a:ext cx="1663087" cy="2351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084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مرگ یا خطر!</a:t>
            </a:r>
            <a:r>
              <a:rPr lang="en-US" sz="1900" b="1" dirty="0">
                <a:cs typeface="B Koodak" panose="00000700000000000000" pitchFamily="2" charset="-78"/>
              </a:rPr>
              <a:t> </a:t>
            </a:r>
            <a:r>
              <a:rPr lang="fa-IR" sz="1900" b="1" dirty="0">
                <a:cs typeface="B Koodak" panose="00000700000000000000" pitchFamily="2" charset="-78"/>
              </a:rPr>
              <a:t>(کد برای خطرات موجود در صحنه بازی)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b="1" dirty="0"/>
              <a:t>Dead</a:t>
            </a:r>
            <a:r>
              <a:rPr lang="en-US" dirty="0"/>
              <a:t> : </a:t>
            </a:r>
            <a:r>
              <a:rPr lang="en-US" dirty="0" err="1"/>
              <a:t>MonoBehaviour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private Player </a:t>
            </a:r>
            <a:r>
              <a:rPr lang="en-US" b="1" dirty="0" err="1">
                <a:cs typeface="B Koodak" panose="00000700000000000000" pitchFamily="2" charset="-78"/>
              </a:rPr>
              <a:t>player</a:t>
            </a:r>
            <a:r>
              <a:rPr lang="en-US" b="1" dirty="0">
                <a:cs typeface="B Koodak" panose="00000700000000000000" pitchFamily="2" charset="-78"/>
              </a:rPr>
              <a:t>; //</a:t>
            </a:r>
            <a:r>
              <a:rPr lang="fa-IR" b="1" dirty="0">
                <a:cs typeface="B Koodak" panose="00000700000000000000" pitchFamily="2" charset="-78"/>
              </a:rPr>
              <a:t> نام اسکریپت بازیکن شماست</a:t>
            </a:r>
            <a:r>
              <a:rPr lang="en-US" b="1" dirty="0">
                <a:cs typeface="B Koodak" panose="00000700000000000000" pitchFamily="2" charset="-78"/>
              </a:rPr>
              <a:t>Player</a:t>
            </a:r>
            <a:r>
              <a:rPr lang="fa-IR" b="1" dirty="0">
                <a:cs typeface="B Koodak" panose="00000700000000000000" pitchFamily="2" charset="-78"/>
              </a:rPr>
              <a:t> </a:t>
            </a: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/>
              <a:t>void Start(){</a:t>
            </a:r>
          </a:p>
          <a:p>
            <a:pPr marL="0" indent="0">
              <a:buNone/>
            </a:pPr>
            <a:r>
              <a:rPr lang="en-US" b="1" dirty="0"/>
              <a:t>player = </a:t>
            </a:r>
            <a:r>
              <a:rPr lang="en-US" b="1" dirty="0" err="1"/>
              <a:t>FindObjectOfType</a:t>
            </a:r>
            <a:r>
              <a:rPr lang="en-US" b="1" dirty="0"/>
              <a:t>&lt;Player&gt; ();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void Update(){}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private void OnTriggerEnter2D(Collider2D other) {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other.tag</a:t>
            </a:r>
            <a:r>
              <a:rPr lang="en-US" dirty="0"/>
              <a:t> == "Player"){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dirty="0" err="1"/>
              <a:t>player.transform.position</a:t>
            </a:r>
            <a:r>
              <a:rPr lang="en-US" b="1" dirty="0"/>
              <a:t> = new Vector2(-6, 8);</a:t>
            </a:r>
          </a:p>
          <a:p>
            <a:pPr marL="0" indent="0">
              <a:buNone/>
            </a:pPr>
            <a:r>
              <a:rPr lang="en-US" dirty="0"/>
              <a:t>        }    }}</a:t>
            </a:r>
            <a:endParaRPr lang="fa-IR" sz="1900" b="1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666040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خطرات!</a:t>
            </a:r>
            <a:r>
              <a:rPr lang="en-US" sz="1900" b="1" dirty="0">
                <a:cs typeface="B Koodak" panose="00000700000000000000" pitchFamily="2" charset="-78"/>
              </a:rPr>
              <a:t> </a:t>
            </a:r>
            <a:r>
              <a:rPr lang="fa-IR" sz="1900" b="1" dirty="0">
                <a:cs typeface="B Koodak" panose="00000700000000000000" pitchFamily="2" charset="-78"/>
              </a:rPr>
              <a:t>(تنظیمات)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تگ </a:t>
            </a:r>
            <a:r>
              <a:rPr lang="en-US" sz="1900" b="1" dirty="0">
                <a:cs typeface="B Koodak" panose="00000700000000000000" pitchFamily="2" charset="-78"/>
              </a:rPr>
              <a:t>Player</a:t>
            </a:r>
            <a:r>
              <a:rPr lang="fa-IR" sz="1900" b="1" dirty="0">
                <a:cs typeface="B Koodak" panose="00000700000000000000" pitchFamily="2" charset="-78"/>
              </a:rPr>
              <a:t> متعلق به کیست؟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بازیکن اصلی بازی شما (</a:t>
            </a:r>
            <a:r>
              <a:rPr lang="en-US" sz="1900" b="1" dirty="0">
                <a:cs typeface="B Koodak" panose="00000700000000000000" pitchFamily="2" charset="-78"/>
              </a:rPr>
              <a:t>Tag</a:t>
            </a:r>
            <a:r>
              <a:rPr lang="fa-IR" sz="1900" b="1" dirty="0">
                <a:cs typeface="B Koodak" panose="00000700000000000000" pitchFamily="2" charset="-78"/>
              </a:rPr>
              <a:t>)	         </a:t>
            </a:r>
            <a:r>
              <a:rPr lang="en-US" sz="1900" b="1" dirty="0">
                <a:cs typeface="B Koodak" panose="00000700000000000000" pitchFamily="2" charset="-78"/>
              </a:rPr>
              <a:t>	</a:t>
            </a:r>
            <a:r>
              <a:rPr lang="fa-IR" sz="1900" b="1" dirty="0">
                <a:cs typeface="B Koodak" panose="00000700000000000000" pitchFamily="2" charset="-78"/>
              </a:rPr>
              <a:t>برای خطرات(</a:t>
            </a:r>
            <a:r>
              <a:rPr lang="en-US" sz="1900" b="1" dirty="0">
                <a:cs typeface="B Koodak" panose="00000700000000000000" pitchFamily="2" charset="-78"/>
              </a:rPr>
              <a:t>Polygon Collider 2D</a:t>
            </a:r>
            <a:r>
              <a:rPr lang="fa-IR" sz="1900" b="1" dirty="0">
                <a:cs typeface="B Koodak" panose="00000700000000000000" pitchFamily="2" charset="-78"/>
              </a:rPr>
              <a:t>)</a:t>
            </a: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75" t="8979" b="57296"/>
          <a:stretch/>
        </p:blipFill>
        <p:spPr>
          <a:xfrm>
            <a:off x="7221709" y="3539331"/>
            <a:ext cx="2653811" cy="19869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589" y="3539331"/>
            <a:ext cx="3867696" cy="19855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51313" y="4180114"/>
            <a:ext cx="1663087" cy="2351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155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جمع سکه (امتیازها)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گام اول: در سلسه مراتب راست کلیک کنید و از </a:t>
            </a:r>
            <a:r>
              <a:rPr lang="en-US" sz="1900" dirty="0">
                <a:cs typeface="B Koodak" panose="00000700000000000000" pitchFamily="2" charset="-78"/>
              </a:rPr>
              <a:t>UI</a:t>
            </a:r>
            <a:r>
              <a:rPr lang="fa-IR" sz="1900" b="1" dirty="0">
                <a:cs typeface="B Koodak" panose="00000700000000000000" pitchFamily="2" charset="-78"/>
              </a:rPr>
              <a:t> یک </a:t>
            </a:r>
            <a:r>
              <a:rPr lang="en-US" sz="1900" dirty="0">
                <a:cs typeface="B Koodak" panose="00000700000000000000" pitchFamily="2" charset="-78"/>
              </a:rPr>
              <a:t>Canvas</a:t>
            </a:r>
            <a:r>
              <a:rPr lang="fa-IR" sz="1900" b="1" dirty="0">
                <a:cs typeface="B Koodak" panose="00000700000000000000" pitchFamily="2" charset="-78"/>
              </a:rPr>
              <a:t> اضافه کنید</a:t>
            </a:r>
            <a:endParaRPr lang="en-US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گام دوم: روم </a:t>
            </a:r>
            <a:r>
              <a:rPr lang="en-US" sz="1900" dirty="0">
                <a:cs typeface="B Koodak" panose="00000700000000000000" pitchFamily="2" charset="-78"/>
              </a:rPr>
              <a:t>Canvas</a:t>
            </a:r>
            <a:r>
              <a:rPr lang="fa-IR" sz="1900" b="1" dirty="0">
                <a:cs typeface="B Koodak" panose="00000700000000000000" pitchFamily="2" charset="-78"/>
              </a:rPr>
              <a:t> راست کلیک و از </a:t>
            </a:r>
            <a:r>
              <a:rPr lang="en-US" sz="1900" dirty="0">
                <a:cs typeface="B Koodak" panose="00000700000000000000" pitchFamily="2" charset="-78"/>
              </a:rPr>
              <a:t>UI</a:t>
            </a:r>
            <a:r>
              <a:rPr lang="fa-IR" sz="1900" b="1" dirty="0">
                <a:cs typeface="B Koodak" panose="00000700000000000000" pitchFamily="2" charset="-78"/>
              </a:rPr>
              <a:t> یک </a:t>
            </a:r>
            <a:r>
              <a:rPr lang="en-US" sz="1900" dirty="0">
                <a:cs typeface="B Koodak" panose="00000700000000000000" pitchFamily="2" charset="-78"/>
              </a:rPr>
              <a:t>Text</a:t>
            </a:r>
            <a:r>
              <a:rPr lang="fa-IR" sz="1900" b="1" dirty="0">
                <a:cs typeface="B Koodak" panose="00000700000000000000" pitchFamily="2" charset="-78"/>
              </a:rPr>
              <a:t> اضافه کنید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(محل قرار گیری </a:t>
            </a:r>
            <a:r>
              <a:rPr lang="en-US" sz="1900" dirty="0">
                <a:cs typeface="B Koodak" panose="00000700000000000000" pitchFamily="2" charset="-78"/>
              </a:rPr>
              <a:t>Text</a:t>
            </a:r>
            <a:r>
              <a:rPr lang="fa-IR" sz="1900" b="1" dirty="0">
                <a:cs typeface="B Koodak" panose="00000700000000000000" pitchFamily="2" charset="-78"/>
              </a:rPr>
              <a:t> را در کادر </a:t>
            </a:r>
            <a:r>
              <a:rPr lang="en-US" sz="1900" dirty="0">
                <a:cs typeface="B Koodak" panose="00000700000000000000" pitchFamily="2" charset="-78"/>
              </a:rPr>
              <a:t>Canvas</a:t>
            </a:r>
            <a:r>
              <a:rPr lang="fa-IR" sz="1900" b="1" dirty="0">
                <a:cs typeface="B Koodak" panose="00000700000000000000" pitchFamily="2" charset="-78"/>
              </a:rPr>
              <a:t> تنظیم کنید، مثلا: چپ-بالا)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گام سوم: 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در اسکریپت </a:t>
            </a:r>
            <a:r>
              <a:rPr lang="fa-IR" sz="1900" b="1" dirty="0">
                <a:cs typeface="B Koodak" panose="00000700000000000000" pitchFamily="2" charset="-78"/>
                <a:sym typeface="Wingdings" panose="05000000000000000000" pitchFamily="2" charset="2"/>
              </a:rPr>
              <a:t>بازیکن </a:t>
            </a:r>
            <a:r>
              <a:rPr lang="en-US" dirty="0">
                <a:cs typeface="B Koodak" panose="00000700000000000000" pitchFamily="2" charset="-78"/>
              </a:rPr>
              <a:t>public </a:t>
            </a:r>
            <a:r>
              <a:rPr lang="en-US" dirty="0" err="1">
                <a:cs typeface="B Koodak" panose="00000700000000000000" pitchFamily="2" charset="-78"/>
              </a:rPr>
              <a:t>int</a:t>
            </a:r>
            <a:r>
              <a:rPr lang="en-US" dirty="0">
                <a:cs typeface="B Koodak" panose="00000700000000000000" pitchFamily="2" charset="-78"/>
              </a:rPr>
              <a:t> coins;</a:t>
            </a:r>
            <a:r>
              <a:rPr lang="fa-IR" dirty="0">
                <a:cs typeface="B Koodak" panose="00000700000000000000" pitchFamily="2" charset="-78"/>
              </a:rPr>
              <a:t> را اضافه کنید</a:t>
            </a: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</a:rPr>
              <a:t>در اسکریپت سکه ها </a:t>
            </a:r>
            <a:r>
              <a:rPr lang="fa-IR" dirty="0">
                <a:cs typeface="B Koodak" panose="00000700000000000000" pitchFamily="2" charset="-78"/>
                <a:sym typeface="Wingdings" panose="05000000000000000000" pitchFamily="2" charset="2"/>
              </a:rPr>
              <a:t> </a:t>
            </a:r>
            <a:r>
              <a:rPr lang="en-US" dirty="0">
                <a:cs typeface="B Koodak" panose="00000700000000000000" pitchFamily="2" charset="-78"/>
              </a:rPr>
              <a:t>private Player </a:t>
            </a:r>
            <a:r>
              <a:rPr lang="en-US" dirty="0" err="1">
                <a:cs typeface="B Koodak" panose="00000700000000000000" pitchFamily="2" charset="-78"/>
              </a:rPr>
              <a:t>player</a:t>
            </a:r>
            <a:r>
              <a:rPr lang="en-US" dirty="0">
                <a:cs typeface="B Koodak" panose="00000700000000000000" pitchFamily="2" charset="-78"/>
              </a:rPr>
              <a:t>;</a:t>
            </a:r>
            <a:r>
              <a:rPr lang="fa-IR" dirty="0">
                <a:cs typeface="B Koodak" panose="00000700000000000000" pitchFamily="2" charset="-78"/>
              </a:rPr>
              <a:t> را تعریف کنید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  <a:sym typeface="Wingdings" panose="05000000000000000000" pitchFamily="2" charset="2"/>
              </a:rPr>
              <a:t>				و</a:t>
            </a:r>
            <a:r>
              <a:rPr lang="en-US" dirty="0">
                <a:cs typeface="B Koodak" panose="00000700000000000000" pitchFamily="2" charset="-78"/>
              </a:rPr>
              <a:t>player = </a:t>
            </a:r>
            <a:r>
              <a:rPr lang="en-US" dirty="0" err="1">
                <a:cs typeface="B Koodak" panose="00000700000000000000" pitchFamily="2" charset="-78"/>
              </a:rPr>
              <a:t>FindObjectOfType</a:t>
            </a:r>
            <a:r>
              <a:rPr lang="en-US" dirty="0">
                <a:cs typeface="B Koodak" panose="00000700000000000000" pitchFamily="2" charset="-78"/>
              </a:rPr>
              <a:t>&lt;Player&gt;(); </a:t>
            </a:r>
            <a:r>
              <a:rPr lang="fa-IR" dirty="0">
                <a:cs typeface="B Koodak" panose="00000700000000000000" pitchFamily="2" charset="-78"/>
              </a:rPr>
              <a:t> به </a:t>
            </a:r>
            <a:r>
              <a:rPr lang="en-US" dirty="0">
                <a:cs typeface="B Koodak" panose="00000700000000000000" pitchFamily="2" charset="-78"/>
              </a:rPr>
              <a:t>start()</a:t>
            </a: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  <a:sym typeface="Wingdings" panose="05000000000000000000" pitchFamily="2" charset="2"/>
              </a:rPr>
              <a:t>				</a:t>
            </a:r>
            <a:r>
              <a:rPr lang="fa-IR" dirty="0">
                <a:cs typeface="B Koodak" panose="00000700000000000000" pitchFamily="2" charset="-78"/>
                <a:sym typeface="Wingdings" panose="05000000000000000000" pitchFamily="2" charset="2"/>
              </a:rPr>
              <a:t>و </a:t>
            </a:r>
            <a:r>
              <a:rPr lang="en-US" dirty="0" err="1">
                <a:cs typeface="B Koodak" panose="00000700000000000000" pitchFamily="2" charset="-78"/>
              </a:rPr>
              <a:t>player.coins</a:t>
            </a:r>
            <a:r>
              <a:rPr lang="en-US" dirty="0">
                <a:cs typeface="B Koodak" panose="00000700000000000000" pitchFamily="2" charset="-78"/>
              </a:rPr>
              <a:t>++;</a:t>
            </a:r>
            <a:r>
              <a:rPr lang="fa-IR" dirty="0">
                <a:cs typeface="B Koodak" panose="00000700000000000000" pitchFamily="2" charset="-78"/>
              </a:rPr>
              <a:t> به لحظه برخورد اضافه کنید</a:t>
            </a:r>
            <a:endParaRPr lang="en-US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dirty="0">
                <a:cs typeface="B Koodak" panose="00000700000000000000" pitchFamily="2" charset="-78"/>
                <a:sym typeface="Wingdings" panose="05000000000000000000" pitchFamily="2" charset="2"/>
              </a:rPr>
              <a:t>یک اسکریپت جدید برای </a:t>
            </a:r>
            <a:r>
              <a:rPr lang="en-US" dirty="0">
                <a:cs typeface="B Koodak" panose="00000700000000000000" pitchFamily="2" charset="-78"/>
                <a:sym typeface="Wingdings" panose="05000000000000000000" pitchFamily="2" charset="2"/>
              </a:rPr>
              <a:t>text</a:t>
            </a:r>
            <a:r>
              <a:rPr lang="fa-IR" dirty="0">
                <a:cs typeface="B Koodak" panose="00000700000000000000" pitchFamily="2" charset="-78"/>
                <a:sym typeface="Wingdings" panose="05000000000000000000" pitchFamily="2" charset="2"/>
              </a:rPr>
              <a:t> داخل </a:t>
            </a:r>
            <a:r>
              <a:rPr lang="en-US" dirty="0">
                <a:cs typeface="B Koodak" panose="00000700000000000000" pitchFamily="2" charset="-78"/>
                <a:sym typeface="Wingdings" panose="05000000000000000000" pitchFamily="2" charset="2"/>
              </a:rPr>
              <a:t>Canvas</a:t>
            </a:r>
            <a:r>
              <a:rPr lang="fa-IR" dirty="0">
                <a:cs typeface="B Koodak" panose="00000700000000000000" pitchFamily="2" charset="-78"/>
                <a:sym typeface="Wingdings" panose="05000000000000000000" pitchFamily="2" charset="2"/>
              </a:rPr>
              <a:t> ایجاد کنید</a:t>
            </a:r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en-US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428225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8761413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UnityEngine.UI</a:t>
            </a:r>
            <a:r>
              <a:rPr lang="en-US" b="1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b="1" dirty="0"/>
              <a:t>Score</a:t>
            </a:r>
            <a:r>
              <a:rPr lang="en-US" dirty="0"/>
              <a:t> : </a:t>
            </a:r>
            <a:r>
              <a:rPr lang="en-US" dirty="0" err="1"/>
              <a:t>MonoBehaviour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Text coin;</a:t>
            </a:r>
          </a:p>
          <a:p>
            <a:pPr marL="0" indent="0">
              <a:buNone/>
            </a:pPr>
            <a:r>
              <a:rPr lang="en-US" b="1" dirty="0"/>
              <a:t>    private Player </a:t>
            </a:r>
            <a:r>
              <a:rPr lang="en-US" b="1" dirty="0" err="1"/>
              <a:t>player</a:t>
            </a:r>
            <a:r>
              <a:rPr lang="en-US" b="1" dirty="0"/>
              <a:t>;</a:t>
            </a:r>
            <a:endParaRPr lang="fa-IR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Start 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/>
              <a:t>coin = </a:t>
            </a:r>
            <a:r>
              <a:rPr lang="en-US" b="1" dirty="0" err="1"/>
              <a:t>GetComponent</a:t>
            </a:r>
            <a:r>
              <a:rPr lang="en-US" b="1" dirty="0"/>
              <a:t>&lt;Text&gt;();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/>
              <a:t>player = </a:t>
            </a:r>
            <a:r>
              <a:rPr lang="en-US" b="1" dirty="0" err="1"/>
              <a:t>FindObjectOfType</a:t>
            </a:r>
            <a:r>
              <a:rPr lang="en-US" b="1" dirty="0"/>
              <a:t>&lt;Player&gt;();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fa-I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Update ()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/>
              <a:t>coin.text</a:t>
            </a:r>
            <a:r>
              <a:rPr lang="en-US" b="1" dirty="0"/>
              <a:t> = "point: " + </a:t>
            </a:r>
            <a:r>
              <a:rPr lang="en-US" b="1" dirty="0" err="1"/>
              <a:t>player.coins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/>
              <a:t>}}</a:t>
            </a:r>
            <a:endParaRPr lang="en-US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006255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چرخیدن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void Update(){</a:t>
            </a:r>
          </a:p>
          <a:p>
            <a:pPr marL="0" indent="0">
              <a:buNone/>
            </a:pPr>
            <a:r>
              <a:rPr lang="en-US" dirty="0"/>
              <a:t> if (</a:t>
            </a:r>
            <a:r>
              <a:rPr lang="en-US" dirty="0" err="1"/>
              <a:t>Input.GetKey</a:t>
            </a:r>
            <a:r>
              <a:rPr lang="en-US" dirty="0"/>
              <a:t>(</a:t>
            </a:r>
            <a:r>
              <a:rPr lang="en-US" dirty="0" err="1"/>
              <a:t>KeyCode.R</a:t>
            </a:r>
            <a:r>
              <a:rPr lang="en-US" dirty="0"/>
              <a:t>))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dirty="0" err="1"/>
              <a:t>rb.transform.Rotate</a:t>
            </a:r>
            <a:r>
              <a:rPr lang="en-US" b="1" dirty="0"/>
              <a:t>(0, 0, 10);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algn="r" rtl="1"/>
            <a:r>
              <a:rPr lang="fa-IR" sz="2000" b="1" dirty="0">
                <a:cs typeface="B Koodak" panose="00000700000000000000" pitchFamily="2" charset="-78"/>
              </a:rPr>
              <a:t>نکته: </a:t>
            </a:r>
            <a:r>
              <a:rPr lang="en-US" sz="2000" b="1" dirty="0" err="1">
                <a:cs typeface="B Koodak" panose="00000700000000000000" pitchFamily="2" charset="-78"/>
              </a:rPr>
              <a:t>transform.Rotate</a:t>
            </a:r>
            <a:r>
              <a:rPr lang="en-US" sz="2000" b="1" dirty="0">
                <a:cs typeface="B Koodak" panose="00000700000000000000" pitchFamily="2" charset="-78"/>
              </a:rPr>
              <a:t>(x, y, z)</a:t>
            </a:r>
            <a:r>
              <a:rPr lang="fa-IR" sz="2000" b="1" dirty="0">
                <a:cs typeface="B Koodak" panose="00000700000000000000" pitchFamily="2" charset="-78"/>
              </a:rPr>
              <a:t> </a:t>
            </a:r>
            <a:endParaRPr lang="en-US" sz="2000" b="1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607792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تمرین 1: مخزن گردان، گوی را وارد مخزن کنید</a:t>
            </a: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تمرین 2: یک سکوی معلق در هوا بسازید که رفت و برگشت متناوب دارد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راهنمایی 1: 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از </a:t>
            </a:r>
            <a:r>
              <a:rPr lang="en-US" dirty="0" err="1">
                <a:cs typeface="B Koodak" panose="00000700000000000000" pitchFamily="2" charset="-78"/>
              </a:rPr>
              <a:t>gameObject.transform.position</a:t>
            </a:r>
            <a:r>
              <a:rPr lang="fa-IR" sz="1900" dirty="0">
                <a:cs typeface="B Koodak" panose="00000700000000000000" pitchFamily="2" charset="-78"/>
              </a:rPr>
              <a:t> استفاده کنید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راهنمایی 2: 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قدم به قدم پیش بروید!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اول، سطح رونده، دوم، درجایی که می‌خواهید، متوقف شوید، حالا مسیر بازگشت تا نقطه شروع حرکت </a:t>
            </a: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(کد راهنما در ادامه آمده است)</a:t>
            </a:r>
          </a:p>
        </p:txBody>
      </p:sp>
    </p:spTree>
    <p:extLst>
      <p:ext uri="{BB962C8B-B14F-4D97-AF65-F5344CB8AC3E}">
        <p14:creationId xmlns:p14="http://schemas.microsoft.com/office/powerpoint/2010/main" val="23232088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public class </a:t>
            </a:r>
            <a:r>
              <a:rPr lang="en-US" sz="1400" b="1" dirty="0" err="1"/>
              <a:t>InAir</a:t>
            </a:r>
            <a:r>
              <a:rPr lang="en-US" sz="1400" dirty="0"/>
              <a:t> : </a:t>
            </a:r>
            <a:r>
              <a:rPr lang="en-US" sz="1400" dirty="0" err="1"/>
              <a:t>MonoBehaviour</a:t>
            </a:r>
            <a:r>
              <a:rPr lang="en-US" sz="1400" dirty="0"/>
              <a:t> {</a:t>
            </a:r>
          </a:p>
          <a:p>
            <a:pPr marL="0" indent="0">
              <a:buNone/>
            </a:pPr>
            <a:r>
              <a:rPr lang="en-US" sz="1400" dirty="0"/>
              <a:t>    </a:t>
            </a:r>
            <a:r>
              <a:rPr lang="en-US" sz="1400" b="1" dirty="0"/>
              <a:t>private float </a:t>
            </a:r>
            <a:r>
              <a:rPr lang="en-US" sz="1400" b="1" dirty="0" err="1"/>
              <a:t>startx</a:t>
            </a:r>
            <a:r>
              <a:rPr lang="en-US" sz="1400" b="1" dirty="0"/>
              <a:t>;    private </a:t>
            </a:r>
            <a:r>
              <a:rPr lang="en-US" sz="1400" b="1" dirty="0" err="1"/>
              <a:t>int</a:t>
            </a:r>
            <a:r>
              <a:rPr lang="en-US" sz="1400" b="1" dirty="0"/>
              <a:t> direction;</a:t>
            </a:r>
          </a:p>
          <a:p>
            <a:pPr marL="0" indent="0">
              <a:buNone/>
            </a:pPr>
            <a:r>
              <a:rPr lang="en-US" sz="1400" dirty="0"/>
              <a:t>void Start () {</a:t>
            </a:r>
            <a:endParaRPr lang="fa-IR" sz="1400" dirty="0"/>
          </a:p>
          <a:p>
            <a:pPr marL="0" indent="0">
              <a:buNone/>
            </a:pPr>
            <a:r>
              <a:rPr lang="en-US" sz="1400" dirty="0"/>
              <a:t>   direction</a:t>
            </a:r>
            <a:r>
              <a:rPr lang="en-US" sz="1400" b="1" dirty="0"/>
              <a:t> </a:t>
            </a:r>
            <a:r>
              <a:rPr lang="en-US" sz="1400" dirty="0"/>
              <a:t>=</a:t>
            </a:r>
            <a:r>
              <a:rPr lang="en-US" sz="1400" b="1" dirty="0"/>
              <a:t> 0;     </a:t>
            </a:r>
            <a:r>
              <a:rPr lang="en-US" sz="1400" dirty="0" err="1"/>
              <a:t>startx</a:t>
            </a:r>
            <a:r>
              <a:rPr lang="en-US" sz="1400" b="1" dirty="0"/>
              <a:t> </a:t>
            </a:r>
            <a:r>
              <a:rPr lang="en-US" sz="1400" dirty="0"/>
              <a:t>=</a:t>
            </a:r>
            <a:r>
              <a:rPr lang="en-US" sz="1400" b="1" dirty="0"/>
              <a:t> </a:t>
            </a:r>
            <a:r>
              <a:rPr lang="en-US" sz="1400" b="1" dirty="0" err="1"/>
              <a:t>gameObject.transform.position.x</a:t>
            </a:r>
            <a:r>
              <a:rPr lang="en-US" sz="1400" b="1" dirty="0"/>
              <a:t>; </a:t>
            </a: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dirty="0"/>
              <a:t>void Update () {</a:t>
            </a:r>
          </a:p>
          <a:p>
            <a:pPr marL="0" indent="0">
              <a:buNone/>
            </a:pPr>
            <a:r>
              <a:rPr lang="en-US" sz="1400" dirty="0"/>
              <a:t>        if (</a:t>
            </a:r>
            <a:r>
              <a:rPr lang="en-US" sz="1400" dirty="0" err="1"/>
              <a:t>gameObject.transform.position.x</a:t>
            </a:r>
            <a:r>
              <a:rPr lang="en-US" sz="1400" dirty="0"/>
              <a:t> &lt; </a:t>
            </a:r>
            <a:r>
              <a:rPr lang="en-US" sz="1400" dirty="0" err="1"/>
              <a:t>startx</a:t>
            </a:r>
            <a:r>
              <a:rPr lang="en-US" sz="1400" dirty="0"/>
              <a:t> + 5 &amp;&amp; direction == 0)  {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200" b="1" dirty="0" err="1"/>
              <a:t>gameObject.transform.position</a:t>
            </a:r>
            <a:r>
              <a:rPr lang="en-US" sz="1200" b="1" dirty="0"/>
              <a:t> = new Vector2(</a:t>
            </a:r>
            <a:r>
              <a:rPr lang="en-US" sz="1200" b="1" dirty="0" err="1"/>
              <a:t>gameObject.transform.position.x</a:t>
            </a:r>
            <a:r>
              <a:rPr lang="en-US" sz="1200" b="1" dirty="0"/>
              <a:t> + 0.08f, </a:t>
            </a:r>
            <a:r>
              <a:rPr lang="en-US" sz="1200" b="1" dirty="0" err="1"/>
              <a:t>gameObject.transform.position.y</a:t>
            </a:r>
            <a:r>
              <a:rPr lang="en-US" sz="1200" b="1" dirty="0"/>
              <a:t>);</a:t>
            </a:r>
          </a:p>
          <a:p>
            <a:pPr marL="0" indent="0">
              <a:buNone/>
            </a:pPr>
            <a:r>
              <a:rPr lang="en-US" sz="1400" dirty="0"/>
              <a:t>        }else if(</a:t>
            </a:r>
            <a:r>
              <a:rPr lang="en-US" sz="1400" dirty="0" err="1"/>
              <a:t>gameObject.transform.position.x</a:t>
            </a:r>
            <a:r>
              <a:rPr lang="en-US" sz="1400" dirty="0"/>
              <a:t> &gt;= </a:t>
            </a:r>
            <a:r>
              <a:rPr lang="en-US" sz="1400" dirty="0" err="1"/>
              <a:t>startx</a:t>
            </a:r>
            <a:r>
              <a:rPr lang="en-US" sz="1400" dirty="0"/>
              <a:t> + 5 &amp;&amp; direction == 0)  {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b="1" dirty="0"/>
              <a:t>direction = 1;</a:t>
            </a:r>
          </a:p>
          <a:p>
            <a:pPr marL="0" indent="0">
              <a:buNone/>
            </a:pPr>
            <a:r>
              <a:rPr lang="en-US" sz="1400" dirty="0"/>
              <a:t>        } else if (</a:t>
            </a:r>
            <a:r>
              <a:rPr lang="en-US" sz="1400" dirty="0" err="1"/>
              <a:t>gameObject.transform.position.x</a:t>
            </a:r>
            <a:r>
              <a:rPr lang="en-US" sz="1400" dirty="0"/>
              <a:t> &gt; </a:t>
            </a:r>
            <a:r>
              <a:rPr lang="en-US" sz="1400" dirty="0" err="1"/>
              <a:t>startx</a:t>
            </a:r>
            <a:r>
              <a:rPr lang="en-US" sz="1400" dirty="0"/>
              <a:t> &amp;&amp; direction == 1) {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200" b="1" dirty="0" err="1"/>
              <a:t>gameObject.transform.position</a:t>
            </a:r>
            <a:r>
              <a:rPr lang="en-US" sz="1200" b="1" dirty="0"/>
              <a:t> = new Vector2(</a:t>
            </a:r>
            <a:r>
              <a:rPr lang="en-US" sz="1200" b="1" dirty="0" err="1"/>
              <a:t>gameObject.transform.position.x</a:t>
            </a:r>
            <a:r>
              <a:rPr lang="en-US" sz="1200" b="1" dirty="0"/>
              <a:t> - 0.08f, </a:t>
            </a:r>
            <a:r>
              <a:rPr lang="en-US" sz="1200" b="1" dirty="0" err="1"/>
              <a:t>gameObject.transform.position.y</a:t>
            </a:r>
            <a:r>
              <a:rPr lang="en-US" sz="1200" b="1" dirty="0"/>
              <a:t>);</a:t>
            </a:r>
            <a:endParaRPr lang="en-US" sz="1400" b="1" dirty="0"/>
          </a:p>
          <a:p>
            <a:pPr marL="0" indent="0">
              <a:buNone/>
            </a:pPr>
            <a:r>
              <a:rPr lang="en-US" sz="1400" dirty="0"/>
              <a:t>        } else if (</a:t>
            </a:r>
            <a:r>
              <a:rPr lang="en-US" sz="1400" dirty="0" err="1"/>
              <a:t>gameObject.transform.position.x</a:t>
            </a:r>
            <a:r>
              <a:rPr lang="en-US" sz="1400" dirty="0"/>
              <a:t> &lt;= </a:t>
            </a:r>
            <a:r>
              <a:rPr lang="en-US" sz="1400" dirty="0" err="1"/>
              <a:t>startx</a:t>
            </a:r>
            <a:r>
              <a:rPr lang="en-US" sz="1400" dirty="0"/>
              <a:t> &amp;&amp; direction == 1)  {</a:t>
            </a:r>
          </a:p>
          <a:p>
            <a:pPr marL="0" indent="0">
              <a:buNone/>
            </a:pPr>
            <a:r>
              <a:rPr lang="en-US" sz="1400" dirty="0"/>
              <a:t>            </a:t>
            </a:r>
            <a:r>
              <a:rPr lang="en-US" sz="1400" b="1" dirty="0"/>
              <a:t>direction = 0;</a:t>
            </a:r>
            <a:r>
              <a:rPr lang="en-US" sz="1400" dirty="0"/>
              <a:t>  }  }} </a:t>
            </a:r>
            <a:r>
              <a:rPr lang="fa-IR" sz="1400" dirty="0">
                <a:cs typeface="B Koodak" panose="00000700000000000000" pitchFamily="2" charset="-78"/>
              </a:rPr>
              <a:t>حالا سعی کنید با بازیکن روی این سطح متحرک بپرید، مشکلی نیست؟!</a:t>
            </a:r>
            <a:endParaRPr lang="en-US" sz="1400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020805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چالش: بازیکن خود را سوار بر این تخت روان کنید، 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میافتد؟چرا؟!</a:t>
            </a: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دوتابع جدید</a:t>
            </a:r>
          </a:p>
          <a:p>
            <a:pPr marL="0" indent="0">
              <a:buNone/>
            </a:pPr>
            <a:r>
              <a:rPr lang="en-US" b="1" dirty="0"/>
              <a:t>void OnCollisionEnter2D(Collision2D other)</a:t>
            </a:r>
            <a:r>
              <a:rPr lang="en-US" dirty="0"/>
              <a:t>    </a:t>
            </a: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other.gameObject.tag</a:t>
            </a:r>
            <a:r>
              <a:rPr lang="en-US" dirty="0"/>
              <a:t> == "Player")       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dirty="0" err="1"/>
              <a:t>player.transform.parent</a:t>
            </a:r>
            <a:r>
              <a:rPr lang="en-US" b="1" dirty="0"/>
              <a:t> = </a:t>
            </a:r>
            <a:r>
              <a:rPr lang="en-US" b="1" dirty="0" err="1"/>
              <a:t>gameObject.transform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/>
              <a:t>        }    </a:t>
            </a:r>
            <a:r>
              <a:rPr lang="en-US" b="1" dirty="0"/>
              <a:t>}</a:t>
            </a:r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en-US" b="1" dirty="0"/>
              <a:t>private void OnCollisionExit2D(Collision2D other)</a:t>
            </a:r>
            <a:r>
              <a:rPr lang="en-US" dirty="0"/>
              <a:t>    </a:t>
            </a:r>
            <a:r>
              <a:rPr lang="en-US" b="1" dirty="0"/>
              <a:t>{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other.gameObject.tag</a:t>
            </a:r>
            <a:r>
              <a:rPr lang="en-US" dirty="0"/>
              <a:t> == "Player")       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dirty="0" err="1"/>
              <a:t>player.transform.parent</a:t>
            </a:r>
            <a:r>
              <a:rPr lang="en-US" b="1" dirty="0"/>
              <a:t> = null;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    }    </a:t>
            </a:r>
            <a:r>
              <a:rPr lang="en-US" b="1" dirty="0">
                <a:cs typeface="B Koodak" panose="00000700000000000000" pitchFamily="2" charset="-78"/>
              </a:rPr>
              <a:t>}//</a:t>
            </a:r>
            <a:r>
              <a:rPr lang="fa-IR" b="1" dirty="0">
                <a:cs typeface="B Koodak" panose="00000700000000000000" pitchFamily="2" charset="-78"/>
              </a:rPr>
              <a:t>حالا با تغییر کد رفت و برگشت، آسانسور بسازید!</a:t>
            </a:r>
            <a:endParaRPr lang="fa-IR" sz="1900" b="1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751980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48640" y="2351313"/>
            <a:ext cx="11142617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کد راهنما</a:t>
            </a:r>
          </a:p>
          <a:p>
            <a:pPr marL="0" indent="0">
              <a:buNone/>
            </a:pPr>
            <a:r>
              <a:rPr lang="en-US" dirty="0"/>
              <a:t>if (</a:t>
            </a:r>
            <a:r>
              <a:rPr lang="en-US" b="1" dirty="0" err="1"/>
              <a:t>gameObject.transform.position.y</a:t>
            </a:r>
            <a:r>
              <a:rPr lang="en-US" dirty="0"/>
              <a:t> &lt; </a:t>
            </a:r>
            <a:r>
              <a:rPr lang="en-US" b="1" dirty="0" err="1"/>
              <a:t>starty</a:t>
            </a:r>
            <a:r>
              <a:rPr lang="en-US" dirty="0"/>
              <a:t> + 5 &amp;&amp; direction == 3)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sz="1400" dirty="0" err="1"/>
              <a:t>gameObject.transform.position</a:t>
            </a:r>
            <a:r>
              <a:rPr lang="en-US" sz="1400" dirty="0"/>
              <a:t> = new Vector2(</a:t>
            </a:r>
            <a:r>
              <a:rPr lang="en-US" sz="1400" dirty="0" err="1"/>
              <a:t>gameObject.transform.position.x</a:t>
            </a:r>
            <a:r>
              <a:rPr lang="en-US" sz="1400" dirty="0"/>
              <a:t>, </a:t>
            </a:r>
            <a:r>
              <a:rPr lang="en-US" sz="1400" dirty="0" err="1"/>
              <a:t>gameObject.transform.position.y</a:t>
            </a:r>
            <a:r>
              <a:rPr lang="en-US" sz="1400" dirty="0"/>
              <a:t> + 0.06f);</a:t>
            </a:r>
            <a:endParaRPr lang="fa-IR" sz="1400" dirty="0"/>
          </a:p>
          <a:p>
            <a:pPr marL="0" indent="0">
              <a:buNone/>
            </a:pPr>
            <a:r>
              <a:rPr lang="fa-IR" dirty="0"/>
              <a:t>	</a:t>
            </a:r>
            <a:r>
              <a:rPr lang="en-US" dirty="0"/>
              <a:t>}</a:t>
            </a:r>
            <a:endParaRPr lang="fa-IR" dirty="0"/>
          </a:p>
          <a:p>
            <a:pPr marL="0" indent="0">
              <a:buNone/>
            </a:pPr>
            <a:r>
              <a:rPr lang="en-US" dirty="0"/>
              <a:t>else if (</a:t>
            </a:r>
            <a:r>
              <a:rPr lang="en-US" dirty="0" err="1"/>
              <a:t>gameObject.transform.position.y</a:t>
            </a:r>
            <a:r>
              <a:rPr lang="en-US" dirty="0"/>
              <a:t> &gt;= </a:t>
            </a:r>
            <a:r>
              <a:rPr lang="en-US" dirty="0" err="1"/>
              <a:t>starty</a:t>
            </a:r>
            <a:r>
              <a:rPr lang="en-US" dirty="0"/>
              <a:t> + 5 &amp;&amp; direction == 3) {</a:t>
            </a:r>
          </a:p>
          <a:p>
            <a:pPr marL="0" indent="0">
              <a:buNone/>
            </a:pPr>
            <a:r>
              <a:rPr lang="en-US" dirty="0"/>
              <a:t>            direction = 2;       </a:t>
            </a:r>
            <a:endParaRPr lang="fa-IR" dirty="0"/>
          </a:p>
          <a:p>
            <a:pPr marL="0" indent="0">
              <a:buNone/>
            </a:pPr>
            <a:r>
              <a:rPr lang="fa-IR" dirty="0"/>
              <a:t>	</a:t>
            </a:r>
            <a:r>
              <a:rPr lang="en-US" dirty="0"/>
              <a:t> }</a:t>
            </a:r>
            <a:endParaRPr lang="fa-IR" dirty="0"/>
          </a:p>
          <a:p>
            <a:pPr marL="0" indent="0">
              <a:buNone/>
            </a:pPr>
            <a:r>
              <a:rPr lang="en-US" dirty="0"/>
              <a:t>else if (</a:t>
            </a:r>
            <a:r>
              <a:rPr lang="en-US" dirty="0" err="1"/>
              <a:t>gameObject.transform.position.y</a:t>
            </a:r>
            <a:r>
              <a:rPr lang="en-US" dirty="0"/>
              <a:t> &gt; </a:t>
            </a:r>
            <a:r>
              <a:rPr lang="en-US" dirty="0" err="1"/>
              <a:t>starty</a:t>
            </a:r>
            <a:r>
              <a:rPr lang="en-US" dirty="0"/>
              <a:t> &amp;&amp; direction == 2) {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fa-IR" dirty="0"/>
              <a:t> </a:t>
            </a:r>
            <a:r>
              <a:rPr lang="en-US" sz="1400" dirty="0" err="1"/>
              <a:t>gameObject.transform.position</a:t>
            </a:r>
            <a:r>
              <a:rPr lang="en-US" sz="1400" dirty="0"/>
              <a:t> =</a:t>
            </a:r>
            <a:r>
              <a:rPr lang="fa-IR" sz="1400" dirty="0"/>
              <a:t> </a:t>
            </a:r>
            <a:r>
              <a:rPr lang="en-US" sz="1400" dirty="0"/>
              <a:t>new Vector2(</a:t>
            </a:r>
            <a:r>
              <a:rPr lang="en-US" sz="1400" dirty="0" err="1"/>
              <a:t>gameObject.transform.position.x</a:t>
            </a:r>
            <a:r>
              <a:rPr lang="en-US" sz="1400" dirty="0"/>
              <a:t>, </a:t>
            </a:r>
            <a:r>
              <a:rPr lang="en-US" sz="1400" dirty="0" err="1"/>
              <a:t>gameObject.transform.position.y</a:t>
            </a:r>
            <a:r>
              <a:rPr lang="en-US" sz="1400" dirty="0"/>
              <a:t> - 0.06f);  </a:t>
            </a:r>
            <a:endParaRPr lang="fa-IR" sz="1400" dirty="0"/>
          </a:p>
          <a:p>
            <a:pPr marL="0" indent="0">
              <a:buNone/>
            </a:pPr>
            <a:r>
              <a:rPr lang="fa-IR" dirty="0"/>
              <a:t>	</a:t>
            </a:r>
            <a:r>
              <a:rPr lang="en-US" dirty="0"/>
              <a:t>}</a:t>
            </a:r>
            <a:endParaRPr lang="fa-IR" dirty="0"/>
          </a:p>
          <a:p>
            <a:pPr marL="0" indent="0">
              <a:buNone/>
            </a:pPr>
            <a:r>
              <a:rPr lang="en-US" dirty="0"/>
              <a:t>else if (</a:t>
            </a:r>
            <a:r>
              <a:rPr lang="en-US" dirty="0" err="1"/>
              <a:t>gameObject.transform.position.y</a:t>
            </a:r>
            <a:r>
              <a:rPr lang="en-US" dirty="0"/>
              <a:t> &lt;= </a:t>
            </a:r>
            <a:r>
              <a:rPr lang="en-US" dirty="0" err="1"/>
              <a:t>starty</a:t>
            </a:r>
            <a:r>
              <a:rPr lang="en-US" dirty="0"/>
              <a:t> &amp;&amp; direction == 2)</a:t>
            </a:r>
            <a:r>
              <a:rPr lang="fa-IR" dirty="0"/>
              <a:t>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    direction = 3;</a:t>
            </a:r>
          </a:p>
          <a:p>
            <a:pPr marL="0" indent="0">
              <a:buNone/>
            </a:pPr>
            <a:r>
              <a:rPr lang="fa-IR" dirty="0"/>
              <a:t>	</a:t>
            </a:r>
            <a:r>
              <a:rPr lang="en-US" dirty="0"/>
              <a:t>}</a:t>
            </a:r>
            <a:endParaRPr lang="fa-IR" sz="1900" b="1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448333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تمرین 1 : جسمی را از سکویی با هل دادن به پایین بیاندازید</a:t>
            </a:r>
          </a:p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تمرین 2 : جعبه ها را جابه جا کنید 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(به جلو هل بدهد و به طرف خودش بکشد) </a:t>
            </a:r>
          </a:p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تمرین 3 : شبیه سازی وزن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(سرعت سقوط یک صفحه وابسطه به  افزایش و یا کاهش مهره های روی آن باشد)</a:t>
            </a:r>
            <a:endParaRPr lang="en-US" sz="1900" b="1" dirty="0">
              <a:cs typeface="B Koodak" panose="00000700000000000000" pitchFamily="2" charset="-78"/>
            </a:endParaRPr>
          </a:p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تمرین 4: برخورد از کناره ها مرگ، و پریدن روی شی، امتیاز باشد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(مشابه ساختار بازی سونیک)</a:t>
            </a:r>
          </a:p>
          <a:p>
            <a:pPr algn="r" rtl="1"/>
            <a:endParaRPr lang="fa-IR" sz="1900" b="1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117529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یک سکوی سُست! ( نابودی پس چندثانیه لمس توسط بازیکن )</a:t>
            </a:r>
            <a:endParaRPr lang="en-US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یک تایمر ایجاد می کنیم</a:t>
            </a: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public </a:t>
            </a:r>
            <a:r>
              <a:rPr lang="en-US" b="1" dirty="0" err="1">
                <a:cs typeface="B Koodak" panose="00000700000000000000" pitchFamily="2" charset="-78"/>
              </a:rPr>
              <a:t>int</a:t>
            </a:r>
            <a:r>
              <a:rPr lang="en-US" b="1" dirty="0">
                <a:cs typeface="B Koodak" panose="00000700000000000000" pitchFamily="2" charset="-78"/>
              </a:rPr>
              <a:t> </a:t>
            </a:r>
            <a:r>
              <a:rPr lang="en-US" b="1" dirty="0" err="1">
                <a:cs typeface="B Koodak" panose="00000700000000000000" pitchFamily="2" charset="-78"/>
              </a:rPr>
              <a:t>timeToCollapse</a:t>
            </a:r>
            <a:r>
              <a:rPr lang="en-US" b="1" dirty="0">
                <a:cs typeface="B Koodak" panose="00000700000000000000" pitchFamily="2" charset="-78"/>
              </a:rPr>
              <a:t>;</a:t>
            </a: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private </a:t>
            </a:r>
            <a:r>
              <a:rPr lang="en-US" b="1" dirty="0" err="1">
                <a:cs typeface="B Koodak" panose="00000700000000000000" pitchFamily="2" charset="-78"/>
              </a:rPr>
              <a:t>int</a:t>
            </a:r>
            <a:r>
              <a:rPr lang="en-US" b="1" dirty="0">
                <a:cs typeface="B Koodak" panose="00000700000000000000" pitchFamily="2" charset="-78"/>
              </a:rPr>
              <a:t> </a:t>
            </a:r>
            <a:r>
              <a:rPr lang="en-US" b="1" dirty="0" err="1">
                <a:cs typeface="B Koodak" panose="00000700000000000000" pitchFamily="2" charset="-78"/>
              </a:rPr>
              <a:t>timeLeft</a:t>
            </a:r>
            <a:r>
              <a:rPr lang="en-US" b="1" dirty="0">
                <a:cs typeface="B Koodak" panose="00000700000000000000" pitchFamily="2" charset="-78"/>
              </a:rPr>
              <a:t>;</a:t>
            </a:r>
            <a:endParaRPr lang="fa-IR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void Start () {</a:t>
            </a:r>
          </a:p>
          <a:p>
            <a:pPr marL="0" indent="0">
              <a:buNone/>
            </a:pPr>
            <a:r>
              <a:rPr lang="fa-IR" dirty="0">
                <a:cs typeface="B Koodak" panose="00000700000000000000" pitchFamily="2" charset="-78"/>
              </a:rPr>
              <a:t>	</a:t>
            </a:r>
            <a:r>
              <a:rPr lang="en-US" b="1" dirty="0" err="1">
                <a:cs typeface="B Koodak" panose="00000700000000000000" pitchFamily="2" charset="-78"/>
              </a:rPr>
              <a:t>timeLeft</a:t>
            </a:r>
            <a:r>
              <a:rPr lang="en-US" b="1" dirty="0">
                <a:cs typeface="B Koodak" panose="00000700000000000000" pitchFamily="2" charset="-78"/>
              </a:rPr>
              <a:t> = -10;//</a:t>
            </a:r>
            <a:r>
              <a:rPr lang="fa-IR" b="1" dirty="0">
                <a:cs typeface="B Koodak" panose="00000700000000000000" pitchFamily="2" charset="-78"/>
              </a:rPr>
              <a:t>حداکثر 70-</a:t>
            </a: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       </a:t>
            </a:r>
            <a:r>
              <a:rPr lang="en-US" b="1" dirty="0" err="1">
                <a:cs typeface="B Koodak" panose="00000700000000000000" pitchFamily="2" charset="-78"/>
              </a:rPr>
              <a:t>timeToCollapse</a:t>
            </a:r>
            <a:r>
              <a:rPr lang="en-US" b="1" dirty="0">
                <a:cs typeface="B Koodak" panose="00000700000000000000" pitchFamily="2" charset="-78"/>
              </a:rPr>
              <a:t> = 30;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}</a:t>
            </a:r>
            <a:r>
              <a:rPr lang="en-US" sz="1900" b="1" dirty="0">
                <a:cs typeface="B Koodak" panose="00000700000000000000" pitchFamily="2" charset="-78"/>
              </a:rPr>
              <a:t>//</a:t>
            </a:r>
            <a:r>
              <a:rPr lang="fa-IR" sz="1900" b="1" dirty="0">
                <a:cs typeface="B Koodak" panose="00000700000000000000" pitchFamily="2" charset="-78"/>
              </a:rPr>
              <a:t>حالا کد کامل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00923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22514" y="2351313"/>
            <a:ext cx="11181806" cy="4362995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public class Crumble : </a:t>
            </a:r>
            <a:r>
              <a:rPr lang="en-US" dirty="0" err="1">
                <a:cs typeface="B Koodak" panose="00000700000000000000" pitchFamily="2" charset="-78"/>
              </a:rPr>
              <a:t>MonoBehaviour</a:t>
            </a:r>
            <a:r>
              <a:rPr lang="en-US" dirty="0">
                <a:cs typeface="B Koodak" panose="00000700000000000000" pitchFamily="2" charset="-78"/>
              </a:rPr>
              <a:t> {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private Player </a:t>
            </a:r>
            <a:r>
              <a:rPr lang="en-US" dirty="0" err="1">
                <a:cs typeface="B Koodak" panose="00000700000000000000" pitchFamily="2" charset="-78"/>
              </a:rPr>
              <a:t>player</a:t>
            </a:r>
            <a:r>
              <a:rPr lang="en-US" dirty="0">
                <a:cs typeface="B Koodak" panose="00000700000000000000" pitchFamily="2" charset="-78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private Rigidbody2D </a:t>
            </a:r>
            <a:r>
              <a:rPr lang="en-US" dirty="0" err="1">
                <a:cs typeface="B Koodak" panose="00000700000000000000" pitchFamily="2" charset="-78"/>
              </a:rPr>
              <a:t>rb</a:t>
            </a:r>
            <a:r>
              <a:rPr lang="en-US" dirty="0">
                <a:cs typeface="B Koodak" panose="00000700000000000000" pitchFamily="2" charset="-78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</a:t>
            </a:r>
            <a:r>
              <a:rPr lang="en-US" b="1" dirty="0">
                <a:cs typeface="B Koodak" panose="00000700000000000000" pitchFamily="2" charset="-78"/>
              </a:rPr>
              <a:t>public </a:t>
            </a:r>
            <a:r>
              <a:rPr lang="en-US" b="1" dirty="0" err="1">
                <a:cs typeface="B Koodak" panose="00000700000000000000" pitchFamily="2" charset="-78"/>
              </a:rPr>
              <a:t>int</a:t>
            </a:r>
            <a:r>
              <a:rPr lang="en-US" b="1" dirty="0">
                <a:cs typeface="B Koodak" panose="00000700000000000000" pitchFamily="2" charset="-78"/>
              </a:rPr>
              <a:t> </a:t>
            </a:r>
            <a:r>
              <a:rPr lang="en-US" b="1" dirty="0" err="1">
                <a:cs typeface="B Koodak" panose="00000700000000000000" pitchFamily="2" charset="-78"/>
              </a:rPr>
              <a:t>timeToCollapse</a:t>
            </a:r>
            <a:r>
              <a:rPr lang="en-US" b="1" dirty="0">
                <a:cs typeface="B Koodak" panose="00000700000000000000" pitchFamily="2" charset="-78"/>
              </a:rPr>
              <a:t>;</a:t>
            </a: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    private </a:t>
            </a:r>
            <a:r>
              <a:rPr lang="en-US" b="1" dirty="0" err="1">
                <a:cs typeface="B Koodak" panose="00000700000000000000" pitchFamily="2" charset="-78"/>
              </a:rPr>
              <a:t>int</a:t>
            </a:r>
            <a:r>
              <a:rPr lang="en-US" b="1" dirty="0">
                <a:cs typeface="B Koodak" panose="00000700000000000000" pitchFamily="2" charset="-78"/>
              </a:rPr>
              <a:t> </a:t>
            </a:r>
            <a:r>
              <a:rPr lang="en-US" b="1" dirty="0" err="1">
                <a:cs typeface="B Koodak" panose="00000700000000000000" pitchFamily="2" charset="-78"/>
              </a:rPr>
              <a:t>timeLeft</a:t>
            </a:r>
            <a:r>
              <a:rPr lang="en-US" b="1" dirty="0">
                <a:cs typeface="B Koodak" panose="00000700000000000000" pitchFamily="2" charset="-78"/>
              </a:rPr>
              <a:t>;</a:t>
            </a:r>
            <a:r>
              <a:rPr lang="fa-IR" dirty="0">
                <a:cs typeface="B Koodak" panose="00000700000000000000" pitchFamily="2" charset="-78"/>
              </a:rPr>
              <a:t>	</a:t>
            </a:r>
          </a:p>
          <a:p>
            <a:pPr marL="0" indent="0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void Start () {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    </a:t>
            </a:r>
            <a:r>
              <a:rPr lang="en-US" dirty="0" err="1">
                <a:cs typeface="B Koodak" panose="00000700000000000000" pitchFamily="2" charset="-78"/>
              </a:rPr>
              <a:t>rb</a:t>
            </a:r>
            <a:r>
              <a:rPr lang="en-US" dirty="0">
                <a:cs typeface="B Koodak" panose="00000700000000000000" pitchFamily="2" charset="-78"/>
              </a:rPr>
              <a:t> = </a:t>
            </a:r>
            <a:r>
              <a:rPr lang="en-US" dirty="0" err="1">
                <a:cs typeface="B Koodak" panose="00000700000000000000" pitchFamily="2" charset="-78"/>
              </a:rPr>
              <a:t>GetComponent</a:t>
            </a:r>
            <a:r>
              <a:rPr lang="en-US" dirty="0">
                <a:cs typeface="B Koodak" panose="00000700000000000000" pitchFamily="2" charset="-78"/>
              </a:rPr>
              <a:t>&lt;Rigidbody2D&gt;();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    player = </a:t>
            </a:r>
            <a:r>
              <a:rPr lang="en-US" dirty="0" err="1">
                <a:cs typeface="B Koodak" panose="00000700000000000000" pitchFamily="2" charset="-78"/>
              </a:rPr>
              <a:t>FindObjectOfType</a:t>
            </a:r>
            <a:r>
              <a:rPr lang="en-US" dirty="0">
                <a:cs typeface="B Koodak" panose="00000700000000000000" pitchFamily="2" charset="-78"/>
              </a:rPr>
              <a:t>&lt;Player&gt;();</a:t>
            </a:r>
          </a:p>
          <a:p>
            <a:pPr marL="0" indent="0">
              <a:buNone/>
            </a:pPr>
            <a:r>
              <a:rPr lang="fa-IR" dirty="0">
                <a:cs typeface="B Koodak" panose="00000700000000000000" pitchFamily="2" charset="-78"/>
              </a:rPr>
              <a:t>	</a:t>
            </a:r>
            <a:r>
              <a:rPr lang="en-US" b="1" dirty="0" err="1">
                <a:cs typeface="B Koodak" panose="00000700000000000000" pitchFamily="2" charset="-78"/>
              </a:rPr>
              <a:t>timeLeft</a:t>
            </a:r>
            <a:r>
              <a:rPr lang="en-US" b="1" dirty="0">
                <a:cs typeface="B Koodak" panose="00000700000000000000" pitchFamily="2" charset="-78"/>
              </a:rPr>
              <a:t> = -10;</a:t>
            </a: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        </a:t>
            </a:r>
            <a:r>
              <a:rPr lang="en-US" b="1" dirty="0" err="1">
                <a:cs typeface="B Koodak" panose="00000700000000000000" pitchFamily="2" charset="-78"/>
              </a:rPr>
              <a:t>timeToCollapse</a:t>
            </a:r>
            <a:r>
              <a:rPr lang="en-US" b="1" dirty="0">
                <a:cs typeface="B Koodak" panose="00000700000000000000" pitchFamily="2" charset="-78"/>
              </a:rPr>
              <a:t> = 30;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}</a:t>
            </a: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endParaRPr lang="en-US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void Update () {</a:t>
            </a: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        if (</a:t>
            </a:r>
            <a:r>
              <a:rPr lang="en-US" b="1" dirty="0" err="1">
                <a:cs typeface="B Koodak" panose="00000700000000000000" pitchFamily="2" charset="-78"/>
              </a:rPr>
              <a:t>timeLeft</a:t>
            </a:r>
            <a:r>
              <a:rPr lang="en-US" b="1" dirty="0">
                <a:cs typeface="B Koodak" panose="00000700000000000000" pitchFamily="2" charset="-78"/>
              </a:rPr>
              <a:t> &gt; -10) {</a:t>
            </a: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            </a:t>
            </a:r>
            <a:r>
              <a:rPr lang="en-US" b="1" dirty="0" err="1">
                <a:cs typeface="B Koodak" panose="00000700000000000000" pitchFamily="2" charset="-78"/>
              </a:rPr>
              <a:t>timeLeft</a:t>
            </a:r>
            <a:r>
              <a:rPr lang="en-US" b="1" dirty="0">
                <a:cs typeface="B Koodak" panose="00000700000000000000" pitchFamily="2" charset="-78"/>
              </a:rPr>
              <a:t> = </a:t>
            </a:r>
            <a:r>
              <a:rPr lang="en-US" b="1" dirty="0" err="1">
                <a:cs typeface="B Koodak" panose="00000700000000000000" pitchFamily="2" charset="-78"/>
              </a:rPr>
              <a:t>timeLeft</a:t>
            </a:r>
            <a:r>
              <a:rPr lang="en-US" b="1" dirty="0">
                <a:cs typeface="B Koodak" panose="00000700000000000000" pitchFamily="2" charset="-78"/>
              </a:rPr>
              <a:t> - 1;</a:t>
            </a: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        }</a:t>
            </a:r>
          </a:p>
          <a:p>
            <a:pPr marL="0" indent="0">
              <a:buNone/>
            </a:pPr>
            <a:r>
              <a:rPr lang="fa-IR" b="1" dirty="0">
                <a:cs typeface="B Koodak" panose="00000700000000000000" pitchFamily="2" charset="-78"/>
              </a:rPr>
              <a:t>	</a:t>
            </a:r>
            <a:r>
              <a:rPr lang="en-US" b="1" dirty="0">
                <a:cs typeface="B Koodak" panose="00000700000000000000" pitchFamily="2" charset="-78"/>
              </a:rPr>
              <a:t>if (</a:t>
            </a:r>
            <a:r>
              <a:rPr lang="en-US" b="1" dirty="0" err="1">
                <a:cs typeface="B Koodak" panose="00000700000000000000" pitchFamily="2" charset="-78"/>
              </a:rPr>
              <a:t>timeLeft</a:t>
            </a:r>
            <a:r>
              <a:rPr lang="en-US" b="1" dirty="0">
                <a:cs typeface="B Koodak" panose="00000700000000000000" pitchFamily="2" charset="-78"/>
              </a:rPr>
              <a:t> == -5) {</a:t>
            </a: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            </a:t>
            </a:r>
            <a:r>
              <a:rPr lang="en-US" b="1" dirty="0" err="1">
                <a:cs typeface="B Koodak" panose="00000700000000000000" pitchFamily="2" charset="-78"/>
              </a:rPr>
              <a:t>GetComponent</a:t>
            </a:r>
            <a:r>
              <a:rPr lang="en-US" b="1" dirty="0">
                <a:cs typeface="B Koodak" panose="00000700000000000000" pitchFamily="2" charset="-78"/>
              </a:rPr>
              <a:t>&lt;Renderer&gt;().enabled = false;</a:t>
            </a:r>
          </a:p>
          <a:p>
            <a:pPr marL="0" indent="0">
              <a:buNone/>
            </a:pPr>
            <a:r>
              <a:rPr lang="fa-IR" b="1" dirty="0">
                <a:cs typeface="B Koodak" panose="00000700000000000000" pitchFamily="2" charset="-78"/>
              </a:rPr>
              <a:t>	  </a:t>
            </a:r>
            <a:r>
              <a:rPr lang="en-US" b="1" dirty="0">
                <a:cs typeface="B Koodak" panose="00000700000000000000" pitchFamily="2" charset="-78"/>
              </a:rPr>
              <a:t>//Destroy(</a:t>
            </a:r>
            <a:r>
              <a:rPr lang="en-US" b="1" dirty="0" err="1">
                <a:cs typeface="B Koodak" panose="00000700000000000000" pitchFamily="2" charset="-78"/>
              </a:rPr>
              <a:t>gameObject</a:t>
            </a:r>
            <a:r>
              <a:rPr lang="en-US" b="1" dirty="0">
                <a:cs typeface="B Koodak" panose="00000700000000000000" pitchFamily="2" charset="-78"/>
              </a:rPr>
              <a:t>);//</a:t>
            </a:r>
            <a:r>
              <a:rPr lang="fa-IR" b="1" dirty="0">
                <a:cs typeface="B Koodak" panose="00000700000000000000" pitchFamily="2" charset="-78"/>
              </a:rPr>
              <a:t>این خط برای چیست؟</a:t>
            </a:r>
            <a:endParaRPr lang="en-US" b="1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b="1" dirty="0">
                <a:cs typeface="B Koodak" panose="00000700000000000000" pitchFamily="2" charset="-78"/>
              </a:rPr>
              <a:t>        }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private void OnCollisionEnter2D(Collision2D other)    {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    </a:t>
            </a:r>
            <a:r>
              <a:rPr lang="fa-IR" dirty="0">
                <a:cs typeface="B Koodak" panose="00000700000000000000" pitchFamily="2" charset="-78"/>
              </a:rPr>
              <a:t>	</a:t>
            </a:r>
            <a:r>
              <a:rPr lang="en-US" dirty="0">
                <a:cs typeface="B Koodak" panose="00000700000000000000" pitchFamily="2" charset="-78"/>
              </a:rPr>
              <a:t>if (</a:t>
            </a:r>
            <a:r>
              <a:rPr lang="en-US" dirty="0" err="1">
                <a:cs typeface="B Koodak" panose="00000700000000000000" pitchFamily="2" charset="-78"/>
              </a:rPr>
              <a:t>other.gameObject.tag</a:t>
            </a:r>
            <a:r>
              <a:rPr lang="en-US" dirty="0">
                <a:cs typeface="B Koodak" panose="00000700000000000000" pitchFamily="2" charset="-78"/>
              </a:rPr>
              <a:t> == "Player")        {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        </a:t>
            </a:r>
            <a:r>
              <a:rPr lang="en-US" b="1" dirty="0" err="1">
                <a:cs typeface="B Koodak" panose="00000700000000000000" pitchFamily="2" charset="-78"/>
              </a:rPr>
              <a:t>timeLeft</a:t>
            </a:r>
            <a:r>
              <a:rPr lang="en-US" b="1" dirty="0">
                <a:cs typeface="B Koodak" panose="00000700000000000000" pitchFamily="2" charset="-78"/>
              </a:rPr>
              <a:t> = </a:t>
            </a:r>
            <a:r>
              <a:rPr lang="en-US" b="1" dirty="0" err="1">
                <a:cs typeface="B Koodak" panose="00000700000000000000" pitchFamily="2" charset="-78"/>
              </a:rPr>
              <a:t>timeToCollapse</a:t>
            </a:r>
            <a:r>
              <a:rPr lang="en-US" b="1" dirty="0">
                <a:cs typeface="B Koodak" panose="00000700000000000000" pitchFamily="2" charset="-78"/>
              </a:rPr>
              <a:t>;</a:t>
            </a: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        } }</a:t>
            </a:r>
            <a:endParaRPr lang="fa-IR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dirty="0">
                <a:cs typeface="B Koodak" panose="00000700000000000000" pitchFamily="2" charset="-7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27223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تمرین 1: یک دشمن باهوش طراحی کنید که بازیکن شما را تعقیب کند</a:t>
            </a:r>
            <a:endParaRPr lang="en-US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فاز یک : دشمن فقط روی زمین تعقیب کند(به ارتفاعات فرار کنید!)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فاز دو: دشمن ما قدرت پریدن هم داشته باشد(ارتفاعات دیگر امن نیست!) //اگر سخت شد فقط تحلیل کنید</a:t>
            </a: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راهنمایی: </a:t>
            </a:r>
            <a:r>
              <a:rPr lang="en-US" sz="1900" b="1" dirty="0" err="1">
                <a:cs typeface="B Koodak" panose="00000700000000000000" pitchFamily="2" charset="-78"/>
              </a:rPr>
              <a:t>transform.position</a:t>
            </a:r>
            <a:endParaRPr lang="fa-IR" sz="1900" b="1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r>
              <a:rPr lang="fa-IR" sz="1900" b="1">
                <a:cs typeface="B Koodak" panose="00000700000000000000" pitchFamily="2" charset="-78"/>
              </a:rPr>
              <a:t>تمرین 2: بازیکن ما شمشیری دارد که پس از پرتاب آن به نزد صاحبش باز خواهد گشت!</a:t>
            </a:r>
            <a:endParaRPr lang="fa-IR" sz="1900" b="1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221556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ایجاد اشیاء </a:t>
            </a:r>
            <a:r>
              <a:rPr lang="en-US" sz="1900" b="1" dirty="0">
                <a:cs typeface="B Koodak" panose="00000700000000000000" pitchFamily="2" charset="-78"/>
              </a:rPr>
              <a:t>dynamic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بازیکن ما می‌تواند اشیاء بسیاری را به سمت دشمن پرتاب کند</a:t>
            </a:r>
          </a:p>
          <a:p>
            <a:pPr marL="0" indent="0" algn="r" rtl="1">
              <a:buNone/>
            </a:pPr>
            <a:endParaRPr lang="fa-IR" sz="1900" b="1" dirty="0">
              <a:cs typeface="B Koodak" panose="00000700000000000000" pitchFamily="2" charset="-78"/>
            </a:endParaRPr>
          </a:p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گام اول: ایجاد یک شی نمونه برای پرتاب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- یک شی به صحنه بازی اضافه کنید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- کامپوننت های </a:t>
            </a:r>
            <a:r>
              <a:rPr lang="en-US" sz="1900" b="1" dirty="0">
                <a:cs typeface="B Koodak" panose="00000700000000000000" pitchFamily="2" charset="-78"/>
              </a:rPr>
              <a:t>Rigidbody2D</a:t>
            </a:r>
            <a:r>
              <a:rPr lang="fa-IR" sz="1900" b="1" dirty="0">
                <a:cs typeface="B Koodak" panose="00000700000000000000" pitchFamily="2" charset="-78"/>
              </a:rPr>
              <a:t> و </a:t>
            </a:r>
            <a:r>
              <a:rPr lang="en-US" sz="1900" b="1" dirty="0">
                <a:cs typeface="B Koodak" panose="00000700000000000000" pitchFamily="2" charset="-78"/>
              </a:rPr>
              <a:t>CircleCollider2D</a:t>
            </a:r>
            <a:r>
              <a:rPr lang="fa-IR" sz="1900" b="1" dirty="0">
                <a:cs typeface="B Koodak" panose="00000700000000000000" pitchFamily="2" charset="-78"/>
              </a:rPr>
              <a:t> را به شی اعمال کنید</a:t>
            </a:r>
          </a:p>
          <a:p>
            <a:pPr marL="0" indent="0" algn="r" rtl="1">
              <a:buNone/>
            </a:pPr>
            <a:r>
              <a:rPr lang="en-US" dirty="0">
                <a:cs typeface="B Koodak" panose="00000700000000000000" pitchFamily="2" charset="-78"/>
              </a:rPr>
              <a:t>Radius</a:t>
            </a:r>
            <a:r>
              <a:rPr lang="fa-IR" dirty="0">
                <a:cs typeface="B Koodak" panose="00000700000000000000" pitchFamily="2" charset="-78"/>
              </a:rPr>
              <a:t> در </a:t>
            </a:r>
            <a:r>
              <a:rPr lang="en-US" dirty="0">
                <a:cs typeface="B Koodak" panose="00000700000000000000" pitchFamily="2" charset="-78"/>
              </a:rPr>
              <a:t>CircleCollider2D</a:t>
            </a:r>
            <a:r>
              <a:rPr lang="fa-IR" dirty="0">
                <a:cs typeface="B Koodak" panose="00000700000000000000" pitchFamily="2" charset="-78"/>
              </a:rPr>
              <a:t> فراموش نشود!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- در پوشه </a:t>
            </a:r>
            <a:r>
              <a:rPr lang="en-US" sz="1900" b="1" dirty="0">
                <a:cs typeface="B Koodak" panose="00000700000000000000" pitchFamily="2" charset="-78"/>
              </a:rPr>
              <a:t>Assets</a:t>
            </a:r>
            <a:r>
              <a:rPr lang="fa-IR" sz="1900" b="1" dirty="0">
                <a:cs typeface="B Koodak" panose="00000700000000000000" pitchFamily="2" charset="-78"/>
              </a:rPr>
              <a:t> یک پوشه با نام </a:t>
            </a:r>
            <a:r>
              <a:rPr lang="en-US" sz="1900" b="1" dirty="0">
                <a:cs typeface="B Koodak" panose="00000700000000000000" pitchFamily="2" charset="-78"/>
              </a:rPr>
              <a:t>Material</a:t>
            </a:r>
            <a:r>
              <a:rPr lang="fa-IR" sz="1900" b="1" dirty="0">
                <a:cs typeface="B Koodak" panose="00000700000000000000" pitchFamily="2" charset="-78"/>
              </a:rPr>
              <a:t> ایجاد و داخل آن یک </a:t>
            </a:r>
            <a:r>
              <a:rPr lang="en-US" sz="1900" b="1" dirty="0">
                <a:cs typeface="B Koodak" panose="00000700000000000000" pitchFamily="2" charset="-78"/>
              </a:rPr>
              <a:t>Physics Material 2D</a:t>
            </a:r>
            <a:r>
              <a:rPr lang="fa-IR" sz="1900" b="1" dirty="0">
                <a:cs typeface="B Koodak" panose="00000700000000000000" pitchFamily="2" charset="-78"/>
              </a:rPr>
              <a:t> ایجاد کنید</a:t>
            </a:r>
          </a:p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- متریال ایجاد شده را به ویژگی </a:t>
            </a:r>
            <a:r>
              <a:rPr lang="en-US" sz="1900" b="1" dirty="0">
                <a:cs typeface="B Koodak" panose="00000700000000000000" pitchFamily="2" charset="-78"/>
              </a:rPr>
              <a:t>Material</a:t>
            </a:r>
            <a:r>
              <a:rPr lang="fa-IR" sz="1900" b="1" dirty="0">
                <a:cs typeface="B Koodak" panose="00000700000000000000" pitchFamily="2" charset="-78"/>
              </a:rPr>
              <a:t> در </a:t>
            </a:r>
            <a:r>
              <a:rPr lang="en-US" sz="1900" b="1" dirty="0">
                <a:cs typeface="B Koodak" panose="00000700000000000000" pitchFamily="2" charset="-78"/>
              </a:rPr>
              <a:t>CircleCollider2D</a:t>
            </a:r>
            <a:r>
              <a:rPr lang="fa-IR" sz="1900" b="1" dirty="0">
                <a:cs typeface="B Koodak" panose="00000700000000000000" pitchFamily="2" charset="-78"/>
              </a:rPr>
              <a:t> شی اعمال کنید (بکشید یا انتخاب کنید)</a:t>
            </a:r>
          </a:p>
        </p:txBody>
      </p:sp>
    </p:spTree>
    <p:extLst>
      <p:ext uri="{BB962C8B-B14F-4D97-AF65-F5344CB8AC3E}">
        <p14:creationId xmlns:p14="http://schemas.microsoft.com/office/powerpoint/2010/main" val="29677678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endParaRPr lang="fa-IR" sz="1900" b="1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69" t="32310" r="31688" b="10404"/>
          <a:stretch/>
        </p:blipFill>
        <p:spPr>
          <a:xfrm>
            <a:off x="696858" y="2701185"/>
            <a:ext cx="3735977" cy="323959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64"/>
          <a:stretch/>
        </p:blipFill>
        <p:spPr>
          <a:xfrm>
            <a:off x="8112033" y="4177482"/>
            <a:ext cx="3413415" cy="23980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540" y="2718722"/>
            <a:ext cx="3705742" cy="11622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254"/>
          <a:stretch/>
        </p:blipFill>
        <p:spPr>
          <a:xfrm>
            <a:off x="4789540" y="4184206"/>
            <a:ext cx="3897260" cy="239802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73005" y="2684524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765687" y="2684524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789540" y="4184206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6309360" y="4591827"/>
            <a:ext cx="3509380" cy="5608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708469" y="4859382"/>
            <a:ext cx="600891" cy="5865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738170" y="3255344"/>
            <a:ext cx="1780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1400" dirty="0">
                <a:cs typeface="B Koodak" panose="00000700000000000000" pitchFamily="2" charset="-78"/>
              </a:rPr>
              <a:t>اصطکاک</a:t>
            </a:r>
          </a:p>
          <a:p>
            <a:r>
              <a:rPr lang="fa-IR" sz="1400" dirty="0">
                <a:cs typeface="B Koodak" panose="00000700000000000000" pitchFamily="2" charset="-78"/>
              </a:rPr>
              <a:t>تندرستی (فنریت، شادابی)</a:t>
            </a:r>
            <a:endParaRPr lang="en-US" sz="1400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48352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گام دوم: کدنویسی رفتار شی نمونه (فعلا با </a:t>
            </a:r>
            <a:r>
              <a:rPr lang="en-US" sz="1900" b="1" dirty="0">
                <a:cs typeface="B Koodak" panose="00000700000000000000" pitchFamily="2" charset="-78"/>
              </a:rPr>
              <a:t>Destroy</a:t>
            </a:r>
            <a:r>
              <a:rPr lang="fa-IR" sz="1900" b="1" dirty="0">
                <a:cs typeface="B Koodak" panose="00000700000000000000" pitchFamily="2" charset="-78"/>
              </a:rPr>
              <a:t> کار نداریم)</a:t>
            </a:r>
            <a:endParaRPr lang="en-US" dirty="0"/>
          </a:p>
          <a:p>
            <a:pPr marL="0" indent="0">
              <a:buNone/>
            </a:pPr>
            <a:r>
              <a:rPr lang="en-US" sz="1600" dirty="0"/>
              <a:t>public class </a:t>
            </a:r>
            <a:r>
              <a:rPr lang="en-US" sz="1600" b="1" dirty="0"/>
              <a:t>Ammo</a:t>
            </a:r>
            <a:r>
              <a:rPr lang="en-US" sz="1600" dirty="0"/>
              <a:t> : </a:t>
            </a:r>
            <a:r>
              <a:rPr lang="en-US" sz="1600" dirty="0" err="1"/>
              <a:t>MonoBehaviour</a:t>
            </a:r>
            <a:r>
              <a:rPr lang="en-US" sz="1600" dirty="0"/>
              <a:t> {</a:t>
            </a:r>
          </a:p>
          <a:p>
            <a:pPr marL="0" indent="0">
              <a:buNone/>
            </a:pPr>
            <a:r>
              <a:rPr lang="en-US" sz="1600" dirty="0"/>
              <a:t>    </a:t>
            </a:r>
            <a:r>
              <a:rPr lang="en-US" sz="1600" b="1" dirty="0"/>
              <a:t>public Vector2 </a:t>
            </a:r>
            <a:r>
              <a:rPr lang="en-US" sz="1600" b="1" dirty="0" err="1"/>
              <a:t>initialVelocity</a:t>
            </a:r>
            <a:r>
              <a:rPr lang="en-US" sz="1600" b="1" dirty="0"/>
              <a:t> = new Vector2(50, -25);</a:t>
            </a:r>
          </a:p>
          <a:p>
            <a:pPr marL="0" indent="0">
              <a:buNone/>
            </a:pPr>
            <a:r>
              <a:rPr lang="en-US" sz="1600" b="1" dirty="0"/>
              <a:t>    public </a:t>
            </a:r>
            <a:r>
              <a:rPr lang="en-US" sz="1600" b="1" dirty="0" err="1"/>
              <a:t>int</a:t>
            </a:r>
            <a:r>
              <a:rPr lang="en-US" sz="1600" b="1" dirty="0"/>
              <a:t> bounces = 3;</a:t>
            </a:r>
          </a:p>
          <a:p>
            <a:pPr marL="0" indent="0">
              <a:buNone/>
            </a:pPr>
            <a:r>
              <a:rPr lang="en-US" sz="1600" b="1" dirty="0"/>
              <a:t>    </a:t>
            </a:r>
            <a:r>
              <a:rPr lang="en-US" sz="1600" dirty="0"/>
              <a:t>private Rigidbody2D body2d;</a:t>
            </a:r>
            <a:endParaRPr lang="fa-IR" sz="1600" dirty="0"/>
          </a:p>
          <a:p>
            <a:pPr marL="0" indent="0">
              <a:buNone/>
            </a:pPr>
            <a:r>
              <a:rPr lang="en-US" sz="1600" dirty="0"/>
              <a:t>void Start () {</a:t>
            </a:r>
          </a:p>
          <a:p>
            <a:pPr marL="0" indent="0">
              <a:buNone/>
            </a:pPr>
            <a:r>
              <a:rPr lang="en-US" sz="1600" dirty="0"/>
              <a:t>	 body2d = </a:t>
            </a:r>
            <a:r>
              <a:rPr lang="en-US" sz="1600" dirty="0" err="1"/>
              <a:t>GetComponent</a:t>
            </a:r>
            <a:r>
              <a:rPr lang="en-US" sz="1600" dirty="0"/>
              <a:t>&lt;Rigidbody2D&gt;(); </a:t>
            </a:r>
          </a:p>
          <a:p>
            <a:pPr marL="0" indent="0">
              <a:buNone/>
            </a:pPr>
            <a:r>
              <a:rPr lang="en-US" sz="1600" b="1" dirty="0"/>
              <a:t>       	 </a:t>
            </a:r>
            <a:r>
              <a:rPr lang="en-US" sz="1600" b="1" dirty="0" err="1"/>
              <a:t>var</a:t>
            </a:r>
            <a:r>
              <a:rPr lang="en-US" sz="1600" b="1" dirty="0"/>
              <a:t> </a:t>
            </a:r>
            <a:r>
              <a:rPr lang="en-US" sz="1600" b="1" dirty="0" err="1"/>
              <a:t>startvelX</a:t>
            </a:r>
            <a:r>
              <a:rPr lang="en-US" sz="1600" b="1" dirty="0"/>
              <a:t> = </a:t>
            </a:r>
            <a:r>
              <a:rPr lang="en-US" sz="1600" b="1" dirty="0" err="1"/>
              <a:t>initialVelocity.x</a:t>
            </a:r>
            <a:r>
              <a:rPr lang="en-US" sz="1600" b="1" dirty="0"/>
              <a:t> * </a:t>
            </a:r>
            <a:r>
              <a:rPr lang="en-US" sz="1600" b="1" dirty="0" err="1"/>
              <a:t>transform.localScale.x</a:t>
            </a:r>
            <a:r>
              <a:rPr lang="en-US" sz="1600" b="1" dirty="0"/>
              <a:t>;</a:t>
            </a:r>
          </a:p>
          <a:p>
            <a:pPr marL="0" indent="0">
              <a:buNone/>
            </a:pPr>
            <a:r>
              <a:rPr lang="en-US" sz="1600" b="1" dirty="0"/>
              <a:t>       	 </a:t>
            </a:r>
            <a:r>
              <a:rPr lang="en-US" sz="1600" dirty="0"/>
              <a:t>body2d.velocity = new Vector2(</a:t>
            </a:r>
            <a:r>
              <a:rPr lang="en-US" sz="1600" dirty="0" err="1"/>
              <a:t>startvelX</a:t>
            </a:r>
            <a:r>
              <a:rPr lang="en-US" sz="1600" dirty="0"/>
              <a:t>, </a:t>
            </a:r>
            <a:r>
              <a:rPr lang="en-US" sz="1600" dirty="0" err="1"/>
              <a:t>initialVelocity.y</a:t>
            </a:r>
            <a:r>
              <a:rPr lang="en-US" sz="1600" dirty="0"/>
              <a:t>);</a:t>
            </a:r>
            <a:r>
              <a:rPr lang="en-US" sz="1600" b="1" dirty="0"/>
              <a:t> }</a:t>
            </a:r>
          </a:p>
          <a:p>
            <a:pPr marL="0" indent="0">
              <a:buNone/>
            </a:pPr>
            <a:r>
              <a:rPr lang="en-US" sz="1600" dirty="0"/>
              <a:t>private void OnCollisionEnter2D(Collision2D other)     {</a:t>
            </a:r>
          </a:p>
          <a:p>
            <a:pPr marL="0" indent="0">
              <a:buNone/>
            </a:pPr>
            <a:r>
              <a:rPr lang="en-US" sz="1600" dirty="0"/>
              <a:t>        if (</a:t>
            </a:r>
            <a:r>
              <a:rPr lang="en-US" sz="1600" dirty="0" err="1"/>
              <a:t>other.gameObject.transform.position.y</a:t>
            </a:r>
            <a:r>
              <a:rPr lang="en-US" sz="1600" dirty="0"/>
              <a:t> &lt; </a:t>
            </a:r>
            <a:r>
              <a:rPr lang="en-US" sz="1600" dirty="0" err="1"/>
              <a:t>transform.position.y</a:t>
            </a:r>
            <a:r>
              <a:rPr lang="en-US" sz="1600" dirty="0"/>
              <a:t>)        {</a:t>
            </a:r>
          </a:p>
          <a:p>
            <a:pPr marL="0" indent="0">
              <a:buNone/>
            </a:pPr>
            <a:r>
              <a:rPr lang="en-US" sz="1600" dirty="0"/>
              <a:t>            bounces--;        }</a:t>
            </a:r>
          </a:p>
          <a:p>
            <a:pPr marL="0" indent="0">
              <a:buNone/>
            </a:pPr>
            <a:r>
              <a:rPr lang="en-US" sz="1600" dirty="0"/>
              <a:t>        if (bounces == 0)        {</a:t>
            </a:r>
          </a:p>
          <a:p>
            <a:pPr marL="0" indent="0">
              <a:buNone/>
            </a:pPr>
            <a:r>
              <a:rPr lang="en-US" sz="1600" dirty="0"/>
              <a:t>            Destroy(</a:t>
            </a:r>
            <a:r>
              <a:rPr lang="en-US" sz="1600" dirty="0" err="1"/>
              <a:t>gameObject</a:t>
            </a:r>
            <a:r>
              <a:rPr lang="en-US" sz="1600" dirty="0"/>
              <a:t>);        }    }}</a:t>
            </a:r>
          </a:p>
          <a:p>
            <a:pPr marL="0" indent="0" algn="r" rtl="1">
              <a:buNone/>
            </a:pPr>
            <a:endParaRPr lang="fa-IR" sz="1600" b="1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553280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fa-IR" sz="1900" b="1" dirty="0">
                <a:cs typeface="B Koodak" panose="00000700000000000000" pitchFamily="2" charset="-78"/>
              </a:rPr>
              <a:t>در </a:t>
            </a:r>
            <a:r>
              <a:rPr lang="en-US" sz="1900" b="1" dirty="0">
                <a:cs typeface="B Koodak" panose="00000700000000000000" pitchFamily="2" charset="-78"/>
              </a:rPr>
              <a:t>Assets</a:t>
            </a:r>
            <a:r>
              <a:rPr lang="fa-IR" sz="1900" b="1" dirty="0">
                <a:cs typeface="B Koodak" panose="00000700000000000000" pitchFamily="2" charset="-78"/>
              </a:rPr>
              <a:t> پوشه </a:t>
            </a:r>
            <a:r>
              <a:rPr lang="en-US" sz="1900" b="1" dirty="0">
                <a:cs typeface="B Koodak" panose="00000700000000000000" pitchFamily="2" charset="-78"/>
              </a:rPr>
              <a:t>Prefab</a:t>
            </a:r>
            <a:r>
              <a:rPr lang="fa-IR" sz="1900" b="1" dirty="0">
                <a:cs typeface="B Koodak" panose="00000700000000000000" pitchFamily="2" charset="-78"/>
              </a:rPr>
              <a:t> را ایجاد و شی را از صحنه بازی به این پوشه بکشید و شی را از صحنه بازی حذف کنید!  </a:t>
            </a:r>
          </a:p>
          <a:p>
            <a:pPr algn="r" rtl="1"/>
            <a:r>
              <a:rPr lang="fa-IR" sz="1900" b="1" dirty="0">
                <a:cs typeface="B Koodak" panose="00000700000000000000" pitchFamily="2" charset="-78"/>
              </a:rPr>
              <a:t>گام آخر: ایجاد شی نمونه در زمان اجرای بازی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Dynamicobj</a:t>
            </a:r>
            <a:r>
              <a:rPr lang="en-US" dirty="0"/>
              <a:t> : </a:t>
            </a:r>
            <a:r>
              <a:rPr lang="en-US" dirty="0" err="1"/>
              <a:t>MonoBehaviour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fa-IR" dirty="0"/>
              <a:t>	</a:t>
            </a:r>
            <a:r>
              <a:rPr lang="en-US" b="1" dirty="0"/>
              <a:t>public </a:t>
            </a:r>
            <a:r>
              <a:rPr lang="en-US" b="1" dirty="0" err="1"/>
              <a:t>GameObject</a:t>
            </a:r>
            <a:r>
              <a:rPr lang="en-US" b="1" dirty="0"/>
              <a:t> </a:t>
            </a:r>
            <a:r>
              <a:rPr lang="en-US" b="1" dirty="0" err="1"/>
              <a:t>myPrefab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fa-IR" dirty="0"/>
              <a:t>	</a:t>
            </a:r>
            <a:r>
              <a:rPr lang="en-US" b="1" dirty="0"/>
              <a:t>private float time = 0f;</a:t>
            </a:r>
          </a:p>
          <a:p>
            <a:pPr marL="0" indent="0">
              <a:buNone/>
            </a:pPr>
            <a:r>
              <a:rPr lang="en-US" dirty="0"/>
              <a:t>void Update () {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Input.GetKey</a:t>
            </a:r>
            <a:r>
              <a:rPr lang="en-US" dirty="0"/>
              <a:t>(</a:t>
            </a:r>
            <a:r>
              <a:rPr lang="en-US" dirty="0" err="1"/>
              <a:t>KeyCode.E</a:t>
            </a:r>
            <a:r>
              <a:rPr lang="en-US" dirty="0"/>
              <a:t>) &amp;&amp; (time&gt;0.5f))       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dirty="0"/>
              <a:t>Instantiate(</a:t>
            </a:r>
            <a:r>
              <a:rPr lang="en-US" b="1" dirty="0" err="1"/>
              <a:t>myPrefab</a:t>
            </a:r>
            <a:r>
              <a:rPr lang="en-US" b="1" dirty="0"/>
              <a:t>, new Vector3(0, 0, 0), </a:t>
            </a:r>
            <a:r>
              <a:rPr lang="en-US" b="1" dirty="0" err="1"/>
              <a:t>Quaternion.identity</a:t>
            </a:r>
            <a:r>
              <a:rPr lang="en-US" b="1" dirty="0"/>
              <a:t>);</a:t>
            </a:r>
          </a:p>
          <a:p>
            <a:pPr marL="0" indent="0">
              <a:buNone/>
            </a:pPr>
            <a:r>
              <a:rPr lang="en-US" dirty="0"/>
              <a:t>            time = 0;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time += </a:t>
            </a:r>
            <a:r>
              <a:rPr lang="en-US" dirty="0" err="1"/>
              <a:t>Time.deltaTime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}}</a:t>
            </a:r>
          </a:p>
        </p:txBody>
      </p:sp>
    </p:spTree>
    <p:extLst>
      <p:ext uri="{BB962C8B-B14F-4D97-AF65-F5344CB8AC3E}">
        <p14:creationId xmlns:p14="http://schemas.microsoft.com/office/powerpoint/2010/main" val="185111865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کد جدید را به </a:t>
            </a:r>
            <a:r>
              <a:rPr lang="en-US" sz="2000" dirty="0">
                <a:cs typeface="B Koodak" panose="00000700000000000000" pitchFamily="2" charset="-78"/>
              </a:rPr>
              <a:t>Player</a:t>
            </a:r>
            <a:r>
              <a:rPr lang="fa-IR" sz="2000" dirty="0">
                <a:cs typeface="B Koodak" panose="00000700000000000000" pitchFamily="2" charset="-78"/>
              </a:rPr>
              <a:t> اعمال کنید 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و شی نمونه در پوشه </a:t>
            </a:r>
            <a:r>
              <a:rPr lang="en-US" sz="2000" dirty="0">
                <a:cs typeface="B Koodak" panose="00000700000000000000" pitchFamily="2" charset="-78"/>
              </a:rPr>
              <a:t>prefab</a:t>
            </a:r>
            <a:r>
              <a:rPr lang="fa-IR" sz="2000" dirty="0">
                <a:cs typeface="B Koodak" panose="00000700000000000000" pitchFamily="2" charset="-78"/>
              </a:rPr>
              <a:t> را به متغیر </a:t>
            </a:r>
            <a:r>
              <a:rPr lang="en-US" sz="2000" dirty="0" err="1">
                <a:cs typeface="B Koodak" panose="00000700000000000000" pitchFamily="2" charset="-78"/>
              </a:rPr>
              <a:t>myprefab</a:t>
            </a:r>
            <a:r>
              <a:rPr lang="fa-IR" sz="2000" dirty="0">
                <a:cs typeface="B Koodak" panose="00000700000000000000" pitchFamily="2" charset="-78"/>
              </a:rPr>
              <a:t> بکشید و رها کنید</a:t>
            </a: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algn="r" rtl="1"/>
            <a:r>
              <a:rPr lang="fa-IR" sz="2000" dirty="0">
                <a:cs typeface="B Koodak" panose="00000700000000000000" pitchFamily="2" charset="-78"/>
              </a:rPr>
              <a:t>حالا </a:t>
            </a:r>
            <a:r>
              <a:rPr lang="en-US" sz="2000" dirty="0">
                <a:cs typeface="B Koodak" panose="00000700000000000000" pitchFamily="2" charset="-78"/>
              </a:rPr>
              <a:t>Destroy</a:t>
            </a:r>
            <a:r>
              <a:rPr lang="fa-IR" sz="2000" dirty="0">
                <a:cs typeface="B Koodak" panose="00000700000000000000" pitchFamily="2" charset="-78"/>
              </a:rPr>
              <a:t> </a:t>
            </a:r>
            <a:r>
              <a:rPr lang="en-US" sz="2000" dirty="0">
                <a:cs typeface="B Koodak" panose="00000700000000000000" pitchFamily="2" charset="-78"/>
              </a:rPr>
              <a:t> </a:t>
            </a:r>
            <a:r>
              <a:rPr lang="fa-IR" sz="2000" dirty="0">
                <a:cs typeface="B Koodak" panose="00000700000000000000" pitchFamily="2" charset="-78"/>
              </a:rPr>
              <a:t>و </a:t>
            </a:r>
            <a:r>
              <a:rPr lang="en-US" sz="2000" dirty="0">
                <a:cs typeface="B Koodak" panose="00000700000000000000" pitchFamily="2" charset="-78"/>
              </a:rPr>
              <a:t>Delay</a:t>
            </a:r>
            <a:r>
              <a:rPr lang="fa-IR" sz="2000" dirty="0">
                <a:cs typeface="B Koodak" panose="00000700000000000000" pitchFamily="2" charset="-78"/>
              </a:rPr>
              <a:t> برای شلیک را بررسی می‌کنیم</a:t>
            </a:r>
            <a:r>
              <a:rPr lang="en-US" sz="2000" dirty="0">
                <a:cs typeface="B Koodak" panose="00000700000000000000" pitchFamily="2" charset="-78"/>
              </a:rPr>
              <a:t> </a:t>
            </a:r>
            <a:r>
              <a:rPr lang="fa-IR" sz="2000">
                <a:cs typeface="B Koodak" panose="00000700000000000000" pitchFamily="2" charset="-78"/>
              </a:rPr>
              <a:t> (بازگشت به کدها)</a:t>
            </a:r>
            <a:endParaRPr lang="en-US" sz="2000" dirty="0"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88"/>
          <a:stretch/>
        </p:blipFill>
        <p:spPr>
          <a:xfrm>
            <a:off x="6161156" y="3766966"/>
            <a:ext cx="4224593" cy="19545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53"/>
          <a:stretch/>
        </p:blipFill>
        <p:spPr>
          <a:xfrm>
            <a:off x="1886471" y="3766966"/>
            <a:ext cx="4274685" cy="1954566"/>
          </a:xfrm>
          <a:prstGeom prst="rect">
            <a:avLst/>
          </a:prstGeom>
        </p:spPr>
      </p:pic>
      <p:cxnSp>
        <p:nvCxnSpPr>
          <p:cNvPr id="7" name="Straight Arrow Connector 6"/>
          <p:cNvCxnSpPr>
            <a:stCxn id="8" idx="3"/>
          </p:cNvCxnSpPr>
          <p:nvPr/>
        </p:nvCxnSpPr>
        <p:spPr>
          <a:xfrm>
            <a:off x="4172561" y="4145789"/>
            <a:ext cx="3977190" cy="7919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96342" y="3766966"/>
            <a:ext cx="776219" cy="7576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607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کدنویسی در یونیتی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تمرین 1: شبیه سازی آهنربا برای جذب اجسام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راهنمایی: </a:t>
            </a:r>
            <a:r>
              <a:rPr lang="en-US" sz="2000" dirty="0" err="1">
                <a:cs typeface="B Koodak" panose="00000700000000000000" pitchFamily="2" charset="-78"/>
              </a:rPr>
              <a:t>gameObject</a:t>
            </a:r>
            <a:r>
              <a:rPr lang="fa-IR" sz="2000" dirty="0">
                <a:cs typeface="B Koodak" panose="00000700000000000000" pitchFamily="2" charset="-78"/>
              </a:rPr>
              <a:t> خالی با مرز برخورد (</a:t>
            </a:r>
            <a:r>
              <a:rPr lang="en-US" sz="2000" dirty="0">
                <a:cs typeface="B Koodak" panose="00000700000000000000" pitchFamily="2" charset="-78"/>
              </a:rPr>
              <a:t>CircleCollider2D</a:t>
            </a:r>
            <a:r>
              <a:rPr lang="fa-IR" sz="2000" dirty="0">
                <a:cs typeface="B Koodak" panose="00000700000000000000" pitchFamily="2" charset="-78"/>
              </a:rPr>
              <a:t>) پیرامون </a:t>
            </a:r>
            <a:r>
              <a:rPr lang="en-US" sz="2000" dirty="0">
                <a:cs typeface="B Koodak" panose="00000700000000000000" pitchFamily="2" charset="-78"/>
              </a:rPr>
              <a:t>player</a:t>
            </a: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هرچه فاصله پیرامون بیشتر، قدرت آهنربا بیشتر!</a:t>
            </a:r>
            <a:endParaRPr lang="en-US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en-US" sz="2000" dirty="0">
              <a:cs typeface="B Koodak" panose="00000700000000000000" pitchFamily="2" charset="-78"/>
            </a:endParaRPr>
          </a:p>
          <a:p>
            <a:pPr algn="r" rtl="1"/>
            <a:r>
              <a:rPr lang="fa-IR" sz="2000" dirty="0">
                <a:cs typeface="B Koodak" panose="00000700000000000000" pitchFamily="2" charset="-78"/>
              </a:rPr>
              <a:t>تمرین 2: یک الاکلنگ یا منجنیق بسازید!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راهنمایی: </a:t>
            </a:r>
            <a:r>
              <a:rPr lang="en-US" sz="2000" dirty="0">
                <a:cs typeface="B Koodak" panose="00000700000000000000" pitchFamily="2" charset="-78"/>
              </a:rPr>
              <a:t>Target Joint 2D</a:t>
            </a: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5493591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کلیدهای لمسی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گرافیک کلید خود را طراحی کنید</a:t>
            </a:r>
          </a:p>
          <a:p>
            <a:pPr algn="r" rtl="1"/>
            <a:r>
              <a:rPr lang="fa-IR" sz="2000" dirty="0">
                <a:cs typeface="B Koodak" panose="00000700000000000000" pitchFamily="2" charset="-78"/>
              </a:rPr>
              <a:t>از مسیر </a:t>
            </a:r>
            <a:endParaRPr lang="en-US" sz="2000" dirty="0">
              <a:cs typeface="B Koodak" panose="00000700000000000000" pitchFamily="2" charset="-78"/>
            </a:endParaRPr>
          </a:p>
          <a:p>
            <a:pPr marL="0" indent="0" algn="l">
              <a:buNone/>
            </a:pPr>
            <a:r>
              <a:rPr lang="en-US" sz="2000" dirty="0">
                <a:cs typeface="B Koodak" panose="00000700000000000000" pitchFamily="2" charset="-78"/>
              </a:rPr>
              <a:t>Hierarchy&gt; </a:t>
            </a:r>
            <a:r>
              <a:rPr lang="fa-IR" sz="2000" dirty="0">
                <a:cs typeface="B Koodak" panose="00000700000000000000" pitchFamily="2" charset="-78"/>
              </a:rPr>
              <a:t>راست کلیک</a:t>
            </a:r>
            <a:r>
              <a:rPr lang="en-US" sz="2000" dirty="0">
                <a:cs typeface="B Koodak" panose="00000700000000000000" pitchFamily="2" charset="-78"/>
              </a:rPr>
              <a:t>&gt; UI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یک </a:t>
            </a:r>
            <a:r>
              <a:rPr lang="en-US" sz="2000" dirty="0">
                <a:cs typeface="B Koodak" panose="00000700000000000000" pitchFamily="2" charset="-78"/>
              </a:rPr>
              <a:t>Canvas</a:t>
            </a:r>
            <a:r>
              <a:rPr lang="fa-IR" sz="2000" dirty="0">
                <a:cs typeface="B Koodak" panose="00000700000000000000" pitchFamily="2" charset="-78"/>
              </a:rPr>
              <a:t> ایجاد و از مسیر</a:t>
            </a:r>
          </a:p>
          <a:p>
            <a:pPr marL="0" indent="0">
              <a:buNone/>
            </a:pPr>
            <a:r>
              <a:rPr lang="en-US" sz="2000" dirty="0">
                <a:cs typeface="B Koodak" panose="00000700000000000000" pitchFamily="2" charset="-78"/>
              </a:rPr>
              <a:t>Hierarchy&gt; Canvas&gt; </a:t>
            </a:r>
            <a:r>
              <a:rPr lang="fa-IR" sz="2000" dirty="0">
                <a:cs typeface="B Koodak" panose="00000700000000000000" pitchFamily="2" charset="-78"/>
              </a:rPr>
              <a:t>راست کلیک</a:t>
            </a:r>
            <a:r>
              <a:rPr lang="en-US" sz="2000" dirty="0">
                <a:cs typeface="B Koodak" panose="00000700000000000000" pitchFamily="2" charset="-78"/>
              </a:rPr>
              <a:t>&gt; UI</a:t>
            </a: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یک </a:t>
            </a:r>
            <a:r>
              <a:rPr lang="en-US" sz="2000" dirty="0">
                <a:cs typeface="B Koodak" panose="00000700000000000000" pitchFamily="2" charset="-78"/>
              </a:rPr>
              <a:t>Button</a:t>
            </a:r>
            <a:r>
              <a:rPr lang="fa-IR" sz="2000" dirty="0">
                <a:cs typeface="B Koodak" panose="00000700000000000000" pitchFamily="2" charset="-78"/>
              </a:rPr>
              <a:t> زیر مجموعه </a:t>
            </a:r>
            <a:r>
              <a:rPr lang="en-US" sz="2000" dirty="0">
                <a:cs typeface="B Koodak" panose="00000700000000000000" pitchFamily="2" charset="-78"/>
              </a:rPr>
              <a:t>Canvas</a:t>
            </a:r>
            <a:r>
              <a:rPr lang="fa-IR" sz="2000" dirty="0">
                <a:cs typeface="B Koodak" panose="00000700000000000000" pitchFamily="2" charset="-78"/>
              </a:rPr>
              <a:t> ایجاد 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و در نهایت یک </a:t>
            </a:r>
            <a:r>
              <a:rPr lang="en-US" sz="2000" dirty="0" err="1">
                <a:cs typeface="B Koodak" panose="00000700000000000000" pitchFamily="2" charset="-78"/>
              </a:rPr>
              <a:t>GameObject</a:t>
            </a:r>
            <a:r>
              <a:rPr lang="fa-IR" sz="2000" dirty="0">
                <a:cs typeface="B Koodak" panose="00000700000000000000" pitchFamily="2" charset="-78"/>
              </a:rPr>
              <a:t> خالی را به زیر مجموعه کلید خود اضافه کنید</a:t>
            </a:r>
            <a:endParaRPr lang="en-US" sz="2000" dirty="0">
              <a:cs typeface="B Koodak" panose="00000700000000000000" pitchFamily="2" charset="-78"/>
            </a:endParaRPr>
          </a:p>
          <a:p>
            <a:pPr algn="r" rtl="1"/>
            <a:r>
              <a:rPr lang="fa-IR" sz="2000" dirty="0">
                <a:cs typeface="B Koodak" panose="00000700000000000000" pitchFamily="2" charset="-78"/>
              </a:rPr>
              <a:t>گرافیک کلید خود را از قسمت  </a:t>
            </a:r>
            <a:r>
              <a:rPr lang="en-US" sz="2000" dirty="0">
                <a:cs typeface="B Koodak" panose="00000700000000000000" pitchFamily="2" charset="-78"/>
              </a:rPr>
              <a:t>Source Image</a:t>
            </a:r>
            <a:r>
              <a:rPr lang="fa-IR" sz="2000" dirty="0">
                <a:cs typeface="B Koodak" panose="00000700000000000000" pitchFamily="2" charset="-78"/>
              </a:rPr>
              <a:t> اضافه کنید و موقعیت مکانی آن را تنظیم کنید</a:t>
            </a:r>
          </a:p>
        </p:txBody>
      </p:sp>
    </p:spTree>
    <p:extLst>
      <p:ext uri="{BB962C8B-B14F-4D97-AF65-F5344CB8AC3E}">
        <p14:creationId xmlns:p14="http://schemas.microsoft.com/office/powerpoint/2010/main" val="9735452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کلیدهای لمسی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75" b="27729"/>
          <a:stretch/>
        </p:blipFill>
        <p:spPr>
          <a:xfrm>
            <a:off x="1722806" y="2357005"/>
            <a:ext cx="2547257" cy="40870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106" y="3499337"/>
            <a:ext cx="2029108" cy="17909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1257" y="2351313"/>
            <a:ext cx="3115110" cy="4305901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494315" y="3248849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893526" y="4144324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8233568" y="2339496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01257" y="5172891"/>
            <a:ext cx="2995886" cy="20900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5003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کلیدهای لمسی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یک اسکریپت جدید ایجاد و به</a:t>
            </a:r>
            <a:r>
              <a:rPr lang="en-US" sz="2000" dirty="0">
                <a:cs typeface="B Koodak" panose="00000700000000000000" pitchFamily="2" charset="-78"/>
              </a:rPr>
              <a:t> </a:t>
            </a:r>
            <a:r>
              <a:rPr lang="fa-IR" sz="2000" dirty="0">
                <a:cs typeface="B Koodak" panose="00000700000000000000" pitchFamily="2" charset="-78"/>
              </a:rPr>
              <a:t> </a:t>
            </a:r>
            <a:r>
              <a:rPr lang="en-US" sz="2000" dirty="0" err="1">
                <a:cs typeface="B Koodak" panose="00000700000000000000" pitchFamily="2" charset="-78"/>
              </a:rPr>
              <a:t>GameObject</a:t>
            </a:r>
            <a:r>
              <a:rPr lang="fa-IR" sz="2000" dirty="0">
                <a:cs typeface="B Koodak" panose="00000700000000000000" pitchFamily="2" charset="-78"/>
              </a:rPr>
              <a:t> خالی متصل کنید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b="1" dirty="0"/>
              <a:t>Touch</a:t>
            </a:r>
            <a:r>
              <a:rPr lang="en-US" dirty="0"/>
              <a:t> : </a:t>
            </a:r>
            <a:r>
              <a:rPr lang="en-US" dirty="0" err="1"/>
              <a:t>MonoBehaviour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private Player </a:t>
            </a:r>
            <a:r>
              <a:rPr lang="en-US" b="1" dirty="0" err="1"/>
              <a:t>player</a:t>
            </a:r>
            <a:r>
              <a:rPr lang="en-US" b="1" dirty="0"/>
              <a:t>;</a:t>
            </a:r>
          </a:p>
          <a:p>
            <a:pPr marL="0" indent="0">
              <a:buNone/>
            </a:pPr>
            <a:r>
              <a:rPr lang="en-US" dirty="0"/>
              <a:t>void Start () {</a:t>
            </a:r>
          </a:p>
          <a:p>
            <a:pPr marL="0" indent="0">
              <a:buNone/>
            </a:pPr>
            <a:r>
              <a:rPr lang="en-US" b="1" dirty="0"/>
              <a:t>        player=</a:t>
            </a:r>
            <a:r>
              <a:rPr lang="en-US" b="1" dirty="0" err="1"/>
              <a:t>FindObjectOfType</a:t>
            </a:r>
            <a:r>
              <a:rPr lang="en-US" b="1" dirty="0"/>
              <a:t>&lt;Player&gt;();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public void </a:t>
            </a:r>
            <a:r>
              <a:rPr lang="en-US" b="1" dirty="0" err="1"/>
              <a:t>RightDown</a:t>
            </a:r>
            <a:r>
              <a:rPr lang="en-US" b="1" dirty="0"/>
              <a:t> () </a:t>
            </a:r>
            <a:r>
              <a:rPr lang="en-US" dirty="0"/>
              <a:t>{      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b="1" dirty="0" err="1"/>
              <a:t>player.right</a:t>
            </a:r>
            <a:r>
              <a:rPr lang="en-US" b="1" dirty="0"/>
              <a:t> = true;      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public void </a:t>
            </a:r>
            <a:r>
              <a:rPr lang="en-US" b="1" dirty="0" err="1"/>
              <a:t>RightUp</a:t>
            </a:r>
            <a:r>
              <a:rPr lang="en-US" b="1" dirty="0"/>
              <a:t>()   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/>
              <a:t>player.right</a:t>
            </a:r>
            <a:r>
              <a:rPr lang="en-US" b="1" dirty="0"/>
              <a:t> = false;</a:t>
            </a:r>
            <a:endParaRPr lang="fa-IR" b="1" dirty="0"/>
          </a:p>
          <a:p>
            <a:pPr marL="0" indent="0">
              <a:buNone/>
            </a:pPr>
            <a:r>
              <a:rPr lang="en-US" dirty="0"/>
              <a:t>}}</a:t>
            </a:r>
            <a:endParaRPr lang="fa-IR" sz="2000" dirty="0">
              <a:cs typeface="B Koodak" panose="00000700000000000000" pitchFamily="2" charset="-78"/>
            </a:endParaRPr>
          </a:p>
        </p:txBody>
      </p:sp>
      <p:sp>
        <p:nvSpPr>
          <p:cNvPr id="3" name="Oval 2"/>
          <p:cNvSpPr/>
          <p:nvPr/>
        </p:nvSpPr>
        <p:spPr>
          <a:xfrm>
            <a:off x="2468880" y="4833257"/>
            <a:ext cx="600891" cy="5094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>
            <a:stCxn id="3" idx="5"/>
          </p:cNvCxnSpPr>
          <p:nvPr/>
        </p:nvCxnSpPr>
        <p:spPr>
          <a:xfrm flipV="1">
            <a:off x="2981773" y="4846320"/>
            <a:ext cx="3588844" cy="421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0" y="4349931"/>
            <a:ext cx="28868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b="1" dirty="0">
                <a:cs typeface="B Koodak" panose="00000700000000000000" pitchFamily="2" charset="-78"/>
              </a:rPr>
              <a:t>public bool right;</a:t>
            </a:r>
            <a:endParaRPr lang="fa-IR" b="1" dirty="0">
              <a:cs typeface="B Koodak" panose="00000700000000000000" pitchFamily="2" charset="-78"/>
            </a:endParaRP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را با مقدار اولیه </a:t>
            </a:r>
            <a:r>
              <a:rPr lang="en-US" dirty="0">
                <a:cs typeface="B Koodak" panose="00000700000000000000" pitchFamily="2" charset="-78"/>
              </a:rPr>
              <a:t>false</a:t>
            </a:r>
            <a:r>
              <a:rPr lang="fa-IR" dirty="0">
                <a:cs typeface="B Koodak" panose="00000700000000000000" pitchFamily="2" charset="-78"/>
              </a:rPr>
              <a:t> در </a:t>
            </a:r>
            <a:r>
              <a:rPr lang="en-US" dirty="0">
                <a:cs typeface="B Koodak" panose="00000700000000000000" pitchFamily="2" charset="-78"/>
              </a:rPr>
              <a:t>start()</a:t>
            </a:r>
            <a:r>
              <a:rPr lang="fa-IR" dirty="0">
                <a:cs typeface="B Koodak" panose="00000700000000000000" pitchFamily="2" charset="-78"/>
              </a:rPr>
              <a:t> اسکریپت بازیکن (</a:t>
            </a:r>
            <a:r>
              <a:rPr lang="en-US" dirty="0">
                <a:cs typeface="B Koodak" panose="00000700000000000000" pitchFamily="2" charset="-78"/>
              </a:rPr>
              <a:t> (Player</a:t>
            </a:r>
            <a:r>
              <a:rPr lang="fa-IR" dirty="0">
                <a:cs typeface="B Koodak" panose="00000700000000000000" pitchFamily="2" charset="-78"/>
              </a:rPr>
              <a:t> </a:t>
            </a:r>
          </a:p>
          <a:p>
            <a:pPr algn="r" rtl="1"/>
            <a:r>
              <a:rPr lang="fa-IR" dirty="0">
                <a:cs typeface="B Koodak" panose="00000700000000000000" pitchFamily="2" charset="-78"/>
              </a:rPr>
              <a:t>اضافه کنید</a:t>
            </a:r>
            <a:r>
              <a:rPr lang="en-US" dirty="0">
                <a:cs typeface="B Koodak" panose="00000700000000000000" pitchFamily="2" charset="-7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42983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کلیدهای لمسی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کامپوننت </a:t>
            </a:r>
            <a:r>
              <a:rPr lang="en-US" sz="2000" dirty="0">
                <a:cs typeface="B Koodak" panose="00000700000000000000" pitchFamily="2" charset="-78"/>
              </a:rPr>
              <a:t>Event </a:t>
            </a:r>
            <a:r>
              <a:rPr lang="en-US" sz="2000" dirty="0" err="1">
                <a:cs typeface="B Koodak" panose="00000700000000000000" pitchFamily="2" charset="-78"/>
              </a:rPr>
              <a:t>Trriger</a:t>
            </a:r>
            <a:r>
              <a:rPr lang="fa-IR" sz="2000" dirty="0">
                <a:cs typeface="B Koodak" panose="00000700000000000000" pitchFamily="2" charset="-78"/>
              </a:rPr>
              <a:t> را به </a:t>
            </a:r>
            <a:r>
              <a:rPr lang="en-US" sz="2000" dirty="0">
                <a:cs typeface="B Koodak" panose="00000700000000000000" pitchFamily="2" charset="-78"/>
              </a:rPr>
              <a:t>button</a:t>
            </a:r>
            <a:r>
              <a:rPr lang="fa-IR" sz="2000" dirty="0">
                <a:cs typeface="B Koodak" panose="00000700000000000000" pitchFamily="2" charset="-78"/>
              </a:rPr>
              <a:t> اضافه کنید</a:t>
            </a:r>
          </a:p>
          <a:p>
            <a:pPr algn="r" rtl="1"/>
            <a:r>
              <a:rPr lang="fa-IR" sz="2000" dirty="0">
                <a:cs typeface="B Koodak" panose="00000700000000000000" pitchFamily="2" charset="-78"/>
              </a:rPr>
              <a:t>از طریق </a:t>
            </a:r>
            <a:r>
              <a:rPr lang="en-US" sz="2000" dirty="0">
                <a:cs typeface="B Koodak" panose="00000700000000000000" pitchFamily="2" charset="-78"/>
              </a:rPr>
              <a:t>Add New Event Type</a:t>
            </a:r>
            <a:r>
              <a:rPr lang="fa-IR" sz="2000" dirty="0">
                <a:cs typeface="B Koodak" panose="00000700000000000000" pitchFamily="2" charset="-78"/>
              </a:rPr>
              <a:t> یک رویداد جدید ایجاد کنید</a:t>
            </a:r>
          </a:p>
          <a:p>
            <a:pPr algn="r" rtl="1"/>
            <a:r>
              <a:rPr lang="en-US" sz="2000" dirty="0" err="1">
                <a:cs typeface="B Koodak" panose="00000700000000000000" pitchFamily="2" charset="-78"/>
              </a:rPr>
              <a:t>GameObject</a:t>
            </a:r>
            <a:r>
              <a:rPr lang="fa-IR" sz="2000" dirty="0">
                <a:cs typeface="B Koodak" panose="00000700000000000000" pitchFamily="2" charset="-78"/>
              </a:rPr>
              <a:t> خالی را به رویداد متصل و تابع مربوط را انتخاب کنید</a:t>
            </a:r>
          </a:p>
          <a:p>
            <a:pPr algn="r" rtl="1"/>
            <a:endParaRPr lang="fa-IR" sz="2000" dirty="0">
              <a:cs typeface="B Koodak" panose="00000700000000000000" pitchFamily="2" charset="-78"/>
            </a:endParaRPr>
          </a:p>
          <a:p>
            <a:pPr algn="r" rtl="1"/>
            <a:endParaRPr lang="fa-IR" sz="2000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4"/>
          <a:stretch/>
        </p:blipFill>
        <p:spPr>
          <a:xfrm>
            <a:off x="1983194" y="4880665"/>
            <a:ext cx="2953162" cy="4146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4596" y="3935297"/>
            <a:ext cx="2953162" cy="230537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85709" y="4532810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8275321" y="4407566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5148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کلیدهای لمسی</a:t>
            </a:r>
            <a:endParaRPr lang="en-US" dirty="0">
              <a:cs typeface="B Titr" panose="00000700000000000000" pitchFamily="2" charset="-78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تمرین 1: بازی شلیک توپ را بسازید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کاربر بتواند زاویه و سرعت شلیک را تغییر دهد و با فشار دادن یک کلید لمسی، شلیک انجام شود </a:t>
            </a:r>
          </a:p>
          <a:p>
            <a:pPr algn="r" rtl="1"/>
            <a:endParaRPr lang="fa-IR" sz="2000" dirty="0">
              <a:cs typeface="B Koodak" panose="00000700000000000000" pitchFamily="2" charset="-78"/>
            </a:endParaRPr>
          </a:p>
          <a:p>
            <a:pPr algn="r" rtl="1"/>
            <a:endParaRPr lang="fa-IR" sz="2000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293514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ساختار بازی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ساخت منوی انتخاب مراحل بازی</a:t>
            </a:r>
          </a:p>
          <a:p>
            <a:pPr algn="r" rtl="1"/>
            <a:r>
              <a:rPr lang="fa-IR" sz="2000" dirty="0">
                <a:cs typeface="B Koodak" panose="00000700000000000000" pitchFamily="2" charset="-78"/>
              </a:rPr>
              <a:t>گام اول: دو مرحله (</a:t>
            </a:r>
            <a:r>
              <a:rPr lang="en-US" sz="2000" dirty="0">
                <a:cs typeface="B Koodak" panose="00000700000000000000" pitchFamily="2" charset="-78"/>
              </a:rPr>
              <a:t>Scene</a:t>
            </a:r>
            <a:r>
              <a:rPr lang="fa-IR" sz="2000" dirty="0">
                <a:cs typeface="B Koodak" panose="00000700000000000000" pitchFamily="2" charset="-78"/>
              </a:rPr>
              <a:t>) جداگانه در یک پروژه ایجاد و ذخیره کنید</a:t>
            </a:r>
          </a:p>
          <a:p>
            <a:pPr algn="r" rtl="1"/>
            <a:r>
              <a:rPr lang="fa-IR" sz="2000" dirty="0">
                <a:cs typeface="B Koodak" panose="00000700000000000000" pitchFamily="2" charset="-78"/>
              </a:rPr>
              <a:t>گام دوم: ا زمسیر </a:t>
            </a:r>
            <a:r>
              <a:rPr lang="en-US" sz="2000" dirty="0">
                <a:cs typeface="B Koodak" panose="00000700000000000000" pitchFamily="2" charset="-78"/>
              </a:rPr>
              <a:t>File&gt; Build Settings</a:t>
            </a:r>
            <a:r>
              <a:rPr lang="fa-IR" sz="2000" dirty="0">
                <a:cs typeface="B Koodak" panose="00000700000000000000" pitchFamily="2" charset="-78"/>
              </a:rPr>
              <a:t> مراحل را به ساختار بازی اضافه کنید</a:t>
            </a:r>
            <a:r>
              <a:rPr lang="en-US" sz="2000" dirty="0">
                <a:cs typeface="B Koodak" panose="00000700000000000000" pitchFamily="2" charset="-78"/>
              </a:rPr>
              <a:t> </a:t>
            </a: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en-US" sz="2000" dirty="0">
                <a:cs typeface="B Koodak" panose="00000700000000000000" pitchFamily="2" charset="-78"/>
              </a:rPr>
              <a:t>)</a:t>
            </a:r>
            <a:r>
              <a:rPr lang="fa-IR" sz="2000" dirty="0">
                <a:cs typeface="B Koodak" panose="00000700000000000000" pitchFamily="2" charset="-78"/>
              </a:rPr>
              <a:t>صحنه‌های ساخته شده را به کادر </a:t>
            </a:r>
            <a:r>
              <a:rPr lang="en-US" sz="2000" dirty="0">
                <a:cs typeface="B Koodak" panose="00000700000000000000" pitchFamily="2" charset="-78"/>
              </a:rPr>
              <a:t>Scenes Is Build</a:t>
            </a:r>
            <a:r>
              <a:rPr lang="fa-IR" sz="2000" dirty="0">
                <a:cs typeface="B Koodak" panose="00000700000000000000" pitchFamily="2" charset="-78"/>
              </a:rPr>
              <a:t> بکشید و رها کنید)</a:t>
            </a:r>
          </a:p>
          <a:p>
            <a:pPr algn="r" rtl="1"/>
            <a:r>
              <a:rPr lang="fa-IR" sz="2000" dirty="0">
                <a:cs typeface="B Koodak" panose="00000700000000000000" pitchFamily="2" charset="-78"/>
              </a:rPr>
              <a:t>گام سوم: یک صحنه جدید برای منوی انتخاب مراحل ایجاد کنید. 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مثلا شکل زیر:</a:t>
            </a: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algn="r" rtl="1"/>
            <a:endParaRPr lang="fa-IR" sz="2000" dirty="0">
              <a:cs typeface="B Koodak" panose="00000700000000000000" pitchFamily="2" charset="-78"/>
            </a:endParaRPr>
          </a:p>
          <a:p>
            <a:pPr algn="r" rtl="1"/>
            <a:endParaRPr lang="fa-IR" sz="2000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586" y="4532810"/>
            <a:ext cx="4858428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718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ساختار بازی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گام چهارم : کد </a:t>
            </a:r>
            <a:r>
              <a:rPr lang="en-US" sz="2000" dirty="0">
                <a:cs typeface="B Koodak" panose="00000700000000000000" pitchFamily="2" charset="-78"/>
              </a:rPr>
              <a:t>Selector</a:t>
            </a:r>
            <a:r>
              <a:rPr lang="fa-IR" sz="2000" dirty="0">
                <a:cs typeface="B Koodak" panose="00000700000000000000" pitchFamily="2" charset="-78"/>
              </a:rPr>
              <a:t> (قاب زرد رنگ این مثال)</a:t>
            </a:r>
          </a:p>
          <a:p>
            <a:pPr marL="0" indent="0">
              <a:buNone/>
            </a:pPr>
            <a:r>
              <a:rPr lang="en-US" dirty="0"/>
              <a:t>public class Selector : </a:t>
            </a:r>
            <a:r>
              <a:rPr lang="en-US" dirty="0" err="1"/>
              <a:t>MonoBehaviour</a:t>
            </a: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public bool </a:t>
            </a:r>
            <a:r>
              <a:rPr lang="en-US" b="1" dirty="0" err="1"/>
              <a:t>goRight</a:t>
            </a:r>
            <a:r>
              <a:rPr lang="en-US" b="1" dirty="0"/>
              <a:t>;    public/private string </a:t>
            </a:r>
            <a:r>
              <a:rPr lang="en-US" b="1" dirty="0" err="1"/>
              <a:t>levelChoice</a:t>
            </a:r>
            <a:r>
              <a:rPr lang="en-US" b="1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Start()    {    </a:t>
            </a:r>
            <a:r>
              <a:rPr lang="en-US" b="1" dirty="0" err="1"/>
              <a:t>goRight</a:t>
            </a:r>
            <a:r>
              <a:rPr lang="en-US" b="1" dirty="0"/>
              <a:t> = true;    </a:t>
            </a: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void Update()    {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Input.GetKey</a:t>
            </a:r>
            <a:r>
              <a:rPr lang="en-US" dirty="0"/>
              <a:t>(</a:t>
            </a:r>
            <a:r>
              <a:rPr lang="en-US" dirty="0" err="1"/>
              <a:t>KeyCode.RightArrow</a:t>
            </a:r>
            <a:r>
              <a:rPr lang="en-US" dirty="0"/>
              <a:t>) &amp;&amp; </a:t>
            </a:r>
            <a:r>
              <a:rPr lang="en-US" b="1" dirty="0" err="1"/>
              <a:t>goRight</a:t>
            </a:r>
            <a:r>
              <a:rPr lang="en-US" dirty="0"/>
              <a:t>)        {</a:t>
            </a:r>
          </a:p>
          <a:p>
            <a:pPr marL="0" indent="0">
              <a:buNone/>
            </a:pPr>
            <a:r>
              <a:rPr lang="fr-FR" dirty="0"/>
              <a:t>            </a:t>
            </a:r>
            <a:r>
              <a:rPr lang="fr-FR" dirty="0" err="1"/>
              <a:t>transform.position</a:t>
            </a:r>
            <a:r>
              <a:rPr lang="fr-FR" dirty="0"/>
              <a:t> = new Vector2(</a:t>
            </a:r>
            <a:r>
              <a:rPr lang="fr-FR" dirty="0" err="1"/>
              <a:t>transform.position.x</a:t>
            </a:r>
            <a:r>
              <a:rPr lang="fr-FR" dirty="0"/>
              <a:t> + 5, </a:t>
            </a:r>
            <a:r>
              <a:rPr lang="fr-FR" dirty="0" err="1"/>
              <a:t>transform.position.y</a:t>
            </a:r>
            <a:r>
              <a:rPr lang="fr-FR" dirty="0"/>
              <a:t>);</a:t>
            </a:r>
          </a:p>
          <a:p>
            <a:pPr marL="0" indent="0">
              <a:buNone/>
            </a:pPr>
            <a:r>
              <a:rPr lang="en-US" b="1" dirty="0"/>
              <a:t>            </a:t>
            </a:r>
            <a:r>
              <a:rPr lang="en-US" b="1" dirty="0" err="1"/>
              <a:t>goRight</a:t>
            </a:r>
            <a:r>
              <a:rPr lang="en-US" b="1" dirty="0"/>
              <a:t> = false;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Input.GetKey</a:t>
            </a:r>
            <a:r>
              <a:rPr lang="en-US" dirty="0"/>
              <a:t>(</a:t>
            </a:r>
            <a:r>
              <a:rPr lang="en-US" dirty="0" err="1"/>
              <a:t>KeyCode.Space</a:t>
            </a:r>
            <a:r>
              <a:rPr lang="en-US" dirty="0"/>
              <a:t>))        {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dirty="0"/>
              <a:t>Select();</a:t>
            </a:r>
          </a:p>
          <a:p>
            <a:pPr marL="0" indent="0">
              <a:buNone/>
            </a:pPr>
            <a:r>
              <a:rPr lang="en-US" dirty="0"/>
              <a:t>        }    }</a:t>
            </a: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7051121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ساختار بازی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تابع </a:t>
            </a:r>
            <a:r>
              <a:rPr lang="en-US" sz="2000" dirty="0">
                <a:cs typeface="B Koodak" panose="00000700000000000000" pitchFamily="2" charset="-78"/>
              </a:rPr>
              <a:t>Select</a:t>
            </a:r>
            <a:r>
              <a:rPr lang="fa-IR" sz="2000" dirty="0">
                <a:cs typeface="B Koodak" panose="00000700000000000000" pitchFamily="2" charset="-78"/>
              </a:rPr>
              <a:t> +</a:t>
            </a:r>
            <a:r>
              <a:rPr lang="en-US" sz="2000" dirty="0">
                <a:cs typeface="B Koodak" panose="00000700000000000000" pitchFamily="2" charset="-78"/>
              </a:rPr>
              <a:t> </a:t>
            </a:r>
            <a:r>
              <a:rPr lang="fa-IR" sz="2000" dirty="0">
                <a:cs typeface="B Koodak" panose="00000700000000000000" pitchFamily="2" charset="-78"/>
              </a:rPr>
              <a:t> </a:t>
            </a:r>
            <a:r>
              <a:rPr lang="en-US" sz="2000" dirty="0">
                <a:cs typeface="B Koodak" panose="00000700000000000000" pitchFamily="2" charset="-78"/>
              </a:rPr>
              <a:t>OnTriggerEnter2D</a:t>
            </a:r>
            <a:endParaRPr lang="fa-IR" sz="2000" dirty="0">
              <a:cs typeface="B Koodak" panose="00000700000000000000" pitchFamily="2" charset="-78"/>
            </a:endParaRPr>
          </a:p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UnityEngine.SceneManagement</a:t>
            </a:r>
            <a:r>
              <a:rPr lang="en-US" b="1" dirty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public void Select()   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/>
              <a:t>SceneManager.LoadScene</a:t>
            </a:r>
            <a:r>
              <a:rPr lang="en-US" b="1" dirty="0"/>
              <a:t>(</a:t>
            </a:r>
            <a:r>
              <a:rPr lang="en-US" b="1" dirty="0" err="1"/>
              <a:t>levelChoice</a:t>
            </a:r>
            <a:r>
              <a:rPr lang="en-US" b="1" dirty="0"/>
              <a:t>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private void OnTriggerEnter2D(Collider2D collision)   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/>
              <a:t>levelChoice</a:t>
            </a:r>
            <a:r>
              <a:rPr lang="en-US" b="1" dirty="0"/>
              <a:t> = collision.name;</a:t>
            </a:r>
          </a:p>
          <a:p>
            <a:pPr marL="0" indent="0">
              <a:buNone/>
            </a:pPr>
            <a:r>
              <a:rPr lang="en-US" dirty="0"/>
              <a:t>    }}</a:t>
            </a: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910695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ساختار بازی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نکات مهم: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اول : ما فقط کد حرکت به راست را برای </a:t>
            </a:r>
            <a:r>
              <a:rPr lang="en-US" sz="2000" dirty="0">
                <a:cs typeface="B Koodak" panose="00000700000000000000" pitchFamily="2" charset="-78"/>
              </a:rPr>
              <a:t>Selector</a:t>
            </a:r>
            <a:r>
              <a:rPr lang="fa-IR" sz="2000" dirty="0">
                <a:cs typeface="B Koodak" panose="00000700000000000000" pitchFamily="2" charset="-78"/>
              </a:rPr>
              <a:t> (قاب زرد رنگ این مثال) نوشتیم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دوم : تنظیمات جهت تشخیص برخورد </a:t>
            </a:r>
            <a:r>
              <a:rPr lang="en-US" sz="2000" dirty="0">
                <a:cs typeface="B Koodak" panose="00000700000000000000" pitchFamily="2" charset="-78"/>
              </a:rPr>
              <a:t>Selector</a:t>
            </a:r>
            <a:r>
              <a:rPr lang="fa-IR" sz="2000" dirty="0">
                <a:cs typeface="B Koodak" panose="00000700000000000000" pitchFamily="2" charset="-78"/>
              </a:rPr>
              <a:t> با گزینه مراحل از قبیل </a:t>
            </a:r>
            <a:r>
              <a:rPr lang="en-US" sz="2000" dirty="0">
                <a:cs typeface="B Koodak" panose="00000700000000000000" pitchFamily="2" charset="-78"/>
              </a:rPr>
              <a:t>rigidbody2d</a:t>
            </a:r>
            <a:r>
              <a:rPr lang="fa-IR" sz="2000" dirty="0">
                <a:cs typeface="B Koodak" panose="00000700000000000000" pitchFamily="2" charset="-78"/>
              </a:rPr>
              <a:t> و </a:t>
            </a:r>
            <a:r>
              <a:rPr lang="en-US" sz="2000" dirty="0">
                <a:cs typeface="B Koodak" panose="00000700000000000000" pitchFamily="2" charset="-78"/>
              </a:rPr>
              <a:t>boxcollfider2d</a:t>
            </a:r>
            <a:r>
              <a:rPr lang="fa-IR" sz="2000" dirty="0">
                <a:cs typeface="B Koodak" panose="00000700000000000000" pitchFamily="2" charset="-78"/>
              </a:rPr>
              <a:t> و </a:t>
            </a:r>
            <a:r>
              <a:rPr lang="en-US" sz="2000" dirty="0" err="1">
                <a:cs typeface="B Koodak" panose="00000700000000000000" pitchFamily="2" charset="-78"/>
              </a:rPr>
              <a:t>istrigger</a:t>
            </a:r>
            <a:r>
              <a:rPr lang="fa-IR" sz="2000" dirty="0">
                <a:cs typeface="B Koodak" panose="00000700000000000000" pitchFamily="2" charset="-78"/>
              </a:rPr>
              <a:t> و غیره </a:t>
            </a:r>
            <a:r>
              <a:rPr lang="fa-IR" sz="2000">
                <a:cs typeface="B Koodak" panose="00000700000000000000" pitchFamily="2" charset="-78"/>
              </a:rPr>
              <a:t>فراموش نشود!</a:t>
            </a: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سوم : نام مراحل (صحنه) های اصلی با گزینه آنها در منو یکی باشد</a:t>
            </a: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5529991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ساختار بازی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روش ساخت سریع نقشه بازی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برای مثال، قصد داریم یک مسیر مستقیم و طولانی بسازیم</a:t>
            </a:r>
          </a:p>
          <a:p>
            <a:pPr marL="0" indent="0" algn="r" rtl="1">
              <a:buNone/>
            </a:pPr>
            <a:r>
              <a:rPr lang="fa-IR" sz="2000" b="1" dirty="0">
                <a:cs typeface="B Koodak" panose="00000700000000000000" pitchFamily="2" charset="-78"/>
              </a:rPr>
              <a:t>گام اول: 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یک یا چند موزاییک (</a:t>
            </a:r>
            <a:r>
              <a:rPr lang="en-US" sz="2000" dirty="0">
                <a:cs typeface="B Koodak" panose="00000700000000000000" pitchFamily="2" charset="-78"/>
              </a:rPr>
              <a:t>Tile</a:t>
            </a:r>
            <a:r>
              <a:rPr lang="fa-IR" sz="2000" dirty="0">
                <a:cs typeface="B Koodak" panose="00000700000000000000" pitchFamily="2" charset="-78"/>
              </a:rPr>
              <a:t>) برای طراحی محیط بازی نیاز داریم، آن را به صحنه بازی وارد کنید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گام دوم: 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در قسمت منابع بازی (</a:t>
            </a:r>
            <a:r>
              <a:rPr lang="en-US" sz="2000" dirty="0">
                <a:cs typeface="B Koodak" panose="00000700000000000000" pitchFamily="2" charset="-78"/>
              </a:rPr>
              <a:t>Assets</a:t>
            </a:r>
            <a:r>
              <a:rPr lang="fa-IR" sz="2000" dirty="0">
                <a:cs typeface="B Koodak" panose="00000700000000000000" pitchFamily="2" charset="-78"/>
              </a:rPr>
              <a:t>) موزاییک را انتخاب و </a:t>
            </a:r>
            <a:r>
              <a:rPr lang="en-US" sz="2000" dirty="0">
                <a:cs typeface="B Koodak" panose="00000700000000000000" pitchFamily="2" charset="-78"/>
              </a:rPr>
              <a:t>Mesh Type</a:t>
            </a:r>
            <a:r>
              <a:rPr lang="fa-IR" sz="2000" dirty="0">
                <a:cs typeface="B Koodak" panose="00000700000000000000" pitchFamily="2" charset="-78"/>
              </a:rPr>
              <a:t> را روی </a:t>
            </a:r>
            <a:r>
              <a:rPr lang="en-US" sz="2000" dirty="0">
                <a:cs typeface="B Koodak" panose="00000700000000000000" pitchFamily="2" charset="-78"/>
              </a:rPr>
              <a:t>Full </a:t>
            </a:r>
            <a:r>
              <a:rPr lang="en-US" sz="2000" dirty="0" err="1">
                <a:cs typeface="B Koodak" panose="00000700000000000000" pitchFamily="2" charset="-78"/>
              </a:rPr>
              <a:t>Rect</a:t>
            </a:r>
            <a:r>
              <a:rPr lang="fa-IR" sz="2000" dirty="0">
                <a:cs typeface="B Koodak" panose="00000700000000000000" pitchFamily="2" charset="-78"/>
              </a:rPr>
              <a:t> تنظیم کنید</a:t>
            </a:r>
            <a:r>
              <a:rPr lang="en-US" sz="2000" dirty="0">
                <a:cs typeface="B Koodak" panose="00000700000000000000" pitchFamily="2" charset="-78"/>
              </a:rPr>
              <a:t> </a:t>
            </a:r>
            <a:r>
              <a:rPr lang="fa-IR" sz="2000" dirty="0">
                <a:cs typeface="B Koodak" panose="00000700000000000000" pitchFamily="2" charset="-78"/>
              </a:rPr>
              <a:t> و </a:t>
            </a:r>
            <a:r>
              <a:rPr lang="en-US" sz="2000" dirty="0">
                <a:cs typeface="B Koodak" panose="00000700000000000000" pitchFamily="2" charset="-78"/>
              </a:rPr>
              <a:t>apply</a:t>
            </a:r>
            <a:r>
              <a:rPr lang="fa-IR" sz="2000" dirty="0">
                <a:cs typeface="B Koodak" panose="00000700000000000000" pitchFamily="2" charset="-78"/>
              </a:rPr>
              <a:t> را بزنید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گام سوم: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 موزاییک را در صحنه بازی انتخاب و از </a:t>
            </a:r>
            <a:r>
              <a:rPr lang="en-US" sz="2000" dirty="0">
                <a:cs typeface="B Koodak" panose="00000700000000000000" pitchFamily="2" charset="-78"/>
              </a:rPr>
              <a:t>Inspector</a:t>
            </a:r>
            <a:r>
              <a:rPr lang="fa-IR" sz="2000" dirty="0">
                <a:cs typeface="B Koodak" panose="00000700000000000000" pitchFamily="2" charset="-78"/>
              </a:rPr>
              <a:t> قسمت </a:t>
            </a:r>
            <a:r>
              <a:rPr lang="en-US" sz="2000" dirty="0">
                <a:cs typeface="B Koodak" panose="00000700000000000000" pitchFamily="2" charset="-78"/>
              </a:rPr>
              <a:t>Sprite Render</a:t>
            </a:r>
            <a:r>
              <a:rPr lang="fa-IR" sz="2000" dirty="0">
                <a:cs typeface="B Koodak" panose="00000700000000000000" pitchFamily="2" charset="-78"/>
              </a:rPr>
              <a:t> گزینه</a:t>
            </a:r>
            <a:r>
              <a:rPr lang="en-US" sz="2000" dirty="0">
                <a:cs typeface="B Koodak" panose="00000700000000000000" pitchFamily="2" charset="-78"/>
              </a:rPr>
              <a:t> </a:t>
            </a:r>
            <a:r>
              <a:rPr lang="fa-IR" sz="2000" dirty="0">
                <a:cs typeface="B Koodak" panose="00000700000000000000" pitchFamily="2" charset="-78"/>
              </a:rPr>
              <a:t> </a:t>
            </a:r>
            <a:r>
              <a:rPr lang="en-US" sz="2000" dirty="0">
                <a:cs typeface="B Koodak" panose="00000700000000000000" pitchFamily="2" charset="-78"/>
              </a:rPr>
              <a:t>Draw Mode</a:t>
            </a:r>
            <a:r>
              <a:rPr lang="fa-IR" sz="2000" dirty="0">
                <a:cs typeface="B Koodak" panose="00000700000000000000" pitchFamily="2" charset="-78"/>
              </a:rPr>
              <a:t> را روی حالت </a:t>
            </a:r>
            <a:r>
              <a:rPr lang="en-US" sz="2000" dirty="0">
                <a:cs typeface="B Koodak" panose="00000700000000000000" pitchFamily="2" charset="-78"/>
              </a:rPr>
              <a:t>Tile</a:t>
            </a:r>
            <a:r>
              <a:rPr lang="fa-IR" sz="2000" dirty="0">
                <a:cs typeface="B Koodak" panose="00000700000000000000" pitchFamily="2" charset="-78"/>
              </a:rPr>
              <a:t> تنظیم کنید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گام آخر: 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در </a:t>
            </a:r>
            <a:r>
              <a:rPr lang="en-US" sz="2000" dirty="0">
                <a:cs typeface="B Koodak" panose="00000700000000000000" pitchFamily="2" charset="-78"/>
              </a:rPr>
              <a:t>Sprite Render</a:t>
            </a:r>
            <a:r>
              <a:rPr lang="fa-IR" sz="2000" dirty="0">
                <a:cs typeface="B Koodak" panose="00000700000000000000" pitchFamily="2" charset="-78"/>
              </a:rPr>
              <a:t> مقدار عدد </a:t>
            </a:r>
            <a:r>
              <a:rPr lang="en-US" sz="2000" dirty="0">
                <a:cs typeface="B Koodak" panose="00000700000000000000" pitchFamily="2" charset="-78"/>
              </a:rPr>
              <a:t>width</a:t>
            </a:r>
            <a:r>
              <a:rPr lang="fa-IR" sz="2000" dirty="0">
                <a:cs typeface="B Koodak" panose="00000700000000000000" pitchFamily="2" charset="-78"/>
              </a:rPr>
              <a:t> را افزایش دهید</a:t>
            </a: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277" y="2586444"/>
            <a:ext cx="1388886" cy="138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3331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ساختار بازی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454" y="2212751"/>
            <a:ext cx="3124636" cy="44964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581" y="3360673"/>
            <a:ext cx="3067478" cy="22005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40526" y="3605349"/>
            <a:ext cx="2913017" cy="27432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409406" y="6479177"/>
            <a:ext cx="460684" cy="23000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4020708" y="4158280"/>
            <a:ext cx="3067478" cy="2308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4020708" y="4389119"/>
            <a:ext cx="2085784" cy="35269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678" y="3547134"/>
            <a:ext cx="4748391" cy="182766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789907" y="3421890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3284162" y="6337156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3994581" y="3918858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5894834" y="4503298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5454" y="6401633"/>
            <a:ext cx="1156456" cy="372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54" y="5496046"/>
            <a:ext cx="1156456" cy="372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Scene</a:t>
            </a:r>
          </a:p>
        </p:txBody>
      </p:sp>
    </p:spTree>
    <p:extLst>
      <p:ext uri="{BB962C8B-B14F-4D97-AF65-F5344CB8AC3E}">
        <p14:creationId xmlns:p14="http://schemas.microsoft.com/office/powerpoint/2010/main" val="262653814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جلوه ها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a-IR" sz="2000" dirty="0">
                <a:cs typeface="B Koodak" panose="00000700000000000000" pitchFamily="2" charset="-78"/>
              </a:rPr>
              <a:t>انیمیشن:</a:t>
            </a: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گام اول: چند فریم در یک </a:t>
            </a:r>
            <a:r>
              <a:rPr lang="en-US" sz="2000" dirty="0">
                <a:cs typeface="B Koodak" panose="00000700000000000000" pitchFamily="2" charset="-78"/>
              </a:rPr>
              <a:t>Object</a:t>
            </a:r>
            <a:r>
              <a:rPr lang="fa-IR" sz="2000" dirty="0">
                <a:cs typeface="B Koodak" panose="00000700000000000000" pitchFamily="2" charset="-78"/>
              </a:rPr>
              <a:t> نیاز داریم، (برای مثال: فریم های پیاده روی)</a:t>
            </a:r>
            <a:endParaRPr lang="en-US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329" y="3079025"/>
            <a:ext cx="5141237" cy="363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24059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جلوه ها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گام دوم: درمحیط یونیتی (تصویر خود را از منابع بازی انتخاب کنید و طبق مراحل زیر عمل کنید، </a:t>
            </a:r>
            <a:endParaRPr lang="en-US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3141934"/>
            <a:ext cx="2972215" cy="357237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071" y="5082924"/>
            <a:ext cx="3781953" cy="14765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84" t="23993" b="61454"/>
          <a:stretch/>
        </p:blipFill>
        <p:spPr>
          <a:xfrm>
            <a:off x="4529071" y="4105161"/>
            <a:ext cx="2455817" cy="8229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154954" y="4219301"/>
            <a:ext cx="2972215" cy="19283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4127169" y="4297680"/>
            <a:ext cx="401902" cy="1045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87337" y="5403666"/>
            <a:ext cx="935476" cy="2786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3" idx="3"/>
          </p:cNvCxnSpPr>
          <p:nvPr/>
        </p:nvCxnSpPr>
        <p:spPr>
          <a:xfrm flipV="1">
            <a:off x="4122813" y="5489503"/>
            <a:ext cx="406258" cy="53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965960" y="4094057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3057737" y="5265765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6544491" y="6173913"/>
            <a:ext cx="811032" cy="35946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521687" y="5971268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3096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جلوه ها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ادامه</a:t>
            </a:r>
          </a:p>
          <a:p>
            <a:pPr marL="0" indent="0" algn="r" rtl="1">
              <a:buNone/>
            </a:pPr>
            <a:endParaRPr lang="en-US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408" y="2351313"/>
            <a:ext cx="7514621" cy="43801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169" b="73329"/>
          <a:stretch/>
        </p:blipFill>
        <p:spPr>
          <a:xfrm>
            <a:off x="8268789" y="4004251"/>
            <a:ext cx="2899954" cy="150827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18903" y="2521131"/>
            <a:ext cx="431074" cy="2612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stCxn id="8" idx="3"/>
          </p:cNvCxnSpPr>
          <p:nvPr/>
        </p:nvCxnSpPr>
        <p:spPr>
          <a:xfrm>
            <a:off x="1449977" y="2651760"/>
            <a:ext cx="6818812" cy="18896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24927" y="5142296"/>
            <a:ext cx="1317690" cy="2134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029710" y="2309651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>
          <a:xfrm>
            <a:off x="10892129" y="5123790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6036604" y="2335958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1276817" y="2213275"/>
            <a:ext cx="128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60558" y="2513454"/>
            <a:ext cx="431074" cy="26125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6439492" y="2462051"/>
            <a:ext cx="1289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Apply</a:t>
            </a:r>
          </a:p>
        </p:txBody>
      </p:sp>
    </p:spTree>
    <p:extLst>
      <p:ext uri="{BB962C8B-B14F-4D97-AF65-F5344CB8AC3E}">
        <p14:creationId xmlns:p14="http://schemas.microsoft.com/office/powerpoint/2010/main" val="309958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جلوه ها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چیزی شبیه به این</a:t>
            </a: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گام سوم: یکی از فریم ها را به صحنه بازی بکشید و پس از انتخاب آن در صحنه بازی، طبق مراحل زیر عمل کنید</a:t>
            </a: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en-US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16" y="2351313"/>
            <a:ext cx="8526065" cy="8097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6" t="5745" r="47922" b="38816"/>
          <a:stretch/>
        </p:blipFill>
        <p:spPr>
          <a:xfrm>
            <a:off x="866316" y="4128435"/>
            <a:ext cx="1476103" cy="25858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7" r="44859" b="56352"/>
          <a:stretch/>
        </p:blipFill>
        <p:spPr>
          <a:xfrm>
            <a:off x="2631057" y="4128435"/>
            <a:ext cx="4572000" cy="24683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9" b="24231"/>
          <a:stretch/>
        </p:blipFill>
        <p:spPr>
          <a:xfrm>
            <a:off x="7403029" y="4128436"/>
            <a:ext cx="4633273" cy="2468308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154954" y="5343566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25" name="Oval 24"/>
          <p:cNvSpPr/>
          <p:nvPr/>
        </p:nvSpPr>
        <p:spPr>
          <a:xfrm>
            <a:off x="4496992" y="6184115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sp>
        <p:nvSpPr>
          <p:cNvPr id="28" name="Oval 27"/>
          <p:cNvSpPr/>
          <p:nvPr/>
        </p:nvSpPr>
        <p:spPr>
          <a:xfrm>
            <a:off x="9791123" y="5805292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31475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جلوه ها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154954" y="2351313"/>
            <a:ext cx="10013789" cy="4362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None/>
            </a:pPr>
            <a:r>
              <a:rPr lang="fa-IR" sz="2000" dirty="0">
                <a:cs typeface="B Koodak" panose="00000700000000000000" pitchFamily="2" charset="-78"/>
              </a:rPr>
              <a:t>ادامه</a:t>
            </a: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en-US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  <a:p>
            <a:pPr marL="0" indent="0" algn="r" rtl="1">
              <a:buNone/>
            </a:pPr>
            <a:endParaRPr lang="fa-IR" sz="2000" dirty="0">
              <a:cs typeface="B Koodak" panose="000007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71" y="2800514"/>
            <a:ext cx="4363033" cy="31015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0790" y="3921290"/>
            <a:ext cx="2899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پوشه </a:t>
            </a:r>
            <a:r>
              <a:rPr lang="en-US" dirty="0">
                <a:cs typeface="B Koodak" panose="00000700000000000000" pitchFamily="2" charset="-78"/>
              </a:rPr>
              <a:t>Animation</a:t>
            </a:r>
            <a:r>
              <a:rPr lang="fa-IR" dirty="0">
                <a:cs typeface="B Koodak" panose="00000700000000000000" pitchFamily="2" charset="-78"/>
              </a:rPr>
              <a:t> جهت ذخیره انیمیشن های بازی را ایجاد کنید</a:t>
            </a:r>
            <a:endParaRPr lang="en-US" dirty="0">
              <a:cs typeface="B Koodak" panose="00000700000000000000" pitchFamily="2" charset="-78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52651" y="5560550"/>
            <a:ext cx="673540" cy="2998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069" y="3622546"/>
            <a:ext cx="7354326" cy="145752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2499387" y="3571446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1</a:t>
            </a:r>
            <a:endParaRPr lang="en-US" dirty="0"/>
          </a:p>
        </p:txBody>
      </p:sp>
      <p:sp>
        <p:nvSpPr>
          <p:cNvPr id="16" name="Oval 15"/>
          <p:cNvSpPr/>
          <p:nvPr/>
        </p:nvSpPr>
        <p:spPr>
          <a:xfrm>
            <a:off x="3141486" y="5505537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2</a:t>
            </a:r>
            <a:endParaRPr lang="en-US" dirty="0"/>
          </a:p>
        </p:txBody>
      </p:sp>
      <p:cxnSp>
        <p:nvCxnSpPr>
          <p:cNvPr id="13" name="Elbow Connector 12"/>
          <p:cNvCxnSpPr>
            <a:stCxn id="8" idx="2"/>
            <a:endCxn id="11" idx="1"/>
          </p:cNvCxnSpPr>
          <p:nvPr/>
        </p:nvCxnSpPr>
        <p:spPr>
          <a:xfrm rot="5400000" flipH="1" flipV="1">
            <a:off x="3436182" y="4504549"/>
            <a:ext cx="1509125" cy="1202648"/>
          </a:xfrm>
          <a:prstGeom prst="bentConnector4">
            <a:avLst>
              <a:gd name="adj1" fmla="val -15148"/>
              <a:gd name="adj2" fmla="val 6400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29243" y="4518274"/>
            <a:ext cx="3450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فریم های خود را در نوار زمان قرار دهید</a:t>
            </a:r>
            <a:endParaRPr lang="en-US" dirty="0">
              <a:cs typeface="B Koodak" panose="00000700000000000000" pitchFamily="2" charset="-78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585414" y="3820001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3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020831" y="5963051"/>
            <a:ext cx="3450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dirty="0">
                <a:cs typeface="B Koodak" panose="00000700000000000000" pitchFamily="2" charset="-78"/>
              </a:rPr>
              <a:t>بازی را اجرا کنید، تمام!</a:t>
            </a:r>
            <a:endParaRPr lang="en-US" dirty="0">
              <a:cs typeface="B Koodak" panose="00000700000000000000" pitchFamily="2" charset="-78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346252" y="5889223"/>
            <a:ext cx="250488" cy="25048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/>
              <a:t>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78888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Transform</a:t>
            </a:r>
          </a:p>
          <a:p>
            <a:pPr lvl="1"/>
            <a:r>
              <a:rPr lang="en-US" dirty="0"/>
              <a:t>Position</a:t>
            </a:r>
            <a:endParaRPr lang="en-US" dirty="0">
              <a:solidFill>
                <a:schemeClr val="accent6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pPr lvl="2"/>
            <a:r>
              <a:rPr lang="en-US" dirty="0"/>
              <a:t>X </a:t>
            </a:r>
            <a:r>
              <a:rPr lang="fa-IR" sz="1900" dirty="0">
                <a:solidFill>
                  <a:schemeClr val="accent6">
                    <a:lumMod val="75000"/>
                  </a:schemeClr>
                </a:solidFill>
                <a:cs typeface="B Nazanin" panose="00000400000000000000" pitchFamily="2" charset="-78"/>
              </a:rPr>
              <a:t>محور افقی (راست به چپ)</a:t>
            </a:r>
            <a:endParaRPr lang="en-US" dirty="0">
              <a:solidFill>
                <a:schemeClr val="accent6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pPr lvl="2"/>
            <a:r>
              <a:rPr lang="en-US" dirty="0"/>
              <a:t>Y </a:t>
            </a:r>
            <a:r>
              <a:rPr lang="fa-IR" sz="1900" dirty="0">
                <a:solidFill>
                  <a:schemeClr val="accent6">
                    <a:lumMod val="75000"/>
                  </a:schemeClr>
                </a:solidFill>
                <a:cs typeface="B Nazanin" panose="00000400000000000000" pitchFamily="2" charset="-78"/>
              </a:rPr>
              <a:t>محور عمودی (بالا به پایین)</a:t>
            </a:r>
            <a:endParaRPr lang="en-US" dirty="0">
              <a:solidFill>
                <a:schemeClr val="accent6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pPr lvl="2"/>
            <a:r>
              <a:rPr lang="en-US" dirty="0"/>
              <a:t>Z </a:t>
            </a:r>
            <a:r>
              <a:rPr lang="fa-IR" sz="1900" dirty="0">
                <a:solidFill>
                  <a:schemeClr val="accent6">
                    <a:lumMod val="75000"/>
                  </a:schemeClr>
                </a:solidFill>
                <a:cs typeface="B Nazanin" panose="00000400000000000000" pitchFamily="2" charset="-78"/>
              </a:rPr>
              <a:t>محور عمق (دور به نزدیک)</a:t>
            </a:r>
            <a:endParaRPr lang="en-US" sz="1900" dirty="0">
              <a:solidFill>
                <a:schemeClr val="accent6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pPr lvl="1"/>
            <a:r>
              <a:rPr lang="en-US" dirty="0"/>
              <a:t>Rotation </a:t>
            </a:r>
          </a:p>
          <a:p>
            <a:pPr lvl="2"/>
            <a:r>
              <a:rPr lang="en-US" dirty="0"/>
              <a:t>X </a:t>
            </a:r>
            <a:r>
              <a:rPr lang="fa-IR" sz="1500" dirty="0">
                <a:solidFill>
                  <a:schemeClr val="accent6">
                    <a:lumMod val="75000"/>
                  </a:schemeClr>
                </a:solidFill>
                <a:cs typeface="B Nazanin" panose="00000400000000000000" pitchFamily="2" charset="-78"/>
              </a:rPr>
              <a:t>چرخش نسبت به محور افقی</a:t>
            </a:r>
            <a:endParaRPr lang="en-US" sz="1500" dirty="0">
              <a:solidFill>
                <a:schemeClr val="accent6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pPr lvl="2"/>
            <a:r>
              <a:rPr lang="en-US" dirty="0"/>
              <a:t>Y </a:t>
            </a:r>
            <a:r>
              <a:rPr lang="fa-IR" sz="1900" dirty="0">
                <a:solidFill>
                  <a:schemeClr val="accent6">
                    <a:lumMod val="75000"/>
                  </a:schemeClr>
                </a:solidFill>
                <a:cs typeface="B Nazanin" panose="00000400000000000000" pitchFamily="2" charset="-78"/>
              </a:rPr>
              <a:t>چرخش نسبت به محور عمودی</a:t>
            </a:r>
            <a:endParaRPr lang="en-US" sz="1900" dirty="0">
              <a:solidFill>
                <a:schemeClr val="accent6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pPr lvl="2"/>
            <a:r>
              <a:rPr lang="en-US" dirty="0">
                <a:highlight>
                  <a:srgbClr val="FFFF00"/>
                </a:highlight>
              </a:rPr>
              <a:t>Z  </a:t>
            </a:r>
            <a:r>
              <a:rPr lang="fa-IR" sz="19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cs typeface="B Nazanin" panose="00000400000000000000" pitchFamily="2" charset="-78"/>
              </a:rPr>
              <a:t>چرخش به چپ و راست</a:t>
            </a:r>
            <a:endParaRPr lang="en-US" sz="1900" dirty="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cs typeface="B Nazanin" panose="00000400000000000000" pitchFamily="2" charset="-78"/>
            </a:endParaRPr>
          </a:p>
          <a:p>
            <a:pPr lvl="1"/>
            <a:r>
              <a:rPr lang="en-US" dirty="0"/>
              <a:t>Scale </a:t>
            </a:r>
          </a:p>
          <a:p>
            <a:pPr lvl="2"/>
            <a:r>
              <a:rPr lang="en-US" dirty="0"/>
              <a:t>X </a:t>
            </a:r>
            <a:r>
              <a:rPr lang="fa-IR" sz="1500" dirty="0">
                <a:solidFill>
                  <a:schemeClr val="accent6">
                    <a:lumMod val="75000"/>
                  </a:schemeClr>
                </a:solidFill>
                <a:cs typeface="B Nazanin" panose="00000400000000000000" pitchFamily="2" charset="-78"/>
              </a:rPr>
              <a:t>عرض آبجکت</a:t>
            </a:r>
            <a:endParaRPr lang="en-US" sz="1500" dirty="0">
              <a:solidFill>
                <a:schemeClr val="accent6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pPr lvl="2"/>
            <a:r>
              <a:rPr lang="en-US" dirty="0"/>
              <a:t>Y </a:t>
            </a:r>
            <a:r>
              <a:rPr lang="fa-IR" sz="1900" dirty="0">
                <a:solidFill>
                  <a:schemeClr val="accent6">
                    <a:lumMod val="75000"/>
                  </a:schemeClr>
                </a:solidFill>
                <a:cs typeface="B Nazanin" panose="00000400000000000000" pitchFamily="2" charset="-78"/>
              </a:rPr>
              <a:t>ارتفاع آبجکت</a:t>
            </a:r>
            <a:endParaRPr lang="en-US" sz="1900" dirty="0">
              <a:solidFill>
                <a:schemeClr val="accent6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pPr lvl="2"/>
            <a:r>
              <a:rPr lang="en-US" dirty="0">
                <a:highlight>
                  <a:srgbClr val="FFFF00"/>
                </a:highlight>
              </a:rPr>
              <a:t>Z </a:t>
            </a:r>
            <a:r>
              <a:rPr lang="fa-IR" sz="1900" dirty="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cs typeface="B Nazanin" panose="00000400000000000000" pitchFamily="2" charset="-78"/>
              </a:rPr>
              <a:t>کاربرد چندانی در محیط دو بعدی ندارد</a:t>
            </a:r>
            <a:endParaRPr lang="en-US" sz="1900" dirty="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cs typeface="B Nazanin" panose="00000400000000000000" pitchFamily="2" charset="-78"/>
            </a:endParaRPr>
          </a:p>
          <a:p>
            <a:pPr marL="914400" lvl="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BE285B-68A7-639A-8B2E-DAE5C9DF5349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Sprite Renderer</a:t>
            </a:r>
          </a:p>
          <a:p>
            <a:pPr lvl="1"/>
            <a:r>
              <a:rPr lang="en-US" dirty="0"/>
              <a:t>Sprite</a:t>
            </a:r>
          </a:p>
          <a:p>
            <a:pPr lvl="1"/>
            <a:r>
              <a:rPr lang="en-US" dirty="0"/>
              <a:t>Color</a:t>
            </a:r>
          </a:p>
          <a:p>
            <a:pPr lvl="1"/>
            <a:r>
              <a:rPr lang="en-US" dirty="0"/>
              <a:t>Flip </a:t>
            </a:r>
            <a:r>
              <a:rPr lang="en-US" sz="2000" dirty="0">
                <a:solidFill>
                  <a:schemeClr val="accent6"/>
                </a:solidFill>
              </a:rPr>
              <a:t>//</a:t>
            </a:r>
            <a:r>
              <a:rPr lang="fa-IR" sz="2000" dirty="0">
                <a:solidFill>
                  <a:schemeClr val="accent6"/>
                </a:solidFill>
              </a:rPr>
              <a:t>قرینه </a:t>
            </a:r>
          </a:p>
          <a:p>
            <a:pPr lvl="2"/>
            <a:r>
              <a:rPr lang="en-US" dirty="0"/>
              <a:t>X</a:t>
            </a:r>
          </a:p>
          <a:p>
            <a:pPr lvl="2"/>
            <a:r>
              <a:rPr lang="en-US" dirty="0"/>
              <a:t>Y</a:t>
            </a:r>
          </a:p>
          <a:p>
            <a:pPr marL="914400" lvl="2" indent="0"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3338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Component-A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5B2BF5-A747-1FE7-01E1-EFDED0BD28F2}"/>
              </a:ext>
            </a:extLst>
          </p:cNvPr>
          <p:cNvSpPr txBox="1">
            <a:spLocks/>
          </p:cNvSpPr>
          <p:nvPr/>
        </p:nvSpPr>
        <p:spPr>
          <a:xfrm>
            <a:off x="838200" y="1768662"/>
            <a:ext cx="5257800" cy="49868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Rigidbody</a:t>
            </a:r>
            <a:r>
              <a:rPr lang="en-US" dirty="0"/>
              <a:t> 2D</a:t>
            </a:r>
          </a:p>
          <a:p>
            <a:pPr lvl="1"/>
            <a:r>
              <a:rPr lang="en-US" dirty="0"/>
              <a:t>Body Type</a:t>
            </a:r>
          </a:p>
          <a:p>
            <a:pPr lvl="2"/>
            <a:r>
              <a:rPr lang="en-US" dirty="0"/>
              <a:t>Dynamic</a:t>
            </a:r>
          </a:p>
          <a:p>
            <a:pPr lvl="2"/>
            <a:r>
              <a:rPr lang="en-US" dirty="0"/>
              <a:t>Kinematic</a:t>
            </a:r>
          </a:p>
          <a:p>
            <a:pPr lvl="2"/>
            <a:r>
              <a:rPr lang="en-US" dirty="0"/>
              <a:t>Static</a:t>
            </a:r>
          </a:p>
          <a:p>
            <a:pPr lvl="1"/>
            <a:r>
              <a:rPr lang="en-US" dirty="0"/>
              <a:t>Material</a:t>
            </a:r>
          </a:p>
          <a:p>
            <a:pPr lvl="2"/>
            <a:r>
              <a:rPr lang="en-US" dirty="0"/>
              <a:t>Physic Material 2D</a:t>
            </a:r>
          </a:p>
          <a:p>
            <a:pPr lvl="3"/>
            <a:r>
              <a:rPr lang="en-US" dirty="0"/>
              <a:t>Friction</a:t>
            </a:r>
          </a:p>
          <a:p>
            <a:pPr lvl="3"/>
            <a:r>
              <a:rPr lang="en-US" dirty="0"/>
              <a:t>bounciness</a:t>
            </a:r>
          </a:p>
          <a:p>
            <a:pPr lvl="1"/>
            <a:r>
              <a:rPr lang="en-US" dirty="0"/>
              <a:t>Gravity Scale</a:t>
            </a:r>
          </a:p>
          <a:p>
            <a:pPr lvl="1"/>
            <a:r>
              <a:rPr lang="en-US" dirty="0"/>
              <a:t>Mass</a:t>
            </a:r>
          </a:p>
          <a:p>
            <a:pPr lvl="1"/>
            <a:r>
              <a:rPr lang="en-US" dirty="0"/>
              <a:t>Constraints</a:t>
            </a:r>
          </a:p>
          <a:p>
            <a:pPr lvl="2"/>
            <a:r>
              <a:rPr lang="en-US" dirty="0" err="1"/>
              <a:t>Freez</a:t>
            </a:r>
            <a:r>
              <a:rPr lang="en-US" dirty="0"/>
              <a:t> position</a:t>
            </a:r>
          </a:p>
          <a:p>
            <a:pPr lvl="3"/>
            <a:r>
              <a:rPr lang="en-US" dirty="0"/>
              <a:t>X</a:t>
            </a:r>
          </a:p>
          <a:p>
            <a:pPr lvl="3"/>
            <a:r>
              <a:rPr lang="en-US" dirty="0"/>
              <a:t>Y</a:t>
            </a:r>
          </a:p>
          <a:p>
            <a:pPr lvl="2"/>
            <a:r>
              <a:rPr lang="en-US" dirty="0" err="1"/>
              <a:t>Freez</a:t>
            </a:r>
            <a:r>
              <a:rPr lang="en-US" dirty="0"/>
              <a:t> rotation</a:t>
            </a:r>
          </a:p>
          <a:p>
            <a:pPr lvl="3"/>
            <a:r>
              <a:rPr lang="en-US" dirty="0"/>
              <a:t>Z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46EFB1-7BE2-11D0-6287-1A5637162BBB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Collider 2D</a:t>
            </a:r>
          </a:p>
          <a:p>
            <a:pPr lvl="1"/>
            <a:r>
              <a:rPr lang="en-US" dirty="0"/>
              <a:t>Edit Collider</a:t>
            </a:r>
          </a:p>
          <a:p>
            <a:pPr lvl="1"/>
            <a:r>
              <a:rPr lang="en-US" dirty="0"/>
              <a:t>Is Trigger</a:t>
            </a:r>
          </a:p>
          <a:p>
            <a:pPr lvl="1"/>
            <a:r>
              <a:rPr lang="en-US" dirty="0"/>
              <a:t>Use By Effector</a:t>
            </a:r>
          </a:p>
          <a:p>
            <a:pPr lvl="1"/>
            <a:r>
              <a:rPr lang="en-US" dirty="0"/>
              <a:t>Offset</a:t>
            </a:r>
          </a:p>
          <a:p>
            <a:pPr lvl="1"/>
            <a:r>
              <a:rPr lang="en-US" dirty="0"/>
              <a:t>Size</a:t>
            </a:r>
            <a:endParaRPr lang="fa-IR" dirty="0"/>
          </a:p>
          <a:p>
            <a:pPr lvl="1"/>
            <a:r>
              <a:rPr lang="en-US" dirty="0"/>
              <a:t>Material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i="1" dirty="0">
                <a:highlight>
                  <a:srgbClr val="00FFFF"/>
                </a:highlight>
              </a:rPr>
              <a:t>Box Collider 2D,</a:t>
            </a:r>
          </a:p>
          <a:p>
            <a:pPr marL="0" indent="0">
              <a:buNone/>
            </a:pPr>
            <a:r>
              <a:rPr lang="en-US" sz="2000" i="1" dirty="0">
                <a:highlight>
                  <a:srgbClr val="00FFFF"/>
                </a:highlight>
              </a:rPr>
              <a:t>Circle Collider 2D,</a:t>
            </a:r>
          </a:p>
          <a:p>
            <a:pPr marL="0" indent="0">
              <a:buNone/>
            </a:pPr>
            <a:r>
              <a:rPr lang="en-US" sz="2000" i="1" dirty="0">
                <a:highlight>
                  <a:srgbClr val="00FFFF"/>
                </a:highlight>
              </a:rPr>
              <a:t>Capsule Collider 2D,</a:t>
            </a:r>
          </a:p>
          <a:p>
            <a:pPr marL="0" indent="0">
              <a:buNone/>
            </a:pPr>
            <a:r>
              <a:rPr lang="en-US" sz="2000" i="1" dirty="0">
                <a:highlight>
                  <a:srgbClr val="00FFFF"/>
                </a:highlight>
              </a:rPr>
              <a:t>Edge Collider 2D</a:t>
            </a:r>
          </a:p>
        </p:txBody>
      </p:sp>
    </p:spTree>
    <p:extLst>
      <p:ext uri="{BB962C8B-B14F-4D97-AF65-F5344CB8AC3E}">
        <p14:creationId xmlns:p14="http://schemas.microsoft.com/office/powerpoint/2010/main" val="97054689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Component-B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 err="1"/>
              <a:t>ConstantForce</a:t>
            </a:r>
            <a:endParaRPr lang="en-US" dirty="0"/>
          </a:p>
          <a:p>
            <a:r>
              <a:rPr lang="en-US" dirty="0"/>
              <a:t>BuoyancyEffector2D</a:t>
            </a:r>
          </a:p>
          <a:p>
            <a:pPr lvl="1"/>
            <a:r>
              <a:rPr lang="en-US" dirty="0"/>
              <a:t>…collider 2D</a:t>
            </a:r>
          </a:p>
          <a:p>
            <a:pPr lvl="2"/>
            <a:r>
              <a:rPr lang="en-US" dirty="0">
                <a:cs typeface="Calibri"/>
              </a:rPr>
              <a:t>Use by effector </a:t>
            </a:r>
          </a:p>
          <a:p>
            <a:pPr lvl="2"/>
            <a:r>
              <a:rPr lang="en-US" dirty="0">
                <a:cs typeface="Calibri"/>
              </a:rPr>
              <a:t>Is Trigger</a:t>
            </a:r>
          </a:p>
          <a:p>
            <a:pPr lvl="1"/>
            <a:r>
              <a:rPr lang="en-US" dirty="0">
                <a:cs typeface="Calibri"/>
              </a:rPr>
              <a:t>Density</a:t>
            </a:r>
          </a:p>
          <a:p>
            <a:pPr lvl="1"/>
            <a:r>
              <a:rPr lang="en-US" dirty="0">
                <a:cs typeface="Calibri"/>
              </a:rPr>
              <a:t>Surface </a:t>
            </a:r>
          </a:p>
          <a:p>
            <a:r>
              <a:rPr lang="en-US" dirty="0"/>
              <a:t>PlatformEffector2D</a:t>
            </a:r>
          </a:p>
          <a:p>
            <a:pPr lvl="1"/>
            <a:r>
              <a:rPr lang="en-US" dirty="0">
                <a:cs typeface="Calibri"/>
              </a:rPr>
              <a:t>Use by effector</a:t>
            </a:r>
          </a:p>
          <a:p>
            <a:pPr lvl="1"/>
            <a:r>
              <a:rPr lang="en-US" dirty="0">
                <a:cs typeface="Calibri"/>
              </a:rPr>
              <a:t>Surface arc</a:t>
            </a:r>
          </a:p>
          <a:p>
            <a:pPr lvl="1"/>
            <a:r>
              <a:rPr lang="en-US" dirty="0">
                <a:cs typeface="Calibri"/>
              </a:rPr>
              <a:t>Rotation Offset</a:t>
            </a:r>
          </a:p>
          <a:p>
            <a:pPr lvl="1"/>
            <a:r>
              <a:rPr lang="en-US" dirty="0">
                <a:cs typeface="Calibri"/>
              </a:rPr>
              <a:t>Sides </a:t>
            </a:r>
          </a:p>
          <a:p>
            <a:pPr lvl="2"/>
            <a:r>
              <a:rPr lang="en-US" dirty="0">
                <a:cs typeface="Calibri"/>
              </a:rPr>
              <a:t>…friction</a:t>
            </a:r>
          </a:p>
          <a:p>
            <a:pPr lvl="2"/>
            <a:r>
              <a:rPr lang="en-US" dirty="0">
                <a:cs typeface="Calibri"/>
              </a:rPr>
              <a:t>…bounce</a:t>
            </a:r>
          </a:p>
          <a:p>
            <a:pPr lvl="2"/>
            <a:r>
              <a:rPr lang="en-US" dirty="0">
                <a:cs typeface="Calibri"/>
              </a:rPr>
              <a:t>…arc</a:t>
            </a:r>
          </a:p>
          <a:p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72104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HingeJoint2D</a:t>
            </a:r>
          </a:p>
          <a:p>
            <a:pPr lvl="1"/>
            <a:r>
              <a:rPr lang="en-US" i="1" dirty="0">
                <a:solidFill>
                  <a:schemeClr val="accent5"/>
                </a:solidFill>
              </a:rPr>
              <a:t>[required rigidbody2d]</a:t>
            </a:r>
          </a:p>
          <a:p>
            <a:pPr lvl="1"/>
            <a:r>
              <a:rPr lang="en-US" dirty="0">
                <a:cs typeface="Calibri"/>
              </a:rPr>
              <a:t>Connected Rigid Body</a:t>
            </a:r>
          </a:p>
          <a:p>
            <a:pPr lvl="1"/>
            <a:r>
              <a:rPr lang="en-US" dirty="0">
                <a:cs typeface="Calibri"/>
              </a:rPr>
              <a:t>Anchor</a:t>
            </a:r>
            <a:r>
              <a:rPr lang="fa-IR" dirty="0">
                <a:cs typeface="Calibri"/>
              </a:rPr>
              <a:t> </a:t>
            </a:r>
            <a:r>
              <a:rPr lang="en-US" sz="2200" dirty="0">
                <a:solidFill>
                  <a:schemeClr val="accent6"/>
                </a:solidFill>
                <a:cs typeface="Calibri"/>
              </a:rPr>
              <a:t>//</a:t>
            </a:r>
            <a:r>
              <a:rPr lang="fa-IR" sz="2200" dirty="0">
                <a:solidFill>
                  <a:schemeClr val="accent6"/>
                </a:solidFill>
                <a:cs typeface="Calibri"/>
              </a:rPr>
              <a:t>نقطه اتصال</a:t>
            </a:r>
            <a:endParaRPr lang="en-US" dirty="0">
              <a:solidFill>
                <a:schemeClr val="accent6"/>
              </a:solidFill>
              <a:cs typeface="Calibri"/>
            </a:endParaRPr>
          </a:p>
          <a:p>
            <a:pPr lvl="2"/>
            <a:r>
              <a:rPr lang="en-US" dirty="0">
                <a:cs typeface="Calibri"/>
              </a:rPr>
              <a:t>X</a:t>
            </a:r>
          </a:p>
          <a:p>
            <a:pPr lvl="2"/>
            <a:r>
              <a:rPr lang="en-US" dirty="0">
                <a:cs typeface="Calibri"/>
              </a:rPr>
              <a:t>Y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39666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686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/>
              <a:t>Edit-&gt; Preferences-&gt; External Tools-&gt; External Script Editor</a:t>
            </a:r>
          </a:p>
          <a:p>
            <a:pPr marL="0" indent="0">
              <a:buNone/>
            </a:pPr>
            <a:r>
              <a:rPr lang="en-US" sz="2200" dirty="0"/>
              <a:t>Project-&gt; Create-&gt; C# Script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GameObject</a:t>
            </a:r>
            <a:endParaRPr lang="en-US" dirty="0"/>
          </a:p>
          <a:p>
            <a:pPr lvl="1"/>
            <a:r>
              <a:rPr lang="en-US" dirty="0" err="1"/>
              <a:t>gameObject</a:t>
            </a:r>
            <a:endParaRPr lang="en-US" dirty="0"/>
          </a:p>
          <a:p>
            <a:r>
              <a:rPr lang="en-US" dirty="0"/>
              <a:t>Vector </a:t>
            </a:r>
          </a:p>
          <a:p>
            <a:pPr lvl="1"/>
            <a:r>
              <a:rPr lang="en-US" dirty="0"/>
              <a:t>Vector3</a:t>
            </a:r>
          </a:p>
          <a:p>
            <a:pPr lvl="2"/>
            <a:r>
              <a:rPr lang="en-US" dirty="0"/>
              <a:t>x, y, z</a:t>
            </a:r>
          </a:p>
          <a:p>
            <a:pPr lvl="2"/>
            <a:r>
              <a:rPr lang="en-US" dirty="0" err="1"/>
              <a:t>gameObjectTransform</a:t>
            </a:r>
            <a:r>
              <a:rPr lang="en-US" dirty="0"/>
              <a:t>(0, 0, 0)</a:t>
            </a:r>
          </a:p>
          <a:p>
            <a:pPr lvl="1"/>
            <a:r>
              <a:rPr lang="en-US" dirty="0"/>
              <a:t>Vector2</a:t>
            </a:r>
          </a:p>
          <a:p>
            <a:pPr lvl="2"/>
            <a:r>
              <a:rPr lang="en-US" dirty="0"/>
              <a:t>x, y</a:t>
            </a:r>
          </a:p>
          <a:p>
            <a:r>
              <a:rPr lang="en-US" sz="3000" dirty="0"/>
              <a:t>public class </a:t>
            </a:r>
            <a:r>
              <a:rPr lang="en-US" sz="2600" i="1" dirty="0">
                <a:solidFill>
                  <a:schemeClr val="accent5"/>
                </a:solidFill>
              </a:rPr>
              <a:t>[</a:t>
            </a:r>
            <a:r>
              <a:rPr lang="en-US" sz="2600" i="1" dirty="0" err="1">
                <a:solidFill>
                  <a:schemeClr val="accent5"/>
                </a:solidFill>
              </a:rPr>
              <a:t>scriptName</a:t>
            </a:r>
            <a:r>
              <a:rPr lang="en-US" sz="2600" i="1" dirty="0">
                <a:solidFill>
                  <a:schemeClr val="accent5"/>
                </a:solidFill>
              </a:rPr>
              <a:t>]</a:t>
            </a:r>
            <a:r>
              <a:rPr lang="en-US" sz="2600" dirty="0">
                <a:solidFill>
                  <a:schemeClr val="accent5"/>
                </a:solidFill>
              </a:rPr>
              <a:t> </a:t>
            </a:r>
            <a:r>
              <a:rPr lang="en-US" sz="3000" dirty="0"/>
              <a:t>: …</a:t>
            </a:r>
          </a:p>
          <a:p>
            <a:pPr lvl="1"/>
            <a:r>
              <a:rPr lang="en-US" sz="2000" dirty="0">
                <a:latin typeface="Calibri (Body)"/>
              </a:rPr>
              <a:t>Start() </a:t>
            </a:r>
            <a:r>
              <a:rPr lang="en-US" sz="16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//</a:t>
            </a:r>
            <a:r>
              <a:rPr lang="fa-IR" sz="1600" dirty="0">
                <a:solidFill>
                  <a:schemeClr val="accent6"/>
                </a:solidFill>
                <a:highlight>
                  <a:srgbClr val="FFFF00"/>
                </a:highlight>
                <a:latin typeface="Calibri (Body)"/>
                <a:cs typeface="B Nazanin" panose="00000400000000000000" pitchFamily="2" charset="-78"/>
              </a:rPr>
              <a:t>تنها یک بار </a:t>
            </a:r>
            <a:r>
              <a:rPr lang="fa-IR" sz="16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اجرا در شروع اجرا</a:t>
            </a:r>
            <a:endParaRPr lang="en-US" sz="2000" dirty="0">
              <a:solidFill>
                <a:schemeClr val="accent6"/>
              </a:solidFill>
              <a:latin typeface="Calibri (Body)"/>
              <a:cs typeface="B Nazanin" panose="00000400000000000000" pitchFamily="2" charset="-78"/>
            </a:endParaRPr>
          </a:p>
          <a:p>
            <a:pPr lvl="1"/>
            <a:r>
              <a:rPr lang="en-US" sz="2000" dirty="0">
                <a:latin typeface="Calibri (Body)"/>
              </a:rPr>
              <a:t>Update() </a:t>
            </a:r>
            <a:r>
              <a:rPr lang="en-US" sz="16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//</a:t>
            </a:r>
            <a:r>
              <a:rPr lang="fa-IR" sz="16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در </a:t>
            </a:r>
            <a:r>
              <a:rPr lang="fa-IR" sz="1600" dirty="0">
                <a:solidFill>
                  <a:schemeClr val="accent6"/>
                </a:solidFill>
                <a:highlight>
                  <a:srgbClr val="FFFF00"/>
                </a:highlight>
                <a:latin typeface="Calibri (Body)"/>
                <a:cs typeface="B Nazanin" panose="00000400000000000000" pitchFamily="2" charset="-78"/>
              </a:rPr>
              <a:t>هر فریم </a:t>
            </a:r>
            <a:r>
              <a:rPr lang="fa-IR" sz="16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یک بار اجرا می شود</a:t>
            </a:r>
            <a:endParaRPr lang="en-US" sz="2000" dirty="0">
              <a:solidFill>
                <a:schemeClr val="accent6"/>
              </a:solidFill>
              <a:latin typeface="Calibri (Body)"/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27776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if – else</a:t>
            </a:r>
          </a:p>
          <a:p>
            <a:r>
              <a:rPr lang="en-US" dirty="0"/>
              <a:t>if – else if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01296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>
                <a:latin typeface="Calibri (Body)"/>
              </a:rPr>
              <a:t>FixedUpdate</a:t>
            </a:r>
            <a:r>
              <a:rPr lang="en-US" sz="2400" dirty="0">
                <a:latin typeface="Calibri (Body)"/>
              </a:rPr>
              <a:t>() </a:t>
            </a:r>
            <a:r>
              <a:rPr lang="en-US" sz="20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//</a:t>
            </a:r>
            <a:r>
              <a:rPr lang="fa-IR" sz="20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اجرای لحظه به لحظه (</a:t>
            </a:r>
            <a:r>
              <a:rPr lang="fa-IR" sz="2000" dirty="0">
                <a:solidFill>
                  <a:schemeClr val="accent6"/>
                </a:solidFill>
                <a:highlight>
                  <a:srgbClr val="FFFF00"/>
                </a:highlight>
                <a:latin typeface="Calibri (Body)"/>
                <a:cs typeface="B Nazanin" panose="00000400000000000000" pitchFamily="2" charset="-78"/>
              </a:rPr>
              <a:t>بیش از یک بار</a:t>
            </a:r>
            <a:r>
              <a:rPr lang="fa-IR" sz="20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 در هر فریم)</a:t>
            </a:r>
            <a:endParaRPr lang="en-US" sz="2400" dirty="0">
              <a:solidFill>
                <a:schemeClr val="accent6"/>
              </a:solidFill>
              <a:latin typeface="Calibri (Body)"/>
              <a:cs typeface="B Nazanin" panose="00000400000000000000" pitchFamily="2" charset="-78"/>
            </a:endParaRPr>
          </a:p>
          <a:p>
            <a:r>
              <a:rPr lang="en-US" sz="2400" dirty="0" err="1">
                <a:latin typeface="Calibri (Body)"/>
              </a:rPr>
              <a:t>OnTrigger</a:t>
            </a:r>
            <a:r>
              <a:rPr lang="en-US" sz="2000" i="1" dirty="0">
                <a:highlight>
                  <a:srgbClr val="C0C0C0"/>
                </a:highlight>
                <a:latin typeface="Calibri (Body)"/>
              </a:rPr>
              <a:t>…[</a:t>
            </a:r>
            <a:r>
              <a:rPr lang="en-US" sz="2000" i="1" dirty="0" err="1">
                <a:highlight>
                  <a:srgbClr val="C0C0C0"/>
                </a:highlight>
                <a:latin typeface="Calibri (Body)"/>
              </a:rPr>
              <a:t>Enter,Stay,Exit</a:t>
            </a:r>
            <a:r>
              <a:rPr lang="en-US" sz="2000" i="1" dirty="0">
                <a:highlight>
                  <a:srgbClr val="C0C0C0"/>
                </a:highlight>
                <a:latin typeface="Calibri (Body)"/>
              </a:rPr>
              <a:t>]…</a:t>
            </a:r>
            <a:r>
              <a:rPr lang="en-US" sz="2400" dirty="0">
                <a:latin typeface="Calibri (Body)"/>
              </a:rPr>
              <a:t>2D(</a:t>
            </a:r>
            <a:r>
              <a:rPr lang="en-US" sz="2400" dirty="0">
                <a:solidFill>
                  <a:srgbClr val="000000"/>
                </a:solidFill>
                <a:highlight>
                  <a:srgbClr val="00FFFF"/>
                </a:highlight>
                <a:latin typeface="Calibri (Body)"/>
              </a:rPr>
              <a:t>Collider2D</a:t>
            </a:r>
            <a:r>
              <a:rPr lang="en-US" sz="2400" dirty="0">
                <a:solidFill>
                  <a:srgbClr val="000000"/>
                </a:solidFill>
                <a:latin typeface="Calibri (Body)"/>
              </a:rPr>
              <a:t> collision</a:t>
            </a:r>
            <a:r>
              <a:rPr lang="en-US" sz="2400" dirty="0">
                <a:latin typeface="Calibri (Body)"/>
              </a:rPr>
              <a:t>)</a:t>
            </a:r>
            <a:r>
              <a:rPr lang="fa-IR" sz="2400" dirty="0">
                <a:latin typeface="Calibri (Body)"/>
              </a:rPr>
              <a:t> </a:t>
            </a:r>
            <a:r>
              <a:rPr lang="en-US" sz="20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//is Trigger</a:t>
            </a:r>
            <a:r>
              <a:rPr lang="fa-IR" sz="20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تشخیص برخورد </a:t>
            </a:r>
            <a:r>
              <a:rPr lang="fa-IR" sz="2000" dirty="0">
                <a:solidFill>
                  <a:schemeClr val="accent6"/>
                </a:solidFill>
                <a:highlight>
                  <a:srgbClr val="FFFF00"/>
                </a:highlight>
                <a:latin typeface="Calibri (Body)"/>
                <a:cs typeface="B Nazanin" panose="00000400000000000000" pitchFamily="2" charset="-78"/>
              </a:rPr>
              <a:t>به شرط </a:t>
            </a:r>
            <a:r>
              <a:rPr lang="fa-IR" sz="20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گزینه </a:t>
            </a:r>
            <a:endParaRPr lang="en-US" sz="2000" dirty="0">
              <a:solidFill>
                <a:schemeClr val="accent6"/>
              </a:solidFill>
              <a:latin typeface="Calibri (Body)"/>
              <a:cs typeface="B Nazanin" panose="00000400000000000000" pitchFamily="2" charset="-78"/>
            </a:endParaRPr>
          </a:p>
          <a:p>
            <a:r>
              <a:rPr lang="en-US" sz="2400" dirty="0" err="1">
                <a:latin typeface="Calibri (Body)"/>
              </a:rPr>
              <a:t>OnCollision</a:t>
            </a:r>
            <a:r>
              <a:rPr lang="en-US" sz="2000" i="1" dirty="0">
                <a:highlight>
                  <a:srgbClr val="C0C0C0"/>
                </a:highlight>
                <a:latin typeface="Calibri (Body)"/>
              </a:rPr>
              <a:t>…[Enter, Stay, Exit]…</a:t>
            </a:r>
            <a:r>
              <a:rPr lang="en-US" sz="2400" dirty="0">
                <a:latin typeface="Calibri (Body)"/>
              </a:rPr>
              <a:t>2D(</a:t>
            </a:r>
            <a:r>
              <a:rPr lang="en-US" sz="2400" dirty="0">
                <a:solidFill>
                  <a:srgbClr val="000000"/>
                </a:solidFill>
                <a:highlight>
                  <a:srgbClr val="00FFFF"/>
                </a:highlight>
                <a:latin typeface="Calibri (Body)"/>
              </a:rPr>
              <a:t>Collision2D</a:t>
            </a:r>
            <a:r>
              <a:rPr lang="en-US" sz="2400" dirty="0">
                <a:solidFill>
                  <a:srgbClr val="000000"/>
                </a:solidFill>
                <a:latin typeface="Calibri (Body)"/>
              </a:rPr>
              <a:t> collision</a:t>
            </a:r>
            <a:r>
              <a:rPr lang="en-US" sz="2400" dirty="0">
                <a:latin typeface="Calibri (Body)"/>
              </a:rPr>
              <a:t>) </a:t>
            </a:r>
            <a:r>
              <a:rPr lang="en-US" sz="20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//is Trigger</a:t>
            </a:r>
            <a:r>
              <a:rPr lang="fa-IR" sz="20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 تشخیص برخورد </a:t>
            </a:r>
            <a:r>
              <a:rPr lang="fa-IR" sz="2000" dirty="0">
                <a:solidFill>
                  <a:schemeClr val="accent6"/>
                </a:solidFill>
                <a:highlight>
                  <a:srgbClr val="FFFF00"/>
                </a:highlight>
                <a:latin typeface="Calibri (Body)"/>
                <a:cs typeface="B Nazanin" panose="00000400000000000000" pitchFamily="2" charset="-78"/>
              </a:rPr>
              <a:t>بدون</a:t>
            </a:r>
            <a:r>
              <a:rPr lang="fa-IR" sz="2000" dirty="0">
                <a:solidFill>
                  <a:schemeClr val="accent6"/>
                </a:solidFill>
                <a:latin typeface="Calibri (Body)"/>
                <a:cs typeface="B Nazanin" panose="00000400000000000000" pitchFamily="2" charset="-78"/>
              </a:rPr>
              <a:t> گزینه </a:t>
            </a:r>
            <a:endParaRPr lang="en-US" sz="2400" dirty="0">
              <a:solidFill>
                <a:schemeClr val="accent6"/>
              </a:solidFill>
              <a:latin typeface="Calibri (Body)"/>
              <a:cs typeface="B Nazanin" panose="00000400000000000000" pitchFamily="2" charset="-78"/>
            </a:endParaRPr>
          </a:p>
          <a:p>
            <a:r>
              <a:rPr lang="en-US" dirty="0" err="1"/>
              <a:t>GetComponent</a:t>
            </a:r>
            <a:r>
              <a:rPr lang="en-US" dirty="0"/>
              <a:t>&lt;…&gt;()</a:t>
            </a:r>
          </a:p>
          <a:p>
            <a:r>
              <a:rPr lang="en-US" dirty="0" err="1"/>
              <a:t>FindObjectOfType</a:t>
            </a:r>
            <a:r>
              <a:rPr lang="en-US" dirty="0"/>
              <a:t>&lt;…&gt;()</a:t>
            </a:r>
          </a:p>
          <a:p>
            <a:r>
              <a:rPr lang="en-US" dirty="0" err="1">
                <a:highlight>
                  <a:srgbClr val="FFFF00"/>
                </a:highlight>
              </a:rPr>
              <a:t>FindFirstObjectByType</a:t>
            </a:r>
            <a:r>
              <a:rPr lang="en-US" dirty="0">
                <a:highlight>
                  <a:srgbClr val="FFFF00"/>
                </a:highlight>
              </a:rPr>
              <a:t>&lt;…&gt;()</a:t>
            </a:r>
          </a:p>
        </p:txBody>
      </p:sp>
    </p:spTree>
    <p:extLst>
      <p:ext uri="{BB962C8B-B14F-4D97-AF65-F5344CB8AC3E}">
        <p14:creationId xmlns:p14="http://schemas.microsoft.com/office/powerpoint/2010/main" val="8080358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F3AC-E7B7-84C1-4282-106720ED5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Rotate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3F6F3-83B8-BE4A-D056-1EB72419C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transform.Rotate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(0,0,1);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transform.Rotate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(0.5f*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Vector3.</a:t>
            </a:r>
            <a:r>
              <a:rPr lang="en-US" sz="1800" dirty="0">
                <a:solidFill>
                  <a:srgbClr val="000000"/>
                </a:solidFill>
                <a:highlight>
                  <a:srgbClr val="00FFFF"/>
                </a:highlight>
                <a:latin typeface="Cascadia Mono" panose="020B0609020000020004" pitchFamily="49" charset="0"/>
              </a:rPr>
              <a:t>up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en-US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left,right,down</a:t>
            </a:r>
            <a:endParaRPr lang="en-US" sz="1800" dirty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r>
              <a:rPr lang="en-US" dirty="0" err="1">
                <a:cs typeface="Calibri Light"/>
              </a:rPr>
              <a:t>RotateAround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gameObject.transform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 err="1">
                <a:ea typeface="+mn-lt"/>
                <a:cs typeface="+mn-lt"/>
              </a:rPr>
              <a:t>RotateAround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>
                <a:highlight>
                  <a:srgbClr val="FFFF00"/>
                </a:highlight>
                <a:ea typeface="+mn-lt"/>
                <a:cs typeface="+mn-lt"/>
              </a:rPr>
              <a:t>new Vector3(0, 0, 0)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highlight>
                  <a:srgbClr val="00FFFF"/>
                </a:highlight>
                <a:ea typeface="+mn-lt"/>
                <a:cs typeface="+mn-lt"/>
              </a:rPr>
              <a:t>new Vector3(0, 0, 1)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highlight>
                  <a:srgbClr val="00FF00"/>
                </a:highlight>
                <a:ea typeface="+mn-lt"/>
                <a:cs typeface="+mn-lt"/>
              </a:rPr>
              <a:t>5f</a:t>
            </a:r>
            <a:r>
              <a:rPr lang="en-US" dirty="0">
                <a:ea typeface="+mn-lt"/>
                <a:cs typeface="+mn-lt"/>
              </a:rPr>
              <a:t>);</a:t>
            </a:r>
            <a:endParaRPr lang="en-US" dirty="0">
              <a:cs typeface="Calibri" panose="020F0502020204030204"/>
            </a:endParaRPr>
          </a:p>
          <a:p>
            <a:endParaRPr lang="en-US" dirty="0"/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002375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Jump </a:t>
            </a:r>
            <a:r>
              <a:rPr lang="en-US" sz="2400" dirty="0"/>
              <a:t>(sensor)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237259" cy="490686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Scene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Add empty child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gameobject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Add ground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layer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Code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</a:t>
            </a:r>
            <a:r>
              <a:rPr lang="en-US" sz="2000" dirty="0">
                <a:solidFill>
                  <a:srgbClr val="000000"/>
                </a:solidFill>
                <a:highlight>
                  <a:srgbClr val="00FF00"/>
                </a:highlight>
                <a:latin typeface="Cascadia Mono" panose="020B0609020000020004" pitchFamily="49" charset="0"/>
              </a:rPr>
              <a:t>Transform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groundCheck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</a:t>
            </a:r>
            <a:r>
              <a:rPr lang="en-US" sz="2000" dirty="0" err="1">
                <a:solidFill>
                  <a:srgbClr val="000000"/>
                </a:solidFill>
                <a:highlight>
                  <a:srgbClr val="00FF00"/>
                </a:highlight>
                <a:latin typeface="Cascadia Mono" panose="020B0609020000020004" pitchFamily="49" charset="0"/>
              </a:rPr>
              <a:t>LayerMask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 ground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public bool 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onGround</a:t>
            </a:r>
            <a:endParaRPr lang="en-US" sz="20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en-US" sz="20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FixedUpdate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()</a:t>
            </a:r>
          </a:p>
          <a:p>
            <a:pPr lvl="2"/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onGround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Physics2D.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OverlapPoint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groundCheck.position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groundLayer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914400" lvl="2" indent="0">
              <a:buNone/>
            </a:pP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914400" lvl="2" indent="0">
              <a:buNone/>
            </a:pPr>
            <a:endParaRPr lang="en-US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  <a:latin typeface="Cascadia Mono" panose="020B0609020000020004" pitchFamily="49" charset="0"/>
              </a:rPr>
              <a:t>//help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if(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Input.GetKey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KeyCode.Space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 &amp;&amp;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onGround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993688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E9B47-506A-2F16-30F9-27E735CF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8746B-D5CB-A4D0-F74A-437B542D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F9ADC-777A-F9E4-07B5-DE249E29F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dirty="0">
                <a:highlight>
                  <a:srgbClr val="FFFF00"/>
                </a:highlight>
                <a:cs typeface="B Nazanin" panose="00000400000000000000" pitchFamily="2" charset="-78"/>
              </a:rPr>
              <a:t>ساخت آبجکت </a:t>
            </a:r>
            <a:r>
              <a:rPr lang="fa-IR" dirty="0">
                <a:cs typeface="B Nazanin" panose="00000400000000000000" pitchFamily="2" charset="-78"/>
              </a:rPr>
              <a:t>(کد، انیمیشن، کامپوننت و غیره) مورد نظر در صحنه بازی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قرار دادن اجزای آبجکت </a:t>
            </a:r>
            <a:r>
              <a:rPr lang="fa-IR" dirty="0">
                <a:highlight>
                  <a:srgbClr val="FFFF00"/>
                </a:highlight>
                <a:cs typeface="B Nazanin" panose="00000400000000000000" pitchFamily="2" charset="-78"/>
              </a:rPr>
              <a:t>زیرمجموعه یک </a:t>
            </a:r>
            <a:r>
              <a:rPr lang="en-US" dirty="0" err="1">
                <a:highlight>
                  <a:srgbClr val="FFFF00"/>
                </a:highlight>
                <a:cs typeface="B Nazanin" panose="00000400000000000000" pitchFamily="2" charset="-78"/>
              </a:rPr>
              <a:t>gameObject</a:t>
            </a:r>
            <a:r>
              <a:rPr lang="fa-IR" dirty="0">
                <a:cs typeface="B Nazanin" panose="00000400000000000000" pitchFamily="2" charset="-78"/>
              </a:rPr>
              <a:t> (</a:t>
            </a:r>
            <a:r>
              <a:rPr lang="en-US" dirty="0">
                <a:cs typeface="B Nazanin" panose="00000400000000000000" pitchFamily="2" charset="-78"/>
              </a:rPr>
              <a:t>create empty parent</a:t>
            </a:r>
            <a:r>
              <a:rPr lang="fa-IR" dirty="0">
                <a:cs typeface="B Nazanin" panose="00000400000000000000" pitchFamily="2" charset="-78"/>
              </a:rPr>
              <a:t>)</a:t>
            </a:r>
            <a:endParaRPr lang="en-US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ساخت </a:t>
            </a:r>
            <a:r>
              <a:rPr lang="fa-IR" dirty="0">
                <a:highlight>
                  <a:srgbClr val="FFFF00"/>
                </a:highlight>
                <a:cs typeface="B Nazanin" panose="00000400000000000000" pitchFamily="2" charset="-78"/>
              </a:rPr>
              <a:t>پوشه </a:t>
            </a:r>
            <a:r>
              <a:rPr lang="en-US" dirty="0">
                <a:highlight>
                  <a:srgbClr val="FFFF00"/>
                </a:highlight>
                <a:cs typeface="B Nazanin" panose="00000400000000000000" pitchFamily="2" charset="-78"/>
              </a:rPr>
              <a:t>prefabs</a:t>
            </a:r>
            <a:r>
              <a:rPr lang="fa-IR" dirty="0">
                <a:cs typeface="B Nazanin" panose="00000400000000000000" pitchFamily="2" charset="-78"/>
              </a:rPr>
              <a:t> در منابع </a:t>
            </a:r>
            <a:r>
              <a:rPr lang="en-US" dirty="0">
                <a:cs typeface="B Nazanin" panose="00000400000000000000" pitchFamily="2" charset="-78"/>
              </a:rPr>
              <a:t>assets</a:t>
            </a:r>
            <a:endParaRPr lang="fa-IR" dirty="0">
              <a:cs typeface="B Nazanin" panose="00000400000000000000" pitchFamily="2" charset="-78"/>
            </a:endParaRP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آبجکت ساخته شده از قسمت </a:t>
            </a:r>
            <a:r>
              <a:rPr lang="en-US" dirty="0">
                <a:highlight>
                  <a:srgbClr val="FFFF00"/>
                </a:highlight>
                <a:cs typeface="B Nazanin" panose="00000400000000000000" pitchFamily="2" charset="-78"/>
              </a:rPr>
              <a:t>hierarchy</a:t>
            </a:r>
            <a:r>
              <a:rPr lang="fa-IR" dirty="0">
                <a:cs typeface="B Nazanin" panose="00000400000000000000" pitchFamily="2" charset="-78"/>
              </a:rPr>
              <a:t> را به پوشه </a:t>
            </a:r>
            <a:r>
              <a:rPr lang="en-US" dirty="0">
                <a:cs typeface="B Nazanin" panose="00000400000000000000" pitchFamily="2" charset="-78"/>
              </a:rPr>
              <a:t>prefabs</a:t>
            </a:r>
            <a:r>
              <a:rPr lang="fa-IR" dirty="0">
                <a:cs typeface="B Nazanin" panose="00000400000000000000" pitchFamily="2" charset="-78"/>
              </a:rPr>
              <a:t> بکشید</a:t>
            </a:r>
          </a:p>
          <a:p>
            <a:pPr algn="r" rtl="1"/>
            <a:r>
              <a:rPr lang="fa-IR" dirty="0">
                <a:cs typeface="B Nazanin" panose="00000400000000000000" pitchFamily="2" charset="-78"/>
              </a:rPr>
              <a:t>آبجکت ساخته شده را از صحنه </a:t>
            </a:r>
            <a:r>
              <a:rPr lang="fa-IR" dirty="0">
                <a:highlight>
                  <a:srgbClr val="FFFF00"/>
                </a:highlight>
                <a:cs typeface="B Nazanin" panose="00000400000000000000" pitchFamily="2" charset="-78"/>
              </a:rPr>
              <a:t>حذف</a:t>
            </a:r>
            <a:r>
              <a:rPr lang="fa-IR" dirty="0">
                <a:cs typeface="B Nazanin" panose="00000400000000000000" pitchFamily="2" charset="-78"/>
              </a:rPr>
              <a:t> کنید </a:t>
            </a:r>
            <a:endParaRPr lang="en-US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4418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 (UI) ,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767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Hierarchy &gt; + &gt; UI</a:t>
            </a:r>
          </a:p>
          <a:p>
            <a:pPr lvl="1"/>
            <a:r>
              <a:rPr lang="en-US" dirty="0"/>
              <a:t>Canvas</a:t>
            </a:r>
          </a:p>
          <a:p>
            <a:pPr lvl="2"/>
            <a:r>
              <a:rPr lang="en-US" dirty="0"/>
              <a:t>Canvas scaler </a:t>
            </a:r>
          </a:p>
          <a:p>
            <a:pPr lvl="3"/>
            <a:r>
              <a:rPr lang="en-US" dirty="0"/>
              <a:t>UI scale mode</a:t>
            </a:r>
          </a:p>
          <a:p>
            <a:pPr lvl="4"/>
            <a:r>
              <a:rPr lang="en-US" dirty="0"/>
              <a:t>Scale with screen size</a:t>
            </a:r>
          </a:p>
          <a:p>
            <a:pPr lvl="2"/>
            <a:r>
              <a:rPr lang="en-US" dirty="0"/>
              <a:t>Text mesh pro</a:t>
            </a:r>
            <a:endParaRPr lang="en-US" dirty="0">
              <a:latin typeface="Calibri"/>
              <a:cs typeface="Calibri"/>
            </a:endParaRPr>
          </a:p>
          <a:p>
            <a:pPr lvl="3"/>
            <a:r>
              <a:rPr lang="en-US" dirty="0"/>
              <a:t>anchor presets</a:t>
            </a:r>
          </a:p>
          <a:p>
            <a:pPr lvl="4"/>
            <a:r>
              <a:rPr lang="en-US" dirty="0"/>
              <a:t>Pos x, Pos y, Pos z</a:t>
            </a:r>
          </a:p>
          <a:p>
            <a:pPr lvl="3"/>
            <a:r>
              <a:rPr lang="en-US" dirty="0"/>
              <a:t>Input text</a:t>
            </a:r>
          </a:p>
          <a:p>
            <a:pPr lvl="3"/>
            <a:r>
              <a:rPr lang="en-US" dirty="0"/>
              <a:t>Main setting</a:t>
            </a:r>
          </a:p>
          <a:p>
            <a:pPr lvl="4"/>
            <a:r>
              <a:rPr lang="en-US" dirty="0"/>
              <a:t>Font asset</a:t>
            </a:r>
          </a:p>
          <a:p>
            <a:pPr lvl="4"/>
            <a:r>
              <a:rPr lang="en-US" dirty="0"/>
              <a:t>Font size, font style</a:t>
            </a:r>
          </a:p>
          <a:p>
            <a:pPr lvl="4"/>
            <a:r>
              <a:rPr lang="en-US" dirty="0"/>
              <a:t>Vertex color</a:t>
            </a:r>
          </a:p>
          <a:p>
            <a:pPr lvl="3"/>
            <a:r>
              <a:rPr lang="en-US" dirty="0"/>
              <a:t>Face</a:t>
            </a:r>
          </a:p>
          <a:p>
            <a:pPr lvl="3"/>
            <a:r>
              <a:rPr lang="en-US" dirty="0"/>
              <a:t>Outline </a:t>
            </a:r>
          </a:p>
          <a:p>
            <a:pPr lvl="1"/>
            <a:r>
              <a:rPr lang="en-US" dirty="0">
                <a:cs typeface="Calibri" panose="020F0502020204030204"/>
              </a:rPr>
              <a:t>Code</a:t>
            </a:r>
          </a:p>
          <a:p>
            <a:pPr lvl="2"/>
            <a:r>
              <a:rPr lang="en-US" sz="2200" dirty="0">
                <a:cs typeface="Calibri" panose="020F0502020204030204"/>
              </a:rPr>
              <a:t>using </a:t>
            </a:r>
            <a:r>
              <a:rPr lang="en-US" sz="1800" dirty="0" err="1">
                <a:cs typeface="Calibri" panose="020F0502020204030204"/>
              </a:rPr>
              <a:t>TMPro</a:t>
            </a:r>
            <a:endParaRPr lang="en-US" sz="1800" dirty="0" err="1"/>
          </a:p>
          <a:p>
            <a:pPr lvl="2"/>
            <a:r>
              <a:rPr lang="en-US" dirty="0" err="1">
                <a:cs typeface="Calibri" panose="020F0502020204030204"/>
              </a:rPr>
              <a:t>TMP_Text</a:t>
            </a:r>
            <a:r>
              <a:rPr lang="en-US" dirty="0">
                <a:cs typeface="Calibri" panose="020F0502020204030204"/>
              </a:rPr>
              <a:t> </a:t>
            </a:r>
            <a:r>
              <a:rPr lang="en-US" dirty="0">
                <a:solidFill>
                  <a:schemeClr val="accent6"/>
                </a:solidFill>
                <a:highlight>
                  <a:srgbClr val="FFFF00"/>
                </a:highlight>
                <a:cs typeface="Calibri" panose="020F0502020204030204"/>
              </a:rPr>
              <a:t>text</a:t>
            </a:r>
            <a:endParaRPr lang="en-US" dirty="0">
              <a:solidFill>
                <a:schemeClr val="accent6"/>
              </a:solidFill>
              <a:highlight>
                <a:srgbClr val="FFFF00"/>
              </a:highlight>
            </a:endParaRPr>
          </a:p>
          <a:p>
            <a:pPr marL="1371600" lvl="3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112926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F1AA1-651E-102F-8DF1-0AE278DF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595B6-1BBB-E25F-0BCC-D68E839E9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Download Font Assets</a:t>
            </a:r>
          </a:p>
          <a:p>
            <a:r>
              <a:rPr lang="en-US" dirty="0"/>
              <a:t>Create Folder -&gt; Fonts</a:t>
            </a:r>
          </a:p>
          <a:p>
            <a:r>
              <a:rPr lang="en-US" dirty="0"/>
              <a:t>Windows </a:t>
            </a:r>
          </a:p>
          <a:p>
            <a:pPr lvl="1"/>
            <a:r>
              <a:rPr lang="en-US" dirty="0" err="1"/>
              <a:t>TextMeshPro</a:t>
            </a:r>
            <a:endParaRPr lang="en-US" dirty="0"/>
          </a:p>
          <a:p>
            <a:pPr lvl="2"/>
            <a:r>
              <a:rPr lang="en-US" dirty="0"/>
              <a:t>Font asset creator</a:t>
            </a:r>
          </a:p>
          <a:p>
            <a:pPr lvl="3"/>
            <a:r>
              <a:rPr lang="en-US" dirty="0"/>
              <a:t>Source Font File</a:t>
            </a:r>
          </a:p>
          <a:p>
            <a:pPr lvl="3"/>
            <a:r>
              <a:rPr lang="en-US" dirty="0"/>
              <a:t>Generate Font Atlas</a:t>
            </a:r>
          </a:p>
          <a:p>
            <a:pPr lvl="3"/>
            <a:r>
              <a:rPr lang="en-US" dirty="0"/>
              <a:t>Save As </a:t>
            </a:r>
            <a:r>
              <a:rPr lang="en-US" dirty="0">
                <a:solidFill>
                  <a:schemeClr val="accent6"/>
                </a:solidFill>
              </a:rPr>
              <a:t>//Fonts folder</a:t>
            </a:r>
          </a:p>
          <a:p>
            <a:r>
              <a:rPr lang="en-US" dirty="0"/>
              <a:t>Hierarchy </a:t>
            </a:r>
          </a:p>
          <a:p>
            <a:pPr lvl="1"/>
            <a:r>
              <a:rPr lang="en-US" dirty="0" err="1"/>
              <a:t>Textmeshpro</a:t>
            </a:r>
            <a:endParaRPr lang="en-US" dirty="0"/>
          </a:p>
          <a:p>
            <a:pPr lvl="2"/>
            <a:r>
              <a:rPr lang="en-US" dirty="0"/>
              <a:t>Font assets (from Fonts folder)</a:t>
            </a:r>
          </a:p>
          <a:p>
            <a:pPr lvl="2"/>
            <a:r>
              <a:rPr lang="en-US" dirty="0" err="1"/>
              <a:t>Vertext</a:t>
            </a:r>
            <a:r>
              <a:rPr lang="en-US" dirty="0"/>
              <a:t> color</a:t>
            </a:r>
            <a:endParaRPr lang="fa-IR" dirty="0"/>
          </a:p>
          <a:p>
            <a:pPr lvl="2"/>
            <a:r>
              <a:rPr lang="en-US"/>
              <a:t>Alignment </a:t>
            </a:r>
            <a:endParaRPr lang="en-US" dirty="0"/>
          </a:p>
          <a:p>
            <a:pPr lvl="2"/>
            <a:r>
              <a:rPr lang="en-US" dirty="0"/>
              <a:t>Outline</a:t>
            </a:r>
          </a:p>
          <a:p>
            <a:pPr lvl="3"/>
            <a:r>
              <a:rPr lang="en-US" dirty="0"/>
              <a:t>Color</a:t>
            </a:r>
          </a:p>
          <a:p>
            <a:pPr lvl="3"/>
            <a:r>
              <a:rPr lang="en-US" dirty="0"/>
              <a:t>thickness</a:t>
            </a:r>
          </a:p>
        </p:txBody>
      </p:sp>
    </p:spTree>
    <p:extLst>
      <p:ext uri="{BB962C8B-B14F-4D97-AF65-F5344CB8AC3E}">
        <p14:creationId xmlns:p14="http://schemas.microsoft.com/office/powerpoint/2010/main" val="236970076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33763"/>
          </a:xfrm>
        </p:spPr>
        <p:txBody>
          <a:bodyPr>
            <a:normAutofit/>
          </a:bodyPr>
          <a:lstStyle/>
          <a:p>
            <a:r>
              <a:rPr lang="en-US" dirty="0"/>
              <a:t>Delay()</a:t>
            </a:r>
          </a:p>
          <a:p>
            <a:r>
              <a:rPr lang="en-US" dirty="0"/>
              <a:t>Delay(input)</a:t>
            </a:r>
          </a:p>
          <a:p>
            <a:pPr marL="0" indent="0">
              <a:buNone/>
            </a:pPr>
            <a:r>
              <a:rPr lang="en-US" sz="2000" b="1" dirty="0">
                <a:highlight>
                  <a:srgbClr val="FFFF00"/>
                </a:highlight>
                <a:cs typeface="B Nazanin" panose="00000400000000000000" pitchFamily="2" charset="-78"/>
              </a:rPr>
              <a:t>Delay </a:t>
            </a:r>
            <a:r>
              <a:rPr lang="fa-IR" sz="2000" b="1" dirty="0">
                <a:highlight>
                  <a:srgbClr val="FFFF00"/>
                </a:highlight>
                <a:cs typeface="B Nazanin" panose="00000400000000000000" pitchFamily="2" charset="-78"/>
              </a:rPr>
              <a:t>تعریف تابع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IEnumerator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00FF00"/>
                </a:highlight>
                <a:latin typeface="Cascadia Mono" panose="020B0609020000020004" pitchFamily="49" charset="0"/>
              </a:rPr>
              <a:t>Delay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yield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WaitForSeconds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chemeClr val="accent6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yield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WaitForRealSeconds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chemeClr val="accent6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1.5f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chemeClr val="accent6"/>
                </a:solidFill>
                <a:latin typeface="Cascadia Mono" panose="020B0609020000020004" pitchFamily="49" charset="0"/>
              </a:rPr>
              <a:t>//code    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  <a:cs typeface="B Nazanin" panose="00000400000000000000" pitchFamily="2" charset="-78"/>
              </a:rPr>
              <a:t>Delay </a:t>
            </a:r>
            <a:r>
              <a:rPr lang="fa-IR" sz="1800" b="1" dirty="0">
                <a:highlight>
                  <a:srgbClr val="FFFF00"/>
                </a:highlight>
                <a:cs typeface="B Nazanin" panose="00000400000000000000" pitchFamily="2" charset="-78"/>
              </a:rPr>
              <a:t>فراخوانی (اجرا)</a:t>
            </a:r>
            <a:endParaRPr lang="en-US" sz="1800" dirty="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StartCoroutine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A31515"/>
                </a:solidFill>
                <a:highlight>
                  <a:srgbClr val="00FF00"/>
                </a:highlight>
                <a:latin typeface="Cascadia Mono" panose="020B0609020000020004" pitchFamily="49" charset="0"/>
              </a:rPr>
              <a:t>Delay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Delay()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67304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Instantiate(</a:t>
            </a:r>
            <a:r>
              <a:rPr lang="en-US" dirty="0"/>
              <a:t>prefab, ,)</a:t>
            </a:r>
          </a:p>
          <a:p>
            <a:r>
              <a:rPr lang="en-US" dirty="0" err="1"/>
              <a:t>InvokeRepeating</a:t>
            </a:r>
            <a:r>
              <a:rPr lang="en-US" dirty="0"/>
              <a:t>(string, float, float)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97704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ParticleSystem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780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Particle System</a:t>
            </a:r>
          </a:p>
          <a:p>
            <a:pPr lvl="1"/>
            <a:r>
              <a:rPr lang="en-US" dirty="0"/>
              <a:t>Duration (looping false)</a:t>
            </a:r>
          </a:p>
          <a:p>
            <a:pPr lvl="1"/>
            <a:r>
              <a:rPr lang="en-US" dirty="0"/>
              <a:t>Looping </a:t>
            </a:r>
          </a:p>
          <a:p>
            <a:pPr lvl="1"/>
            <a:r>
              <a:rPr lang="en-US" dirty="0"/>
              <a:t>Start life time</a:t>
            </a:r>
          </a:p>
          <a:p>
            <a:pPr lvl="1"/>
            <a:r>
              <a:rPr lang="en-US" dirty="0"/>
              <a:t>Start speed</a:t>
            </a:r>
          </a:p>
          <a:p>
            <a:pPr lvl="1"/>
            <a:r>
              <a:rPr lang="en-US" dirty="0"/>
              <a:t>Start size</a:t>
            </a:r>
          </a:p>
          <a:p>
            <a:pPr lvl="1"/>
            <a:r>
              <a:rPr lang="en-US" dirty="0"/>
              <a:t>3D start rotation</a:t>
            </a:r>
          </a:p>
          <a:p>
            <a:pPr lvl="2"/>
            <a:r>
              <a:rPr lang="en-US" dirty="0"/>
              <a:t>X,Y,Z</a:t>
            </a:r>
          </a:p>
          <a:p>
            <a:pPr lvl="1"/>
            <a:r>
              <a:rPr lang="en-US" dirty="0"/>
              <a:t>Start rotation (</a:t>
            </a:r>
            <a:r>
              <a:rPr lang="fa-IR" dirty="0"/>
              <a:t>ثابت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Gravity modifier</a:t>
            </a:r>
          </a:p>
          <a:p>
            <a:pPr lvl="1"/>
            <a:r>
              <a:rPr lang="en-US" dirty="0"/>
              <a:t>Play on awake</a:t>
            </a:r>
          </a:p>
          <a:p>
            <a:pPr lvl="1"/>
            <a:r>
              <a:rPr lang="en-US" dirty="0"/>
              <a:t>Max particles</a:t>
            </a:r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52D13A3-48DB-8B39-FDEC-9658F685DA16}"/>
              </a:ext>
            </a:extLst>
          </p:cNvPr>
          <p:cNvSpPr txBox="1">
            <a:spLocks/>
          </p:cNvSpPr>
          <p:nvPr/>
        </p:nvSpPr>
        <p:spPr>
          <a:xfrm>
            <a:off x="4706007" y="1840843"/>
            <a:ext cx="38678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Particle System</a:t>
            </a:r>
          </a:p>
          <a:p>
            <a:pPr lvl="1"/>
            <a:r>
              <a:rPr lang="en-US" dirty="0"/>
              <a:t>Rotation life time, Rotation by speed</a:t>
            </a:r>
          </a:p>
          <a:p>
            <a:pPr lvl="1"/>
            <a:r>
              <a:rPr lang="en-US" dirty="0"/>
              <a:t>Collision </a:t>
            </a:r>
          </a:p>
          <a:p>
            <a:pPr lvl="2"/>
            <a:r>
              <a:rPr lang="en-US" dirty="0"/>
              <a:t>Type</a:t>
            </a:r>
          </a:p>
          <a:p>
            <a:pPr lvl="3"/>
            <a:r>
              <a:rPr lang="en-US" dirty="0"/>
              <a:t>Plane, World</a:t>
            </a:r>
          </a:p>
          <a:p>
            <a:pPr lvl="2"/>
            <a:r>
              <a:rPr lang="en-US" dirty="0"/>
              <a:t>Mode</a:t>
            </a:r>
          </a:p>
          <a:p>
            <a:pPr lvl="3"/>
            <a:r>
              <a:rPr lang="en-US" dirty="0"/>
              <a:t>2D, 3D</a:t>
            </a:r>
          </a:p>
          <a:p>
            <a:pPr lvl="2"/>
            <a:r>
              <a:rPr lang="en-US" dirty="0"/>
              <a:t>Bounce </a:t>
            </a:r>
          </a:p>
          <a:p>
            <a:pPr lvl="1"/>
            <a:r>
              <a:rPr lang="en-US" dirty="0"/>
              <a:t>Size over life time</a:t>
            </a:r>
          </a:p>
        </p:txBody>
      </p:sp>
    </p:spTree>
    <p:extLst>
      <p:ext uri="{BB962C8B-B14F-4D97-AF65-F5344CB8AC3E}">
        <p14:creationId xmlns:p14="http://schemas.microsoft.com/office/powerpoint/2010/main" val="404704755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C45BA-E231-98FF-684E-13EBD4284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90950-BA4B-B09A-A355-AEFC90C5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ParticleSystem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1FC5D-6D44-B503-1506-100B6342E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26717" cy="4351338"/>
          </a:xfrm>
        </p:spPr>
        <p:txBody>
          <a:bodyPr>
            <a:normAutofit/>
          </a:bodyPr>
          <a:lstStyle/>
          <a:p>
            <a:r>
              <a:rPr lang="en-US" dirty="0"/>
              <a:t>Assets &gt; Create &gt; Material</a:t>
            </a:r>
          </a:p>
          <a:p>
            <a:pPr lvl="1"/>
            <a:r>
              <a:rPr lang="en-US" dirty="0"/>
              <a:t>Inspector &gt; Shader &gt; Particles &gt; Standard unlit</a:t>
            </a:r>
          </a:p>
          <a:p>
            <a:pPr lvl="2"/>
            <a:r>
              <a:rPr lang="en-US" dirty="0"/>
              <a:t>Renderer &gt; cutout </a:t>
            </a:r>
          </a:p>
          <a:p>
            <a:pPr lvl="2"/>
            <a:r>
              <a:rPr lang="en-US" dirty="0"/>
              <a:t>Maps &gt; Albedo</a:t>
            </a:r>
          </a:p>
          <a:p>
            <a:r>
              <a:rPr lang="en-US" dirty="0"/>
              <a:t>Particle system</a:t>
            </a:r>
          </a:p>
          <a:p>
            <a:pPr lvl="1"/>
            <a:r>
              <a:rPr lang="en-US" dirty="0"/>
              <a:t>Renderer </a:t>
            </a:r>
          </a:p>
          <a:p>
            <a:pPr lvl="2"/>
            <a:r>
              <a:rPr lang="en-US" dirty="0"/>
              <a:t>material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26855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Add</a:t>
            </a:r>
            <a:r>
              <a:rPr lang="en-US" dirty="0">
                <a:sym typeface="Wingdings" panose="05000000000000000000" pitchFamily="2" charset="2"/>
              </a:rPr>
              <a:t> Component</a:t>
            </a:r>
          </a:p>
          <a:p>
            <a:pPr lvl="1"/>
            <a:r>
              <a:rPr lang="en-US">
                <a:cs typeface="Calibri"/>
                <a:sym typeface="Wingdings" panose="05000000000000000000" pitchFamily="2" charset="2"/>
              </a:rPr>
              <a:t>Audio Folder (Assets)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Audio Source</a:t>
            </a:r>
          </a:p>
          <a:p>
            <a:pPr lvl="2"/>
            <a:r>
              <a:rPr lang="en-US" dirty="0">
                <a:cs typeface="Calibri"/>
              </a:rPr>
              <a:t>Clip</a:t>
            </a:r>
          </a:p>
          <a:p>
            <a:pPr lvl="2"/>
            <a:r>
              <a:rPr lang="en-US" dirty="0">
                <a:cs typeface="Calibri"/>
              </a:rPr>
              <a:t>Start at awake</a:t>
            </a:r>
          </a:p>
          <a:p>
            <a:pPr lvl="2"/>
            <a:r>
              <a:rPr lang="en-US" dirty="0">
                <a:cs typeface="Calibri"/>
              </a:rPr>
              <a:t>Loop</a:t>
            </a:r>
          </a:p>
          <a:p>
            <a:pPr lvl="1"/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Code</a:t>
            </a:r>
          </a:p>
          <a:p>
            <a:pPr lvl="2"/>
            <a:r>
              <a:rPr lang="en-US" dirty="0" err="1">
                <a:cs typeface="Calibri" panose="020F0502020204030204"/>
              </a:rPr>
              <a:t>AudioSource</a:t>
            </a:r>
            <a:r>
              <a:rPr lang="en-US" dirty="0">
                <a:cs typeface="Calibri" panose="020F0502020204030204"/>
              </a:rPr>
              <a:t> _audio</a:t>
            </a:r>
          </a:p>
          <a:p>
            <a:pPr lvl="2"/>
            <a:r>
              <a:rPr lang="en-US" dirty="0">
                <a:cs typeface="Calibri" panose="020F0502020204030204"/>
              </a:rPr>
              <a:t>_audio = </a:t>
            </a:r>
            <a:r>
              <a:rPr lang="en-US" dirty="0" err="1">
                <a:cs typeface="Calibri" panose="020F0502020204030204"/>
              </a:rPr>
              <a:t>GetComponent</a:t>
            </a:r>
            <a:r>
              <a:rPr lang="en-US" dirty="0">
                <a:cs typeface="Calibri" panose="020F0502020204030204"/>
              </a:rPr>
              <a:t>&lt;AudioSource&gt;()</a:t>
            </a:r>
          </a:p>
          <a:p>
            <a:pPr lvl="2"/>
            <a:r>
              <a:rPr lang="en-US" sz="1800" dirty="0">
                <a:cs typeface="Calibri" panose="020F0502020204030204"/>
              </a:rPr>
              <a:t>_</a:t>
            </a:r>
            <a:r>
              <a:rPr lang="en-US" sz="1800" dirty="0" err="1">
                <a:cs typeface="Calibri" panose="020F0502020204030204"/>
              </a:rPr>
              <a:t>audio.Play</a:t>
            </a:r>
            <a:r>
              <a:rPr lang="en-US" sz="1800" dirty="0">
                <a:cs typeface="Calibri" panose="020F0502020204030204"/>
              </a:rPr>
              <a:t>()</a:t>
            </a: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459795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Tile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/>
              <a:t>in</a:t>
            </a:r>
            <a:r>
              <a:rPr lang="en-US" dirty="0"/>
              <a:t> Assets</a:t>
            </a:r>
            <a:endParaRPr lang="fa-IR" dirty="0"/>
          </a:p>
          <a:p>
            <a:pPr lvl="1"/>
            <a:r>
              <a:rPr lang="en-US" dirty="0">
                <a:sym typeface="Wingdings" panose="05000000000000000000" pitchFamily="2" charset="2"/>
              </a:rPr>
              <a:t>Tile </a:t>
            </a:r>
            <a:r>
              <a:rPr lang="en-US" sz="1800" dirty="0">
                <a:solidFill>
                  <a:schemeClr val="accent6"/>
                </a:solidFill>
                <a:sym typeface="Wingdings" panose="05000000000000000000" pitchFamily="2" charset="2"/>
              </a:rPr>
              <a:t>//tile image resource</a:t>
            </a:r>
            <a:endParaRPr lang="fa-IR" sz="1800" dirty="0">
              <a:solidFill>
                <a:schemeClr val="accent6"/>
              </a:solidFill>
              <a:sym typeface="Wingdings" panose="05000000000000000000" pitchFamily="2" charset="2"/>
            </a:endParaRPr>
          </a:p>
          <a:p>
            <a:pPr lvl="2"/>
            <a:r>
              <a:rPr lang="en-US" dirty="0"/>
              <a:t>Mesh type</a:t>
            </a:r>
            <a:endParaRPr lang="fa-IR" dirty="0"/>
          </a:p>
          <a:p>
            <a:pPr lvl="3"/>
            <a:r>
              <a:rPr lang="en-US" dirty="0">
                <a:sym typeface="Wingdings" panose="05000000000000000000" pitchFamily="2" charset="2"/>
              </a:rPr>
              <a:t>Full </a:t>
            </a:r>
            <a:r>
              <a:rPr lang="en-US" dirty="0" err="1">
                <a:sym typeface="Wingdings" panose="05000000000000000000" pitchFamily="2" charset="2"/>
              </a:rPr>
              <a:t>Rect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accent6"/>
                </a:solidFill>
                <a:sym typeface="Wingdings" panose="05000000000000000000" pitchFamily="2" charset="2"/>
              </a:rPr>
              <a:t>//apply change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Drag to scene</a:t>
            </a:r>
          </a:p>
          <a:p>
            <a:r>
              <a:rPr lang="en-US" sz="2000" dirty="0"/>
              <a:t>in</a:t>
            </a:r>
            <a:r>
              <a:rPr lang="en-US" dirty="0"/>
              <a:t> Scene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Draw mode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Tile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size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Width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Height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Tile mode	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Continues</a:t>
            </a:r>
          </a:p>
          <a:p>
            <a:pPr lvl="3"/>
            <a:r>
              <a:rPr lang="en-US" dirty="0">
                <a:sym typeface="Wingdings" panose="05000000000000000000" pitchFamily="2" charset="2"/>
              </a:rPr>
              <a:t>adaptive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C7DE9A-B19B-35AA-D3E2-52B8CD9E6AFE}"/>
              </a:ext>
            </a:extLst>
          </p:cNvPr>
          <p:cNvSpPr txBox="1"/>
          <p:nvPr/>
        </p:nvSpPr>
        <p:spPr>
          <a:xfrm>
            <a:off x="7094483" y="2364165"/>
            <a:ext cx="48715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Sprite Editor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Assets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Sprite mode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Multiple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Apply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Sprite editor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Slice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/>
              <a:t>Automatic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/>
              <a:t>Slice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/>
              <a:t>Apply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/>
              <a:t>Close (save)</a:t>
            </a:r>
          </a:p>
        </p:txBody>
      </p:sp>
    </p:spTree>
    <p:extLst>
      <p:ext uri="{BB962C8B-B14F-4D97-AF65-F5344CB8AC3E}">
        <p14:creationId xmlns:p14="http://schemas.microsoft.com/office/powerpoint/2010/main" val="38362694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1583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Scene</a:t>
            </a:r>
          </a:p>
          <a:p>
            <a:pPr lvl="1"/>
            <a:r>
              <a:rPr lang="en-US" dirty="0"/>
              <a:t>Game Object</a:t>
            </a:r>
          </a:p>
          <a:p>
            <a:pPr lvl="2"/>
            <a:r>
              <a:rPr lang="en-US" dirty="0"/>
              <a:t>Window</a:t>
            </a:r>
            <a:endParaRPr lang="en-US" dirty="0">
              <a:sym typeface="Wingdings" panose="05000000000000000000" pitchFamily="2" charset="2"/>
            </a:endParaRPr>
          </a:p>
          <a:p>
            <a:pPr lvl="3"/>
            <a:r>
              <a:rPr lang="en-US" dirty="0">
                <a:sym typeface="Wingdings" panose="05000000000000000000" pitchFamily="2" charset="2"/>
              </a:rPr>
              <a:t>animation</a:t>
            </a:r>
          </a:p>
          <a:p>
            <a:pPr lvl="4"/>
            <a:r>
              <a:rPr lang="en-US" dirty="0">
                <a:highlight>
                  <a:srgbClr val="FFFF00"/>
                </a:highlight>
              </a:rPr>
              <a:t>Animation</a:t>
            </a:r>
          </a:p>
          <a:p>
            <a:pPr lvl="5"/>
            <a:r>
              <a:rPr lang="en-US" dirty="0"/>
              <a:t>Create | Create new clip…</a:t>
            </a:r>
          </a:p>
          <a:p>
            <a:pPr lvl="5"/>
            <a:r>
              <a:rPr lang="en-US" dirty="0"/>
              <a:t>Save animation (</a:t>
            </a:r>
            <a:r>
              <a:rPr lang="en-US" dirty="0">
                <a:highlight>
                  <a:srgbClr val="FFFF00"/>
                </a:highlight>
              </a:rPr>
              <a:t>.</a:t>
            </a:r>
            <a:r>
              <a:rPr lang="en-US" dirty="0" err="1">
                <a:highlight>
                  <a:srgbClr val="FFFF00"/>
                </a:highlight>
              </a:rPr>
              <a:t>anim</a:t>
            </a:r>
            <a:r>
              <a:rPr lang="en-US" dirty="0"/>
              <a:t>) </a:t>
            </a:r>
            <a:r>
              <a:rPr lang="en-US" dirty="0">
                <a:solidFill>
                  <a:schemeClr val="accent6"/>
                </a:solidFill>
              </a:rPr>
              <a:t>//animations folder</a:t>
            </a:r>
          </a:p>
          <a:p>
            <a:pPr lvl="4"/>
            <a:r>
              <a:rPr lang="en-US" dirty="0">
                <a:highlight>
                  <a:srgbClr val="00FFFF"/>
                </a:highlight>
              </a:rPr>
              <a:t>Animator</a:t>
            </a:r>
          </a:p>
          <a:p>
            <a:pPr lvl="5"/>
            <a:r>
              <a:rPr lang="en-US" dirty="0"/>
              <a:t>Parameters</a:t>
            </a:r>
          </a:p>
          <a:p>
            <a:pPr lvl="6"/>
            <a:r>
              <a:rPr lang="en-US" dirty="0"/>
              <a:t>Add </a:t>
            </a:r>
            <a:r>
              <a:rPr lang="en-US" dirty="0">
                <a:highlight>
                  <a:srgbClr val="FFFF00"/>
                </a:highlight>
              </a:rPr>
              <a:t>(int, bool, ….)</a:t>
            </a:r>
          </a:p>
          <a:p>
            <a:pPr lvl="5"/>
            <a:r>
              <a:rPr lang="en-US" dirty="0"/>
              <a:t>Make transition</a:t>
            </a:r>
          </a:p>
          <a:p>
            <a:pPr lvl="6"/>
            <a:r>
              <a:rPr lang="en-US" dirty="0"/>
              <a:t>Has exit time</a:t>
            </a:r>
          </a:p>
          <a:p>
            <a:pPr lvl="6"/>
            <a:r>
              <a:rPr lang="en-US" dirty="0"/>
              <a:t>Conditions</a:t>
            </a:r>
          </a:p>
          <a:p>
            <a:r>
              <a:rPr lang="en-US" dirty="0"/>
              <a:t>Code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Animator</a:t>
            </a:r>
            <a:r>
              <a:rPr lang="en-US" dirty="0"/>
              <a:t> </a:t>
            </a:r>
            <a:r>
              <a:rPr lang="en-US" dirty="0" err="1"/>
              <a:t>anim</a:t>
            </a:r>
            <a:endParaRPr lang="en-US" dirty="0"/>
          </a:p>
          <a:p>
            <a:pPr lvl="1"/>
            <a:r>
              <a:rPr lang="en-US" dirty="0" err="1"/>
              <a:t>anim</a:t>
            </a:r>
            <a:r>
              <a:rPr lang="en-US" dirty="0"/>
              <a:t> = </a:t>
            </a:r>
            <a:r>
              <a:rPr lang="en-US" dirty="0" err="1"/>
              <a:t>GetComponenet</a:t>
            </a:r>
            <a:r>
              <a:rPr lang="en-US" dirty="0"/>
              <a:t>&lt;Animator&gt;()</a:t>
            </a:r>
          </a:p>
          <a:p>
            <a:pPr lvl="1"/>
            <a:r>
              <a:rPr lang="en-US" dirty="0" err="1"/>
              <a:t>anim.Set</a:t>
            </a:r>
            <a:r>
              <a:rPr lang="en-US" dirty="0">
                <a:highlight>
                  <a:srgbClr val="FFFF00"/>
                </a:highlight>
              </a:rPr>
              <a:t>[</a:t>
            </a:r>
            <a:r>
              <a:rPr lang="en-US" dirty="0" err="1">
                <a:highlight>
                  <a:srgbClr val="FFFF00"/>
                </a:highlight>
              </a:rPr>
              <a:t>Bool,Int,Float</a:t>
            </a:r>
            <a:r>
              <a:rPr lang="en-US" sz="2100" dirty="0">
                <a:highlight>
                  <a:srgbClr val="FFFF00"/>
                </a:highlight>
              </a:rPr>
              <a:t>]</a:t>
            </a:r>
            <a:r>
              <a:rPr lang="en-US" sz="2100" dirty="0"/>
              <a:t>(</a:t>
            </a:r>
            <a:r>
              <a:rPr lang="en-US" sz="2100" dirty="0">
                <a:highlight>
                  <a:srgbClr val="00FF00"/>
                </a:highlight>
              </a:rPr>
              <a:t>"</a:t>
            </a:r>
            <a:r>
              <a:rPr lang="en-US" sz="2100" dirty="0" err="1">
                <a:highlight>
                  <a:srgbClr val="00FF00"/>
                </a:highlight>
              </a:rPr>
              <a:t>parameterName</a:t>
            </a:r>
            <a:r>
              <a:rPr lang="en-US" sz="2100" dirty="0">
                <a:highlight>
                  <a:srgbClr val="00FF00"/>
                </a:highlight>
              </a:rPr>
              <a:t>"</a:t>
            </a:r>
            <a:r>
              <a:rPr lang="en-US" sz="2100" dirty="0"/>
              <a:t>, </a:t>
            </a:r>
            <a:r>
              <a:rPr lang="en-US" sz="2100" dirty="0">
                <a:highlight>
                  <a:srgbClr val="00FFFF"/>
                </a:highlight>
              </a:rPr>
              <a:t>[value]</a:t>
            </a:r>
            <a:r>
              <a:rPr lang="en-US" sz="2100" dirty="0"/>
              <a:t>)</a:t>
            </a:r>
          </a:p>
          <a:p>
            <a:pPr lvl="2"/>
            <a:r>
              <a:rPr lang="en-US" dirty="0" err="1"/>
              <a:t>anim.SetBool</a:t>
            </a:r>
            <a:r>
              <a:rPr lang="en-US" dirty="0"/>
              <a:t>("run", true);</a:t>
            </a:r>
          </a:p>
          <a:p>
            <a:pPr lvl="5"/>
            <a:endParaRPr lang="en-US" dirty="0"/>
          </a:p>
          <a:p>
            <a:pPr lvl="5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5308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Touch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79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 (Body)"/>
              </a:rPr>
              <a:t>Canvas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 (Body)"/>
              </a:rPr>
              <a:t>Button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 (Body)"/>
              </a:rPr>
              <a:t>add script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 (Body)"/>
              </a:rPr>
              <a:t>Event trigger component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alibri (Body)"/>
              </a:rPr>
              <a:t>Plus(+)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alibri (Body)"/>
              </a:rPr>
              <a:t>Put button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alibri (Body)"/>
              </a:rPr>
              <a:t>Select event </a:t>
            </a:r>
            <a:r>
              <a:rPr lang="en-US" dirty="0">
                <a:solidFill>
                  <a:schemeClr val="accent6"/>
                </a:solidFill>
                <a:latin typeface="Calibri (Body)"/>
              </a:rPr>
              <a:t>//</a:t>
            </a:r>
            <a:r>
              <a:rPr lang="en-US" dirty="0" err="1">
                <a:solidFill>
                  <a:schemeClr val="accent6"/>
                </a:solidFill>
                <a:latin typeface="Calibri (Body)"/>
              </a:rPr>
              <a:t>PointerDown</a:t>
            </a:r>
            <a:r>
              <a:rPr lang="en-US" dirty="0">
                <a:solidFill>
                  <a:schemeClr val="accent6"/>
                </a:solidFill>
                <a:latin typeface="Calibri (Body)"/>
              </a:rPr>
              <a:t>, </a:t>
            </a:r>
            <a:r>
              <a:rPr lang="en-US" dirty="0" err="1">
                <a:solidFill>
                  <a:schemeClr val="accent6"/>
                </a:solidFill>
                <a:latin typeface="Calibri (Body)"/>
              </a:rPr>
              <a:t>PointerUp</a:t>
            </a:r>
            <a:r>
              <a:rPr lang="en-US" dirty="0">
                <a:solidFill>
                  <a:schemeClr val="accent6"/>
                </a:solidFill>
                <a:latin typeface="Calibri (Body)"/>
              </a:rPr>
              <a:t>,...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alibri (Body)"/>
              </a:rPr>
              <a:t>Select </a:t>
            </a:r>
            <a:r>
              <a:rPr lang="en-US" dirty="0">
                <a:solidFill>
                  <a:srgbClr val="000000"/>
                </a:solidFill>
                <a:highlight>
                  <a:srgbClr val="FFFF00"/>
                </a:highlight>
                <a:latin typeface="Calibri (Body)"/>
              </a:rPr>
              <a:t>function</a:t>
            </a:r>
            <a:r>
              <a:rPr lang="en-US" dirty="0">
                <a:solidFill>
                  <a:srgbClr val="000000"/>
                </a:solidFill>
                <a:latin typeface="Calibri (Body)"/>
              </a:rPr>
              <a:t> from script</a:t>
            </a:r>
          </a:p>
          <a:p>
            <a:pPr lvl="1"/>
            <a:endParaRPr lang="en-US" sz="2000" dirty="0">
              <a:solidFill>
                <a:srgbClr val="000000"/>
              </a:solidFill>
              <a:latin typeface="Calibri (Body)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Calibri (Body)"/>
              </a:rPr>
              <a:t>Functions script</a:t>
            </a:r>
          </a:p>
          <a:p>
            <a:pPr lvl="2"/>
            <a:r>
              <a:rPr lang="en-US" dirty="0">
                <a:solidFill>
                  <a:schemeClr val="accent6"/>
                </a:solidFill>
                <a:latin typeface="Calibri (Body)"/>
              </a:rPr>
              <a:t>//public void </a:t>
            </a:r>
            <a:r>
              <a:rPr lang="en-US" dirty="0">
                <a:solidFill>
                  <a:schemeClr val="accent6"/>
                </a:solidFill>
                <a:highlight>
                  <a:srgbClr val="FFFF00"/>
                </a:highlight>
                <a:latin typeface="Calibri (Body)"/>
              </a:rPr>
              <a:t>press()</a:t>
            </a:r>
          </a:p>
          <a:p>
            <a:pPr lvl="2"/>
            <a:r>
              <a:rPr lang="en-US" dirty="0">
                <a:solidFill>
                  <a:schemeClr val="accent6"/>
                </a:solidFill>
                <a:latin typeface="Calibri (Body)"/>
              </a:rPr>
              <a:t>//public void </a:t>
            </a:r>
            <a:r>
              <a:rPr lang="en-US" dirty="0">
                <a:solidFill>
                  <a:schemeClr val="accent6"/>
                </a:solidFill>
                <a:highlight>
                  <a:srgbClr val="FFFF00"/>
                </a:highlight>
                <a:latin typeface="Calibri (Body)"/>
              </a:rPr>
              <a:t>up()</a:t>
            </a:r>
            <a:endParaRPr lang="en-US" sz="1600" dirty="0">
              <a:solidFill>
                <a:schemeClr val="accent6"/>
              </a:solidFill>
              <a:highlight>
                <a:srgbClr val="FFFF00"/>
              </a:highlight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66761961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02E43-4106-60A4-184F-DCCBBBB15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133FA-1D96-79F7-EB0A-B0ECE5E2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 (Body)"/>
                <a:cs typeface="Calibri" panose="020F0502020204030204"/>
              </a:rPr>
              <a:t>File Menu</a:t>
            </a:r>
            <a:endParaRPr lang="en-US" sz="1800" dirty="0">
              <a:solidFill>
                <a:srgbClr val="000000"/>
              </a:solidFill>
              <a:latin typeface="Calibri (Body)"/>
              <a:cs typeface="Calibri" panose="020F0502020204030204"/>
            </a:endParaRPr>
          </a:p>
          <a:p>
            <a:pPr lvl="1"/>
            <a:r>
              <a:rPr lang="en-US" dirty="0">
                <a:solidFill>
                  <a:srgbClr val="000000"/>
                </a:solidFill>
                <a:latin typeface="Calibri (Body)"/>
                <a:cs typeface="Calibri" panose="020F0502020204030204"/>
              </a:rPr>
              <a:t>Build setting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Calibri (Body)"/>
                <a:cs typeface="Calibri" panose="020F0502020204030204"/>
              </a:rPr>
              <a:t>Add scene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alibri (Body)"/>
                <a:cs typeface="Calibri" panose="020F0502020204030204"/>
              </a:rPr>
              <a:t>Scene 0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alibri (Body)"/>
                <a:cs typeface="Calibri" panose="020F0502020204030204"/>
              </a:rPr>
              <a:t>Scene 1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alibri (Body)"/>
                <a:cs typeface="Calibri" panose="020F0502020204030204"/>
              </a:rPr>
              <a:t>…</a:t>
            </a:r>
          </a:p>
          <a:p>
            <a:endParaRPr lang="en-US" sz="2400" dirty="0">
              <a:solidFill>
                <a:srgbClr val="000000"/>
              </a:solidFill>
              <a:latin typeface="Calibri (Body)"/>
              <a:cs typeface="Calibri" panose="020F0502020204030204"/>
            </a:endParaRPr>
          </a:p>
          <a:p>
            <a:r>
              <a:rPr lang="en-US" dirty="0">
                <a:solidFill>
                  <a:srgbClr val="000000"/>
                </a:solidFill>
                <a:latin typeface="Calibri (Body)"/>
              </a:rPr>
              <a:t>Code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Calibri (Body)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alibri (Body)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alibri (Body)"/>
              </a:rPr>
              <a:t>UnityEngine.SceneManagement</a:t>
            </a:r>
            <a:endParaRPr lang="en-US" dirty="0">
              <a:solidFill>
                <a:srgbClr val="000000"/>
              </a:solidFill>
              <a:latin typeface="Calibri (Body)"/>
            </a:endParaRPr>
          </a:p>
          <a:p>
            <a:pPr lvl="1"/>
            <a:r>
              <a:rPr lang="en-US" dirty="0" err="1">
                <a:solidFill>
                  <a:srgbClr val="000000"/>
                </a:solidFill>
                <a:latin typeface="Calibri (Body)"/>
              </a:rPr>
              <a:t>SceneManager.LoadScene</a:t>
            </a:r>
            <a:r>
              <a:rPr lang="en-US" dirty="0">
                <a:solidFill>
                  <a:srgbClr val="000000"/>
                </a:solidFill>
                <a:latin typeface="Calibri (Body)"/>
              </a:rPr>
              <a:t>(</a:t>
            </a:r>
            <a:r>
              <a:rPr lang="en-US" dirty="0">
                <a:solidFill>
                  <a:srgbClr val="A31515"/>
                </a:solidFill>
                <a:latin typeface="Calibri (Body)"/>
              </a:rPr>
              <a:t>"</a:t>
            </a:r>
            <a:r>
              <a:rPr lang="en-US" i="1" dirty="0">
                <a:solidFill>
                  <a:srgbClr val="A31515"/>
                </a:solidFill>
                <a:highlight>
                  <a:srgbClr val="FFFF00"/>
                </a:highlight>
                <a:latin typeface="Calibri (Body)"/>
              </a:rPr>
              <a:t>[</a:t>
            </a:r>
            <a:r>
              <a:rPr lang="en-US" i="1" dirty="0" err="1">
                <a:solidFill>
                  <a:srgbClr val="A31515"/>
                </a:solidFill>
                <a:highlight>
                  <a:srgbClr val="FFFF00"/>
                </a:highlight>
                <a:latin typeface="Calibri (Body)"/>
              </a:rPr>
              <a:t>SceneName</a:t>
            </a:r>
            <a:r>
              <a:rPr lang="en-US" i="1" dirty="0">
                <a:solidFill>
                  <a:srgbClr val="A31515"/>
                </a:solidFill>
                <a:highlight>
                  <a:srgbClr val="FFFF00"/>
                </a:highlight>
                <a:latin typeface="Calibri (Body)"/>
              </a:rPr>
              <a:t>]</a:t>
            </a:r>
            <a:r>
              <a:rPr lang="en-US" dirty="0">
                <a:solidFill>
                  <a:srgbClr val="A31515"/>
                </a:solidFill>
                <a:latin typeface="Calibri (Body)"/>
              </a:rPr>
              <a:t>"</a:t>
            </a:r>
            <a:r>
              <a:rPr lang="en-US" dirty="0">
                <a:solidFill>
                  <a:srgbClr val="000000"/>
                </a:solidFill>
                <a:latin typeface="Calibri (Body)"/>
              </a:rPr>
              <a:t>)</a:t>
            </a:r>
          </a:p>
          <a:p>
            <a:endParaRPr lang="en-US" dirty="0">
              <a:solidFill>
                <a:srgbClr val="000000"/>
              </a:solidFill>
              <a:latin typeface="Calibri (Body)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7332825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E9D4-9903-4756-84FC-FF220340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E73CC-1E70-9BAF-4BBD-EF45C98EC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-&gt; Build Setting</a:t>
            </a:r>
          </a:p>
          <a:p>
            <a:pPr lvl="1"/>
            <a:r>
              <a:rPr lang="en-US" dirty="0"/>
              <a:t>Scenes in build //0,1,2,…</a:t>
            </a:r>
          </a:p>
          <a:p>
            <a:pPr lvl="1"/>
            <a:r>
              <a:rPr lang="en-US" dirty="0"/>
              <a:t>Build </a:t>
            </a:r>
          </a:p>
          <a:p>
            <a:pPr lvl="1"/>
            <a:r>
              <a:rPr lang="en-US" dirty="0"/>
              <a:t>Save Folder</a:t>
            </a:r>
          </a:p>
          <a:p>
            <a:r>
              <a:rPr lang="en-US" dirty="0"/>
              <a:t>Player Settings</a:t>
            </a:r>
          </a:p>
          <a:p>
            <a:pPr lvl="1"/>
            <a:r>
              <a:rPr lang="en-US" dirty="0"/>
              <a:t>Default icon, default cursor</a:t>
            </a:r>
          </a:p>
          <a:p>
            <a:pPr lvl="1"/>
            <a:r>
              <a:rPr lang="en-US" dirty="0"/>
              <a:t>Splash image //logos,…</a:t>
            </a:r>
          </a:p>
        </p:txBody>
      </p:sp>
    </p:spTree>
    <p:extLst>
      <p:ext uri="{BB962C8B-B14F-4D97-AF65-F5344CB8AC3E}">
        <p14:creationId xmlns:p14="http://schemas.microsoft.com/office/powerpoint/2010/main" val="3832809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9729</TotalTime>
  <Words>5882</Words>
  <Application>Microsoft Office PowerPoint</Application>
  <PresentationFormat>Widescreen</PresentationFormat>
  <Paragraphs>1217</Paragraphs>
  <Slides>113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23" baseType="lpstr">
      <vt:lpstr>Arial</vt:lpstr>
      <vt:lpstr>B Koodak</vt:lpstr>
      <vt:lpstr>B Nazanin</vt:lpstr>
      <vt:lpstr>B Titr</vt:lpstr>
      <vt:lpstr>Calibri</vt:lpstr>
      <vt:lpstr>Calibri (Body)</vt:lpstr>
      <vt:lpstr>Calibri Light</vt:lpstr>
      <vt:lpstr>Cascadia Mono</vt:lpstr>
      <vt:lpstr>Wingdings</vt:lpstr>
      <vt:lpstr>Office Theme</vt:lpstr>
      <vt:lpstr>PowerPoint Presentation</vt:lpstr>
      <vt:lpstr>سرفصل ها</vt:lpstr>
      <vt:lpstr>نصب unity</vt:lpstr>
      <vt:lpstr>فعال سازی</vt:lpstr>
      <vt:lpstr>ایجاد یک پروژه</vt:lpstr>
      <vt:lpstr>محیط برنامه</vt:lpstr>
      <vt:lpstr>اولین گام</vt:lpstr>
      <vt:lpstr>شروع</vt:lpstr>
      <vt:lpstr>اولین game object</vt:lpstr>
      <vt:lpstr>اولین game object</vt:lpstr>
      <vt:lpstr>اولین game object</vt:lpstr>
      <vt:lpstr>اولین game object</vt:lpstr>
      <vt:lpstr>اولین game object</vt:lpstr>
      <vt:lpstr>اولین game object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فیزیک</vt:lpstr>
      <vt:lpstr>مبانی سی شارپ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کدنویسی در یونیتی</vt:lpstr>
      <vt:lpstr>کلیدهای لمسی</vt:lpstr>
      <vt:lpstr>کلیدهای لمسی</vt:lpstr>
      <vt:lpstr>کلیدهای لمسی</vt:lpstr>
      <vt:lpstr>کلیدهای لمسی</vt:lpstr>
      <vt:lpstr>کلیدهای لمسی</vt:lpstr>
      <vt:lpstr>ساختار بازی</vt:lpstr>
      <vt:lpstr>ساختار بازی</vt:lpstr>
      <vt:lpstr>ساختار بازی</vt:lpstr>
      <vt:lpstr>ساختار بازی</vt:lpstr>
      <vt:lpstr>ساختار بازی</vt:lpstr>
      <vt:lpstr>ساختار بازی</vt:lpstr>
      <vt:lpstr>جلوه ها</vt:lpstr>
      <vt:lpstr>جلوه ها</vt:lpstr>
      <vt:lpstr>جلوه ها</vt:lpstr>
      <vt:lpstr>جلوه ها</vt:lpstr>
      <vt:lpstr>جلوه ها</vt:lpstr>
      <vt:lpstr>Component</vt:lpstr>
      <vt:lpstr>Component-A</vt:lpstr>
      <vt:lpstr>Component-B</vt:lpstr>
      <vt:lpstr>Component</vt:lpstr>
      <vt:lpstr>Start Code</vt:lpstr>
      <vt:lpstr>Component</vt:lpstr>
      <vt:lpstr>Function</vt:lpstr>
      <vt:lpstr>Rotate</vt:lpstr>
      <vt:lpstr>Jump (sensor)</vt:lpstr>
      <vt:lpstr>Prefab</vt:lpstr>
      <vt:lpstr>Canvas (UI) , Text</vt:lpstr>
      <vt:lpstr>Font</vt:lpstr>
      <vt:lpstr>Function</vt:lpstr>
      <vt:lpstr>Function</vt:lpstr>
      <vt:lpstr>ParticleSystem</vt:lpstr>
      <vt:lpstr>ParticleSystem</vt:lpstr>
      <vt:lpstr>Sounds</vt:lpstr>
      <vt:lpstr>Tile set</vt:lpstr>
      <vt:lpstr>Animation</vt:lpstr>
      <vt:lpstr>Touch control</vt:lpstr>
      <vt:lpstr>Open Scene</vt:lpstr>
      <vt:lpstr>build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</dc:title>
  <dc:creator>Hossein Abdizadeh</dc:creator>
  <cp:lastModifiedBy>Hossein Abdizadeh</cp:lastModifiedBy>
  <cp:revision>299</cp:revision>
  <dcterms:created xsi:type="dcterms:W3CDTF">2019-06-19T14:47:41Z</dcterms:created>
  <dcterms:modified xsi:type="dcterms:W3CDTF">2025-07-31T17:04:18Z</dcterms:modified>
</cp:coreProperties>
</file>